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slideLayout" Target="../slideLayouts/slideLayout1.xml"/><Relationship Id="rId1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3.png"/><Relationship Id="rId5" Type="http://schemas.openxmlformats.org/officeDocument/2006/relationships/image" Target="../media/image-4-3.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image" Target="../media/image-4-13.png"/><Relationship Id="rId14" Type="http://schemas.openxmlformats.org/officeDocument/2006/relationships/image" Target="../media/image-4-14.png"/><Relationship Id="rId15" Type="http://schemas.openxmlformats.org/officeDocument/2006/relationships/slideLayout" Target="../slideLayouts/slideLayout1.xml"/><Relationship Id="rId1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1.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slideLayout" Target="../slideLayouts/slideLayout1.xml"/><Relationship Id="rId1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slideLayout" Target="../slideLayouts/slideLayout1.xml"/><Relationship Id="rId9"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6.png"/><Relationship Id="rId7" Type="http://schemas.openxmlformats.org/officeDocument/2006/relationships/image" Target="../media/image-39-7.png"/><Relationship Id="rId8" Type="http://schemas.openxmlformats.org/officeDocument/2006/relationships/image" Target="../media/image-39-8.png"/><Relationship Id="rId9" Type="http://schemas.openxmlformats.org/officeDocument/2006/relationships/image" Target="../media/image-39-9.png"/><Relationship Id="rId10" Type="http://schemas.openxmlformats.org/officeDocument/2006/relationships/image" Target="../media/image-39-10.png"/><Relationship Id="rId11" Type="http://schemas.openxmlformats.org/officeDocument/2006/relationships/image" Target="../media/image-39-11.png"/><Relationship Id="rId12" Type="http://schemas.openxmlformats.org/officeDocument/2006/relationships/image" Target="../media/image-39-12.png"/><Relationship Id="rId13" Type="http://schemas.openxmlformats.org/officeDocument/2006/relationships/image" Target="../media/image-39-13.png"/><Relationship Id="rId14" Type="http://schemas.openxmlformats.org/officeDocument/2006/relationships/image" Target="../media/image-39-14.png"/><Relationship Id="rId15" Type="http://schemas.openxmlformats.org/officeDocument/2006/relationships/slideLayout" Target="../slideLayouts/slideLayout1.xml"/><Relationship Id="rId16"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4285F4"/>
          </a:solidFill>
          <a:ln/>
        </p:spPr>
      </p:sp>
      <p:sp>
        <p:nvSpPr>
          <p:cNvPr id="3" name="Shape 1"/>
          <p:cNvSpPr/>
          <p:nvPr/>
        </p:nvSpPr>
        <p:spPr>
          <a:xfrm>
            <a:off x="0" y="164592"/>
            <a:ext cx="12188952" cy="54864"/>
          </a:xfrm>
          <a:prstGeom prst="rect">
            <a:avLst/>
          </a:prstGeom>
          <a:solidFill>
            <a:srgbClr val="34A853"/>
          </a:solidFill>
          <a:ln/>
        </p:spPr>
      </p:sp>
      <p:sp>
        <p:nvSpPr>
          <p:cNvPr id="4" name="Text 2"/>
          <p:cNvSpPr/>
          <p:nvPr/>
        </p:nvSpPr>
        <p:spPr>
          <a:xfrm>
            <a:off x="822960" y="914400"/>
            <a:ext cx="8412480" cy="365760"/>
          </a:xfrm>
          <a:prstGeom prst="rect">
            <a:avLst/>
          </a:prstGeom>
          <a:noFill/>
          <a:ln/>
        </p:spPr>
        <p:txBody>
          <a:bodyPr wrap="square" lIns="0" tIns="0" rIns="0" bIns="0" rtlCol="0" anchor="ctr"/>
          <a:lstStyle/>
          <a:p>
            <a:pPr indent="0" marL="0">
              <a:buNone/>
            </a:pPr>
            <a:r>
              <a:rPr lang="en-US" sz="1500" b="1" spc="200" kern="0" dirty="0">
                <a:solidFill>
                  <a:srgbClr val="8AB4F8"/>
                </a:solidFill>
                <a:latin typeface="Calibri" pitchFamily="34" charset="0"/>
                <a:ea typeface="Calibri" pitchFamily="34" charset="-122"/>
                <a:cs typeface="Calibri" pitchFamily="34" charset="-120"/>
              </a:rPr>
              <a:t>GUIDE TECHNIQUE · DÉPLOIEMENT GOOGLE CLOUD PLATFORM</a:t>
            </a:r>
            <a:endParaRPr lang="en-US" sz="1500" dirty="0"/>
          </a:p>
        </p:txBody>
      </p:sp>
      <p:sp>
        <p:nvSpPr>
          <p:cNvPr id="5" name="Text 3"/>
          <p:cNvSpPr/>
          <p:nvPr/>
        </p:nvSpPr>
        <p:spPr>
          <a:xfrm>
            <a:off x="822960" y="1371600"/>
            <a:ext cx="10607040" cy="1645920"/>
          </a:xfrm>
          <a:prstGeom prst="rect">
            <a:avLst/>
          </a:prstGeom>
          <a:noFill/>
          <a:ln/>
        </p:spPr>
        <p:txBody>
          <a:bodyPr wrap="square" lIns="0" tIns="0" rIns="0" bIns="0" rtlCol="0" anchor="ctr"/>
          <a:lstStyle/>
          <a:p>
            <a:pPr indent="0" marL="0">
              <a:buNone/>
            </a:pPr>
            <a:r>
              <a:rPr lang="en-US" sz="4400" b="1" dirty="0">
                <a:solidFill>
                  <a:srgbClr val="FFFFFF"/>
                </a:solidFill>
                <a:latin typeface="Georgia" pitchFamily="34" charset="0"/>
                <a:ea typeface="Georgia" pitchFamily="34" charset="-122"/>
                <a:cs typeface="Georgia" pitchFamily="34" charset="-120"/>
              </a:rPr>
              <a:t>Guide Technique GCP</a:t>
            </a:r>
            <a:endParaRPr lang="en-US" sz="4400" dirty="0"/>
          </a:p>
          <a:p>
            <a:pPr indent="0" marL="0">
              <a:buNone/>
            </a:pPr>
            <a:r>
              <a:rPr lang="en-US" sz="4400" b="1" dirty="0">
                <a:solidFill>
                  <a:srgbClr val="FFFFFF"/>
                </a:solidFill>
                <a:latin typeface="Georgia" pitchFamily="34" charset="0"/>
                <a:ea typeface="Georgia" pitchFamily="34" charset="-122"/>
                <a:cs typeface="Georgia" pitchFamily="34" charset="-120"/>
              </a:rPr>
              <a:t>du projet MGVaovao</a:t>
            </a:r>
            <a:endParaRPr lang="en-US" sz="4400" dirty="0"/>
          </a:p>
        </p:txBody>
      </p:sp>
      <p:sp>
        <p:nvSpPr>
          <p:cNvPr id="6" name="Text 4"/>
          <p:cNvSpPr/>
          <p:nvPr/>
        </p:nvSpPr>
        <p:spPr>
          <a:xfrm>
            <a:off x="822960" y="3108960"/>
            <a:ext cx="10332720" cy="914400"/>
          </a:xfrm>
          <a:prstGeom prst="rect">
            <a:avLst/>
          </a:prstGeom>
          <a:noFill/>
          <a:ln/>
        </p:spPr>
        <p:txBody>
          <a:bodyPr wrap="square" lIns="0" tIns="0" rIns="0" bIns="0" rtlCol="0" anchor="ctr"/>
          <a:lstStyle/>
          <a:p>
            <a:pPr indent="0" marL="0">
              <a:buNone/>
            </a:pPr>
            <a:r>
              <a:rPr lang="en-US" sz="1600" dirty="0">
                <a:solidFill>
                  <a:srgbClr val="CBD5EE"/>
                </a:solidFill>
                <a:latin typeface="Calibri" pitchFamily="34" charset="0"/>
                <a:ea typeface="Calibri" pitchFamily="34" charset="-122"/>
                <a:cs typeface="Calibri" pitchFamily="34" charset="-120"/>
              </a:rPr>
              <a:t>Destiné aux techniciens — développeurs · ML engineers · Cloud architects · DevOps. Pas-à-pas, service par service : du projet et des comptes de service à l'inférence GPU, au pipeline Vertex AI et au MLOps.</a:t>
            </a:r>
            <a:endParaRPr lang="en-US" sz="1600" dirty="0"/>
          </a:p>
        </p:txBody>
      </p:sp>
      <p:sp>
        <p:nvSpPr>
          <p:cNvPr id="7" name="Shape 5"/>
          <p:cNvSpPr/>
          <p:nvPr/>
        </p:nvSpPr>
        <p:spPr>
          <a:xfrm>
            <a:off x="9326880" y="457200"/>
            <a:ext cx="2505456" cy="596646"/>
          </a:xfrm>
          <a:prstGeom prst="roundRect">
            <a:avLst>
              <a:gd name="adj" fmla="val 9195"/>
            </a:avLst>
          </a:prstGeom>
          <a:solidFill>
            <a:srgbClr val="FFFFFF"/>
          </a:solidFill>
          <a:ln/>
          <a:effectLst>
            <a:outerShdw sx="100000" sy="100000" kx="0" ky="0" algn="bl" rotWithShape="0" blurRad="88900" dist="38100" dir="5400000">
              <a:srgbClr val="8A94AD">
                <a:alpha val="26000"/>
              </a:srgbClr>
            </a:outerShdw>
          </a:effectLst>
        </p:spPr>
      </p:sp>
      <p:pic>
        <p:nvPicPr>
          <p:cNvPr id="8" name="Image 0" descr="logos/00_gcp.png">    </p:cNvPr>
          <p:cNvPicPr>
            <a:picLocks noChangeAspect="1"/>
          </p:cNvPicPr>
          <p:nvPr/>
        </p:nvPicPr>
        <p:blipFill>
          <a:blip r:embed="rId1"/>
          <a:stretch>
            <a:fillRect/>
          </a:stretch>
        </p:blipFill>
        <p:spPr>
          <a:xfrm>
            <a:off x="9482328" y="585216"/>
            <a:ext cx="2194560" cy="340614"/>
          </a:xfrm>
          <a:prstGeom prst="rect">
            <a:avLst/>
          </a:prstGeom>
        </p:spPr>
      </p:pic>
      <p:sp>
        <p:nvSpPr>
          <p:cNvPr id="9" name="Shape 6"/>
          <p:cNvSpPr/>
          <p:nvPr/>
        </p:nvSpPr>
        <p:spPr>
          <a:xfrm>
            <a:off x="897255" y="4754880"/>
            <a:ext cx="731520" cy="731520"/>
          </a:xfrm>
          <a:prstGeom prst="roundRect">
            <a:avLst>
              <a:gd name="adj" fmla="val 12500"/>
            </a:avLst>
          </a:prstGeom>
          <a:solidFill>
            <a:srgbClr val="FFFFFF"/>
          </a:solidFill>
          <a:ln/>
          <a:effectLst>
            <a:outerShdw sx="100000" sy="100000" kx="0" ky="0" algn="bl" rotWithShape="0" blurRad="88900" dist="38100" dir="5400000">
              <a:srgbClr val="8A94AD">
                <a:alpha val="26000"/>
              </a:srgbClr>
            </a:outerShdw>
          </a:effectLst>
        </p:spPr>
      </p:sp>
      <p:pic>
        <p:nvPicPr>
          <p:cNvPr id="10" name="Image 1" descr="logos/01_cloud_run.png">    </p:cNvPr>
          <p:cNvPicPr>
            <a:picLocks noChangeAspect="1"/>
          </p:cNvPicPr>
          <p:nvPr/>
        </p:nvPicPr>
        <p:blipFill>
          <a:blip r:embed="rId2"/>
          <a:stretch>
            <a:fillRect/>
          </a:stretch>
        </p:blipFill>
        <p:spPr>
          <a:xfrm>
            <a:off x="1016127" y="4873752"/>
            <a:ext cx="493776" cy="493776"/>
          </a:xfrm>
          <a:prstGeom prst="rect">
            <a:avLst/>
          </a:prstGeom>
        </p:spPr>
      </p:pic>
      <p:sp>
        <p:nvSpPr>
          <p:cNvPr id="11" name="Shape 7"/>
          <p:cNvSpPr/>
          <p:nvPr/>
        </p:nvSpPr>
        <p:spPr>
          <a:xfrm>
            <a:off x="1777365" y="4754880"/>
            <a:ext cx="731520" cy="731520"/>
          </a:xfrm>
          <a:prstGeom prst="roundRect">
            <a:avLst>
              <a:gd name="adj" fmla="val 12500"/>
            </a:avLst>
          </a:prstGeom>
          <a:solidFill>
            <a:srgbClr val="FFFFFF"/>
          </a:solidFill>
          <a:ln/>
          <a:effectLst>
            <a:outerShdw sx="100000" sy="100000" kx="0" ky="0" algn="bl" rotWithShape="0" blurRad="88900" dist="38100" dir="5400000">
              <a:srgbClr val="8A94AD">
                <a:alpha val="26000"/>
              </a:srgbClr>
            </a:outerShdw>
          </a:effectLst>
        </p:spPr>
      </p:sp>
      <p:pic>
        <p:nvPicPr>
          <p:cNvPr id="12" name="Image 2" descr="logos/02_cloud_run_gpu.png">    </p:cNvPr>
          <p:cNvPicPr>
            <a:picLocks noChangeAspect="1"/>
          </p:cNvPicPr>
          <p:nvPr/>
        </p:nvPicPr>
        <p:blipFill>
          <a:blip r:embed="rId3"/>
          <a:stretch>
            <a:fillRect/>
          </a:stretch>
        </p:blipFill>
        <p:spPr>
          <a:xfrm>
            <a:off x="1896237" y="4873752"/>
            <a:ext cx="493776" cy="493776"/>
          </a:xfrm>
          <a:prstGeom prst="rect">
            <a:avLst/>
          </a:prstGeom>
        </p:spPr>
      </p:pic>
      <p:sp>
        <p:nvSpPr>
          <p:cNvPr id="13" name="Shape 8"/>
          <p:cNvSpPr/>
          <p:nvPr/>
        </p:nvSpPr>
        <p:spPr>
          <a:xfrm>
            <a:off x="2657475" y="4754880"/>
            <a:ext cx="731520" cy="731520"/>
          </a:xfrm>
          <a:prstGeom prst="roundRect">
            <a:avLst>
              <a:gd name="adj" fmla="val 12500"/>
            </a:avLst>
          </a:prstGeom>
          <a:solidFill>
            <a:srgbClr val="FFFFFF"/>
          </a:solidFill>
          <a:ln/>
          <a:effectLst>
            <a:outerShdw sx="100000" sy="100000" kx="0" ky="0" algn="bl" rotWithShape="0" blurRad="88900" dist="38100" dir="5400000">
              <a:srgbClr val="8A94AD">
                <a:alpha val="26000"/>
              </a:srgbClr>
            </a:outerShdw>
          </a:effectLst>
        </p:spPr>
      </p:sp>
      <p:pic>
        <p:nvPicPr>
          <p:cNvPr id="14" name="Image 3" descr="logos/03_cloud_storage.png">    </p:cNvPr>
          <p:cNvPicPr>
            <a:picLocks noChangeAspect="1"/>
          </p:cNvPicPr>
          <p:nvPr/>
        </p:nvPicPr>
        <p:blipFill>
          <a:blip r:embed="rId4"/>
          <a:stretch>
            <a:fillRect/>
          </a:stretch>
        </p:blipFill>
        <p:spPr>
          <a:xfrm>
            <a:off x="2776347" y="4873752"/>
            <a:ext cx="493776" cy="493776"/>
          </a:xfrm>
          <a:prstGeom prst="rect">
            <a:avLst/>
          </a:prstGeom>
        </p:spPr>
      </p:pic>
      <p:sp>
        <p:nvSpPr>
          <p:cNvPr id="15" name="Shape 9"/>
          <p:cNvSpPr/>
          <p:nvPr/>
        </p:nvSpPr>
        <p:spPr>
          <a:xfrm>
            <a:off x="3537585" y="4754880"/>
            <a:ext cx="731520" cy="731520"/>
          </a:xfrm>
          <a:prstGeom prst="roundRect">
            <a:avLst>
              <a:gd name="adj" fmla="val 12500"/>
            </a:avLst>
          </a:prstGeom>
          <a:solidFill>
            <a:srgbClr val="FFFFFF"/>
          </a:solidFill>
          <a:ln/>
          <a:effectLst>
            <a:outerShdw sx="100000" sy="100000" kx="0" ky="0" algn="bl" rotWithShape="0" blurRad="88900" dist="38100" dir="5400000">
              <a:srgbClr val="8A94AD">
                <a:alpha val="26000"/>
              </a:srgbClr>
            </a:outerShdw>
          </a:effectLst>
        </p:spPr>
      </p:sp>
      <p:pic>
        <p:nvPicPr>
          <p:cNvPr id="16" name="Image 4" descr="logos/04_vertex_ai.png">    </p:cNvPr>
          <p:cNvPicPr>
            <a:picLocks noChangeAspect="1"/>
          </p:cNvPicPr>
          <p:nvPr/>
        </p:nvPicPr>
        <p:blipFill>
          <a:blip r:embed="rId5"/>
          <a:stretch>
            <a:fillRect/>
          </a:stretch>
        </p:blipFill>
        <p:spPr>
          <a:xfrm>
            <a:off x="3656457" y="4873752"/>
            <a:ext cx="493776" cy="493776"/>
          </a:xfrm>
          <a:prstGeom prst="rect">
            <a:avLst/>
          </a:prstGeom>
        </p:spPr>
      </p:pic>
      <p:sp>
        <p:nvSpPr>
          <p:cNvPr id="17" name="Shape 10"/>
          <p:cNvSpPr/>
          <p:nvPr/>
        </p:nvSpPr>
        <p:spPr>
          <a:xfrm>
            <a:off x="4417695" y="4754880"/>
            <a:ext cx="731520" cy="731520"/>
          </a:xfrm>
          <a:prstGeom prst="roundRect">
            <a:avLst>
              <a:gd name="adj" fmla="val 12500"/>
            </a:avLst>
          </a:prstGeom>
          <a:solidFill>
            <a:srgbClr val="FFFFFF"/>
          </a:solidFill>
          <a:ln/>
          <a:effectLst>
            <a:outerShdw sx="100000" sy="100000" kx="0" ky="0" algn="bl" rotWithShape="0" blurRad="88900" dist="38100" dir="5400000">
              <a:srgbClr val="8A94AD">
                <a:alpha val="26000"/>
              </a:srgbClr>
            </a:outerShdw>
          </a:effectLst>
        </p:spPr>
      </p:sp>
      <p:pic>
        <p:nvPicPr>
          <p:cNvPr id="18" name="Image 5" descr="logos/05_cloud_build.png">    </p:cNvPr>
          <p:cNvPicPr>
            <a:picLocks noChangeAspect="1"/>
          </p:cNvPicPr>
          <p:nvPr/>
        </p:nvPicPr>
        <p:blipFill>
          <a:blip r:embed="rId6"/>
          <a:stretch>
            <a:fillRect/>
          </a:stretch>
        </p:blipFill>
        <p:spPr>
          <a:xfrm>
            <a:off x="4536567" y="4873752"/>
            <a:ext cx="493776" cy="493776"/>
          </a:xfrm>
          <a:prstGeom prst="rect">
            <a:avLst/>
          </a:prstGeom>
        </p:spPr>
      </p:pic>
      <p:sp>
        <p:nvSpPr>
          <p:cNvPr id="19" name="Shape 11"/>
          <p:cNvSpPr/>
          <p:nvPr/>
        </p:nvSpPr>
        <p:spPr>
          <a:xfrm>
            <a:off x="5297805" y="4754880"/>
            <a:ext cx="731520" cy="731520"/>
          </a:xfrm>
          <a:prstGeom prst="roundRect">
            <a:avLst>
              <a:gd name="adj" fmla="val 12500"/>
            </a:avLst>
          </a:prstGeom>
          <a:solidFill>
            <a:srgbClr val="FFFFFF"/>
          </a:solidFill>
          <a:ln/>
          <a:effectLst>
            <a:outerShdw sx="100000" sy="100000" kx="0" ky="0" algn="bl" rotWithShape="0" blurRad="88900" dist="38100" dir="5400000">
              <a:srgbClr val="8A94AD">
                <a:alpha val="26000"/>
              </a:srgbClr>
            </a:outerShdw>
          </a:effectLst>
        </p:spPr>
      </p:sp>
      <p:pic>
        <p:nvPicPr>
          <p:cNvPr id="20" name="Image 6" descr="logos/06_artifact_registry.png">    </p:cNvPr>
          <p:cNvPicPr>
            <a:picLocks noChangeAspect="1"/>
          </p:cNvPicPr>
          <p:nvPr/>
        </p:nvPicPr>
        <p:blipFill>
          <a:blip r:embed="rId7"/>
          <a:stretch>
            <a:fillRect/>
          </a:stretch>
        </p:blipFill>
        <p:spPr>
          <a:xfrm>
            <a:off x="5416677" y="4873752"/>
            <a:ext cx="493776" cy="493776"/>
          </a:xfrm>
          <a:prstGeom prst="rect">
            <a:avLst/>
          </a:prstGeom>
        </p:spPr>
      </p:pic>
      <p:sp>
        <p:nvSpPr>
          <p:cNvPr id="21" name="Shape 12"/>
          <p:cNvSpPr/>
          <p:nvPr/>
        </p:nvSpPr>
        <p:spPr>
          <a:xfrm>
            <a:off x="6177915" y="4754880"/>
            <a:ext cx="731520" cy="731520"/>
          </a:xfrm>
          <a:prstGeom prst="roundRect">
            <a:avLst>
              <a:gd name="adj" fmla="val 12500"/>
            </a:avLst>
          </a:prstGeom>
          <a:solidFill>
            <a:srgbClr val="FFFFFF"/>
          </a:solidFill>
          <a:ln/>
          <a:effectLst>
            <a:outerShdw sx="100000" sy="100000" kx="0" ky="0" algn="bl" rotWithShape="0" blurRad="88900" dist="38100" dir="5400000">
              <a:srgbClr val="8A94AD">
                <a:alpha val="26000"/>
              </a:srgbClr>
            </a:outerShdw>
          </a:effectLst>
        </p:spPr>
      </p:sp>
      <p:pic>
        <p:nvPicPr>
          <p:cNvPr id="22" name="Image 7" descr="logos/07_pubsub.png">    </p:cNvPr>
          <p:cNvPicPr>
            <a:picLocks noChangeAspect="1"/>
          </p:cNvPicPr>
          <p:nvPr/>
        </p:nvPicPr>
        <p:blipFill>
          <a:blip r:embed="rId8"/>
          <a:stretch>
            <a:fillRect/>
          </a:stretch>
        </p:blipFill>
        <p:spPr>
          <a:xfrm>
            <a:off x="6296787" y="4873752"/>
            <a:ext cx="493776" cy="493776"/>
          </a:xfrm>
          <a:prstGeom prst="rect">
            <a:avLst/>
          </a:prstGeom>
        </p:spPr>
      </p:pic>
      <p:sp>
        <p:nvSpPr>
          <p:cNvPr id="23" name="Shape 13"/>
          <p:cNvSpPr/>
          <p:nvPr/>
        </p:nvSpPr>
        <p:spPr>
          <a:xfrm>
            <a:off x="7058025" y="4754880"/>
            <a:ext cx="731520" cy="731520"/>
          </a:xfrm>
          <a:prstGeom prst="roundRect">
            <a:avLst>
              <a:gd name="adj" fmla="val 12500"/>
            </a:avLst>
          </a:prstGeom>
          <a:solidFill>
            <a:srgbClr val="FFFFFF"/>
          </a:solidFill>
          <a:ln/>
          <a:effectLst>
            <a:outerShdw sx="100000" sy="100000" kx="0" ky="0" algn="bl" rotWithShape="0" blurRad="88900" dist="38100" dir="5400000">
              <a:srgbClr val="8A94AD">
                <a:alpha val="26000"/>
              </a:srgbClr>
            </a:outerShdw>
          </a:effectLst>
        </p:spPr>
      </p:sp>
      <p:pic>
        <p:nvPicPr>
          <p:cNvPr id="24" name="Image 8" descr="logos/08_cloud_logging.png">    </p:cNvPr>
          <p:cNvPicPr>
            <a:picLocks noChangeAspect="1"/>
          </p:cNvPicPr>
          <p:nvPr/>
        </p:nvPicPr>
        <p:blipFill>
          <a:blip r:embed="rId9"/>
          <a:stretch>
            <a:fillRect/>
          </a:stretch>
        </p:blipFill>
        <p:spPr>
          <a:xfrm>
            <a:off x="7176897" y="4873752"/>
            <a:ext cx="493776" cy="493776"/>
          </a:xfrm>
          <a:prstGeom prst="rect">
            <a:avLst/>
          </a:prstGeom>
        </p:spPr>
      </p:pic>
      <p:sp>
        <p:nvSpPr>
          <p:cNvPr id="25" name="Shape 14"/>
          <p:cNvSpPr/>
          <p:nvPr/>
        </p:nvSpPr>
        <p:spPr>
          <a:xfrm>
            <a:off x="7938135" y="4754880"/>
            <a:ext cx="731520" cy="731520"/>
          </a:xfrm>
          <a:prstGeom prst="roundRect">
            <a:avLst>
              <a:gd name="adj" fmla="val 12500"/>
            </a:avLst>
          </a:prstGeom>
          <a:solidFill>
            <a:srgbClr val="FFFFFF"/>
          </a:solidFill>
          <a:ln/>
          <a:effectLst>
            <a:outerShdw sx="100000" sy="100000" kx="0" ky="0" algn="bl" rotWithShape="0" blurRad="88900" dist="38100" dir="5400000">
              <a:srgbClr val="8A94AD">
                <a:alpha val="26000"/>
              </a:srgbClr>
            </a:outerShdw>
          </a:effectLst>
        </p:spPr>
      </p:sp>
      <p:pic>
        <p:nvPicPr>
          <p:cNvPr id="26" name="Image 9" descr="logos/09_cloud_monitoring.png">    </p:cNvPr>
          <p:cNvPicPr>
            <a:picLocks noChangeAspect="1"/>
          </p:cNvPicPr>
          <p:nvPr/>
        </p:nvPicPr>
        <p:blipFill>
          <a:blip r:embed="rId10"/>
          <a:stretch>
            <a:fillRect/>
          </a:stretch>
        </p:blipFill>
        <p:spPr>
          <a:xfrm>
            <a:off x="8057007" y="4873752"/>
            <a:ext cx="493776" cy="493776"/>
          </a:xfrm>
          <a:prstGeom prst="rect">
            <a:avLst/>
          </a:prstGeom>
        </p:spPr>
      </p:pic>
      <p:sp>
        <p:nvSpPr>
          <p:cNvPr id="27" name="Shape 15"/>
          <p:cNvSpPr/>
          <p:nvPr/>
        </p:nvSpPr>
        <p:spPr>
          <a:xfrm>
            <a:off x="8818245" y="4754880"/>
            <a:ext cx="731520" cy="731520"/>
          </a:xfrm>
          <a:prstGeom prst="roundRect">
            <a:avLst>
              <a:gd name="adj" fmla="val 12500"/>
            </a:avLst>
          </a:prstGeom>
          <a:solidFill>
            <a:srgbClr val="FFFFFF"/>
          </a:solidFill>
          <a:ln/>
          <a:effectLst>
            <a:outerShdw sx="100000" sy="100000" kx="0" ky="0" algn="bl" rotWithShape="0" blurRad="88900" dist="38100" dir="5400000">
              <a:srgbClr val="8A94AD">
                <a:alpha val="26000"/>
              </a:srgbClr>
            </a:outerShdw>
          </a:effectLst>
        </p:spPr>
      </p:sp>
      <p:pic>
        <p:nvPicPr>
          <p:cNvPr id="28" name="Image 10" descr="logos/10_iam.png">    </p:cNvPr>
          <p:cNvPicPr>
            <a:picLocks noChangeAspect="1"/>
          </p:cNvPicPr>
          <p:nvPr/>
        </p:nvPicPr>
        <p:blipFill>
          <a:blip r:embed="rId11"/>
          <a:stretch>
            <a:fillRect/>
          </a:stretch>
        </p:blipFill>
        <p:spPr>
          <a:xfrm>
            <a:off x="8937117" y="4873752"/>
            <a:ext cx="493776" cy="493776"/>
          </a:xfrm>
          <a:prstGeom prst="rect">
            <a:avLst/>
          </a:prstGeom>
        </p:spPr>
      </p:pic>
      <p:sp>
        <p:nvSpPr>
          <p:cNvPr id="29" name="Shape 16"/>
          <p:cNvSpPr/>
          <p:nvPr/>
        </p:nvSpPr>
        <p:spPr>
          <a:xfrm>
            <a:off x="9698355" y="4754880"/>
            <a:ext cx="731520" cy="731520"/>
          </a:xfrm>
          <a:prstGeom prst="roundRect">
            <a:avLst>
              <a:gd name="adj" fmla="val 12500"/>
            </a:avLst>
          </a:prstGeom>
          <a:solidFill>
            <a:srgbClr val="FFFFFF"/>
          </a:solidFill>
          <a:ln/>
          <a:effectLst>
            <a:outerShdw sx="100000" sy="100000" kx="0" ky="0" algn="bl" rotWithShape="0" blurRad="88900" dist="38100" dir="5400000">
              <a:srgbClr val="8A94AD">
                <a:alpha val="26000"/>
              </a:srgbClr>
            </a:outerShdw>
          </a:effectLst>
        </p:spPr>
      </p:sp>
      <p:pic>
        <p:nvPicPr>
          <p:cNvPr id="30" name="Image 11" descr="logos/11_compute_engine.png">    </p:cNvPr>
          <p:cNvPicPr>
            <a:picLocks noChangeAspect="1"/>
          </p:cNvPicPr>
          <p:nvPr/>
        </p:nvPicPr>
        <p:blipFill>
          <a:blip r:embed="rId12"/>
          <a:stretch>
            <a:fillRect/>
          </a:stretch>
        </p:blipFill>
        <p:spPr>
          <a:xfrm>
            <a:off x="9817227" y="4873752"/>
            <a:ext cx="493776" cy="493776"/>
          </a:xfrm>
          <a:prstGeom prst="rect">
            <a:avLst/>
          </a:prstGeom>
        </p:spPr>
      </p:pic>
      <p:sp>
        <p:nvSpPr>
          <p:cNvPr id="31" name="Shape 17"/>
          <p:cNvSpPr/>
          <p:nvPr/>
        </p:nvSpPr>
        <p:spPr>
          <a:xfrm>
            <a:off x="10578465" y="4754880"/>
            <a:ext cx="731520" cy="731520"/>
          </a:xfrm>
          <a:prstGeom prst="roundRect">
            <a:avLst>
              <a:gd name="adj" fmla="val 12500"/>
            </a:avLst>
          </a:prstGeom>
          <a:solidFill>
            <a:srgbClr val="FFFFFF"/>
          </a:solidFill>
          <a:ln/>
          <a:effectLst>
            <a:outerShdw sx="100000" sy="100000" kx="0" ky="0" algn="bl" rotWithShape="0" blurRad="88900" dist="38100" dir="5400000">
              <a:srgbClr val="8A94AD">
                <a:alpha val="26000"/>
              </a:srgbClr>
            </a:outerShdw>
          </a:effectLst>
        </p:spPr>
      </p:sp>
      <p:pic>
        <p:nvPicPr>
          <p:cNvPr id="32" name="Image 12" descr="logos/12_secret_manager.png">    </p:cNvPr>
          <p:cNvPicPr>
            <a:picLocks noChangeAspect="1"/>
          </p:cNvPicPr>
          <p:nvPr/>
        </p:nvPicPr>
        <p:blipFill>
          <a:blip r:embed="rId13"/>
          <a:stretch>
            <a:fillRect/>
          </a:stretch>
        </p:blipFill>
        <p:spPr>
          <a:xfrm>
            <a:off x="10697337" y="4873752"/>
            <a:ext cx="493776" cy="493776"/>
          </a:xfrm>
          <a:prstGeom prst="rect">
            <a:avLst/>
          </a:prstGeom>
        </p:spPr>
      </p:pic>
      <p:sp>
        <p:nvSpPr>
          <p:cNvPr id="33" name="Text 18"/>
          <p:cNvSpPr/>
          <p:nvPr/>
        </p:nvSpPr>
        <p:spPr>
          <a:xfrm>
            <a:off x="822960" y="5596128"/>
            <a:ext cx="10515600" cy="292608"/>
          </a:xfrm>
          <a:prstGeom prst="rect">
            <a:avLst/>
          </a:prstGeom>
          <a:noFill/>
          <a:ln/>
        </p:spPr>
        <p:txBody>
          <a:bodyPr wrap="square" lIns="0" tIns="0" rIns="0" bIns="0" rtlCol="0" anchor="ctr"/>
          <a:lstStyle/>
          <a:p>
            <a:pPr indent="0" marL="0">
              <a:buNone/>
            </a:pPr>
            <a:r>
              <a:rPr lang="en-US" sz="1300" dirty="0">
                <a:solidFill>
                  <a:srgbClr val="8FA0C4"/>
                </a:solidFill>
                <a:latin typeface="Calibri" pitchFamily="34" charset="0"/>
                <a:ea typeface="Calibri" pitchFamily="34" charset="-122"/>
                <a:cs typeface="Calibri" pitchFamily="34" charset="-120"/>
              </a:rPr>
              <a:t>Préparé par : </a:t>
            </a:r>
            <a:pPr indent="0" marL="0">
              <a:buNone/>
            </a:pPr>
            <a:r>
              <a:rPr lang="en-US" sz="1300" b="1" dirty="0">
                <a:solidFill>
                  <a:srgbClr val="CBD5EE"/>
                </a:solidFill>
                <a:latin typeface="Calibri" pitchFamily="34" charset="0"/>
                <a:ea typeface="Calibri" pitchFamily="34" charset="-122"/>
                <a:cs typeface="Calibri" pitchFamily="34" charset="-120"/>
              </a:rPr>
              <a:t>Tsantaniaina Rakotonjanahary Ambaorasoa Guillaume</a:t>
            </a:r>
            <a:endParaRPr lang="en-US" sz="1300" dirty="0"/>
          </a:p>
        </p:txBody>
      </p:sp>
      <p:sp>
        <p:nvSpPr>
          <p:cNvPr id="34" name="Text 19"/>
          <p:cNvSpPr/>
          <p:nvPr/>
        </p:nvSpPr>
        <p:spPr>
          <a:xfrm>
            <a:off x="822960" y="5943600"/>
            <a:ext cx="10515600" cy="365760"/>
          </a:xfrm>
          <a:prstGeom prst="rect">
            <a:avLst/>
          </a:prstGeom>
          <a:noFill/>
          <a:ln/>
        </p:spPr>
        <p:txBody>
          <a:bodyPr wrap="square" lIns="0" tIns="0" rIns="0" bIns="0" rtlCol="0" anchor="ctr"/>
          <a:lstStyle/>
          <a:p>
            <a:pPr indent="0" marL="0">
              <a:buNone/>
            </a:pPr>
            <a:r>
              <a:rPr lang="en-US" sz="1200" i="1" dirty="0">
                <a:solidFill>
                  <a:srgbClr val="8A97B8"/>
                </a:solidFill>
                <a:latin typeface="Calibri" pitchFamily="34" charset="0"/>
                <a:ea typeface="Calibri" pitchFamily="34" charset="-122"/>
                <a:cs typeface="Calibri" pitchFamily="34" charset="-120"/>
              </a:rPr>
              <a:t>Projet : mgvaovao-ia · Région : us-central1 · Traduction vocale temps réel anglais/français → malgache (dialectes)</a:t>
            </a:r>
            <a:endParaRPr lang="en-US" sz="1200" dirty="0"/>
          </a:p>
        </p:txBody>
      </p:sp>
      <p:sp>
        <p:nvSpPr>
          <p:cNvPr id="35" name="Text 20"/>
          <p:cNvSpPr/>
          <p:nvPr/>
        </p:nvSpPr>
        <p:spPr>
          <a:xfrm>
            <a:off x="548640" y="4315968"/>
            <a:ext cx="3200400" cy="182880"/>
          </a:xfrm>
          <a:prstGeom prst="rect">
            <a:avLst/>
          </a:prstGeom>
          <a:noFill/>
          <a:ln/>
        </p:spPr>
        <p:txBody>
          <a:bodyPr wrap="square" lIns="0" tIns="0" rIns="0" bIns="0" rtlCol="0" anchor="ctr"/>
          <a:lstStyle/>
          <a:p>
            <a:pPr indent="0" marL="0">
              <a:buNone/>
            </a:pPr>
            <a:r>
              <a:rPr lang="en-US" sz="850" b="1" dirty="0">
                <a:solidFill>
                  <a:srgbClr val="8190AE"/>
                </a:solidFill>
                <a:latin typeface="Calibri" pitchFamily="34" charset="0"/>
                <a:ea typeface="Calibri" pitchFamily="34" charset="-122"/>
                <a:cs typeface="Calibri" pitchFamily="34" charset="-120"/>
              </a:rPr>
              <a:t>Tsantaniaina Rakotonjanahary Ambaorasoa Guillaume</a:t>
            </a:r>
            <a:endParaRPr lang="en-US" sz="850" dirty="0"/>
          </a:p>
        </p:txBody>
      </p:sp>
      <p:sp>
        <p:nvSpPr>
          <p:cNvPr id="36" name="Shape 21"/>
          <p:cNvSpPr/>
          <p:nvPr/>
        </p:nvSpPr>
        <p:spPr>
          <a:xfrm>
            <a:off x="11137392" y="5852160"/>
            <a:ext cx="914400" cy="914400"/>
          </a:xfrm>
          <a:prstGeom prst="roundRect">
            <a:avLst>
              <a:gd name="adj" fmla="val 10000"/>
            </a:avLst>
          </a:prstGeom>
          <a:solidFill>
            <a:srgbClr val="FFFFFF"/>
          </a:solidFill>
          <a:ln w="12700">
            <a:solidFill>
              <a:srgbClr val="D6DEEC"/>
            </a:solidFill>
            <a:prstDash val="solid"/>
          </a:ln>
          <a:effectLst>
            <a:outerShdw sx="100000" sy="100000" kx="0" ky="0" algn="bl" rotWithShape="0" blurRad="88900" dist="38100" dir="5400000">
              <a:srgbClr val="8A94AD">
                <a:alpha val="26000"/>
              </a:srgbClr>
            </a:outerShdw>
          </a:effectLst>
        </p:spPr>
      </p:sp>
      <p:pic>
        <p:nvPicPr>
          <p:cNvPr id="37" name="Image 13" descr="logos/logo_mdn.png">    </p:cNvPr>
          <p:cNvPicPr>
            <a:picLocks noChangeAspect="1"/>
          </p:cNvPicPr>
          <p:nvPr/>
        </p:nvPicPr>
        <p:blipFill>
          <a:blip r:embed="rId14"/>
          <a:stretch>
            <a:fillRect/>
          </a:stretch>
        </p:blipFill>
        <p:spPr>
          <a:xfrm>
            <a:off x="11237976" y="5952744"/>
            <a:ext cx="713232" cy="71323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4285F4"/>
          </a:solidFill>
          <a:ln/>
        </p:spPr>
      </p:sp>
      <p:sp>
        <p:nvSpPr>
          <p:cNvPr id="3" name="Shape 1"/>
          <p:cNvSpPr/>
          <p:nvPr/>
        </p:nvSpPr>
        <p:spPr>
          <a:xfrm>
            <a:off x="146304" y="0"/>
            <a:ext cx="12042648" cy="1078992"/>
          </a:xfrm>
          <a:prstGeom prst="rect">
            <a:avLst/>
          </a:prstGeom>
          <a:solidFill>
            <a:srgbClr val="1B2A4A"/>
          </a:solidFill>
          <a:ln/>
        </p:spPr>
      </p:sp>
      <p:sp>
        <p:nvSpPr>
          <p:cNvPr id="4" name="Text 2"/>
          <p:cNvSpPr/>
          <p:nvPr/>
        </p:nvSpPr>
        <p:spPr>
          <a:xfrm>
            <a:off x="548640" y="182880"/>
            <a:ext cx="9601200" cy="292608"/>
          </a:xfrm>
          <a:prstGeom prst="rect">
            <a:avLst/>
          </a:prstGeom>
          <a:noFill/>
          <a:ln/>
        </p:spPr>
        <p:txBody>
          <a:bodyPr wrap="square" lIns="0" tIns="0" rIns="0" bIns="0" rtlCol="0" anchor="ctr"/>
          <a:lstStyle/>
          <a:p>
            <a:pPr indent="0" marL="0">
              <a:buNone/>
            </a:pPr>
            <a:r>
              <a:rPr lang="en-US" sz="1200" b="1" spc="150" kern="0" dirty="0">
                <a:solidFill>
                  <a:srgbClr val="8AB4F8"/>
                </a:solidFill>
                <a:latin typeface="Calibri" pitchFamily="34" charset="0"/>
                <a:ea typeface="Calibri" pitchFamily="34" charset="-122"/>
                <a:cs typeface="Calibri" pitchFamily="34" charset="-120"/>
              </a:rPr>
              <a:t>CE QUE FAIT LE SYSTÈME</a:t>
            </a:r>
            <a:endParaRPr lang="en-US" sz="1200" dirty="0"/>
          </a:p>
        </p:txBody>
      </p:sp>
      <p:sp>
        <p:nvSpPr>
          <p:cNvPr id="5" name="Text 3"/>
          <p:cNvSpPr/>
          <p:nvPr/>
        </p:nvSpPr>
        <p:spPr>
          <a:xfrm>
            <a:off x="530352" y="438912"/>
            <a:ext cx="9692640" cy="566928"/>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Le projet MGVaovao</a:t>
            </a:r>
            <a:endParaRPr lang="en-US" sz="2700" dirty="0"/>
          </a:p>
        </p:txBody>
      </p:sp>
      <p:sp>
        <p:nvSpPr>
          <p:cNvPr id="6" name="Text 4"/>
          <p:cNvSpPr/>
          <p:nvPr/>
        </p:nvSpPr>
        <p:spPr>
          <a:xfrm>
            <a:off x="548640" y="1325880"/>
            <a:ext cx="11064240" cy="822960"/>
          </a:xfrm>
          <a:prstGeom prst="rect">
            <a:avLst/>
          </a:prstGeom>
          <a:noFill/>
          <a:ln/>
        </p:spPr>
        <p:txBody>
          <a:bodyPr wrap="square" lIns="0" tIns="0" rIns="0" bIns="0" rtlCol="0" anchor="t"/>
          <a:lstStyle/>
          <a:p>
            <a:pPr indent="0" marL="0">
              <a:buNone/>
            </a:pPr>
            <a:r>
              <a:rPr lang="en-US" sz="1350" dirty="0">
                <a:solidFill>
                  <a:srgbClr val="202124"/>
                </a:solidFill>
                <a:latin typeface="Calibri" pitchFamily="34" charset="0"/>
                <a:ea typeface="Calibri" pitchFamily="34" charset="-122"/>
                <a:cs typeface="Calibri" pitchFamily="34" charset="-120"/>
              </a:rPr>
              <a:t>MGVaovao traduit automatiquement de l'audio en langue étrangère (vidéos, podcasts, parole en direct) vers du malgache parlé, spécifique au dialecte choisi — sans cliquer sur un bouton. L'utilisateur choisit la langue source et le dialecte cible ; le système détecte la parole, la transcrit, la traduit puis la synthétise.</a:t>
            </a:r>
            <a:endParaRPr lang="en-US" sz="1350" dirty="0"/>
          </a:p>
        </p:txBody>
      </p:sp>
      <p:sp>
        <p:nvSpPr>
          <p:cNvPr id="7" name="Text 5"/>
          <p:cNvSpPr/>
          <p:nvPr/>
        </p:nvSpPr>
        <p:spPr>
          <a:xfrm>
            <a:off x="548640" y="2377440"/>
            <a:ext cx="10058400" cy="274320"/>
          </a:xfrm>
          <a:prstGeom prst="rect">
            <a:avLst/>
          </a:prstGeom>
          <a:noFill/>
          <a:ln/>
        </p:spPr>
        <p:txBody>
          <a:bodyPr wrap="square" lIns="0" tIns="0" rIns="0" bIns="0" rtlCol="0" anchor="ctr"/>
          <a:lstStyle/>
          <a:p>
            <a:pPr indent="0" marL="0">
              <a:buNone/>
            </a:pPr>
            <a:r>
              <a:rPr lang="en-US" sz="1300" b="1" spc="100" kern="0" dirty="0">
                <a:solidFill>
                  <a:srgbClr val="1A73E8"/>
                </a:solidFill>
                <a:latin typeface="Calibri" pitchFamily="34" charset="0"/>
                <a:ea typeface="Calibri" pitchFamily="34" charset="-122"/>
                <a:cs typeface="Calibri" pitchFamily="34" charset="-120"/>
              </a:rPr>
              <a:t>LE PIPELINE EN CASCADE — 4 ÉTAGES INDÉPENDANTS</a:t>
            </a:r>
            <a:endParaRPr lang="en-US" sz="1300" dirty="0"/>
          </a:p>
        </p:txBody>
      </p:sp>
      <p:sp>
        <p:nvSpPr>
          <p:cNvPr id="8" name="Shape 6"/>
          <p:cNvSpPr/>
          <p:nvPr/>
        </p:nvSpPr>
        <p:spPr>
          <a:xfrm>
            <a:off x="548640" y="2788920"/>
            <a:ext cx="2542032" cy="1783080"/>
          </a:xfrm>
          <a:prstGeom prst="rect">
            <a:avLst/>
          </a:prstGeom>
          <a:solidFill>
            <a:srgbClr val="FFFFFF"/>
          </a:solidFill>
          <a:ln/>
          <a:effectLst>
            <a:outerShdw sx="100000" sy="100000" kx="0" ky="0" algn="bl" rotWithShape="0" blurRad="88900" dist="38100" dir="5400000">
              <a:srgbClr val="8A94AD">
                <a:alpha val="26000"/>
              </a:srgbClr>
            </a:outerShdw>
          </a:effectLst>
        </p:spPr>
      </p:sp>
      <p:sp>
        <p:nvSpPr>
          <p:cNvPr id="9" name="Shape 7"/>
          <p:cNvSpPr/>
          <p:nvPr/>
        </p:nvSpPr>
        <p:spPr>
          <a:xfrm>
            <a:off x="548640" y="2788920"/>
            <a:ext cx="2542032" cy="457200"/>
          </a:xfrm>
          <a:prstGeom prst="rect">
            <a:avLst/>
          </a:prstGeom>
          <a:solidFill>
            <a:srgbClr val="F9AB00"/>
          </a:solidFill>
          <a:ln/>
        </p:spPr>
      </p:sp>
      <p:sp>
        <p:nvSpPr>
          <p:cNvPr id="10" name="Text 8"/>
          <p:cNvSpPr/>
          <p:nvPr/>
        </p:nvSpPr>
        <p:spPr>
          <a:xfrm>
            <a:off x="685800" y="2788920"/>
            <a:ext cx="2267712" cy="45720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Étage 0 — VAD</a:t>
            </a:r>
            <a:endParaRPr lang="en-US" sz="1400" dirty="0"/>
          </a:p>
        </p:txBody>
      </p:sp>
      <p:sp>
        <p:nvSpPr>
          <p:cNvPr id="11" name="Text 9"/>
          <p:cNvSpPr/>
          <p:nvPr/>
        </p:nvSpPr>
        <p:spPr>
          <a:xfrm>
            <a:off x="685800" y="3355848"/>
            <a:ext cx="2267712" cy="457200"/>
          </a:xfrm>
          <a:prstGeom prst="rect">
            <a:avLst/>
          </a:prstGeom>
          <a:noFill/>
          <a:ln/>
        </p:spPr>
        <p:txBody>
          <a:bodyPr wrap="square" lIns="0" tIns="0" rIns="0" bIns="0" rtlCol="0" anchor="ctr"/>
          <a:lstStyle/>
          <a:p>
            <a:pPr indent="0" marL="0">
              <a:buNone/>
            </a:pPr>
            <a:r>
              <a:rPr lang="en-US" sz="1300" b="1" dirty="0">
                <a:solidFill>
                  <a:srgbClr val="202124"/>
                </a:solidFill>
                <a:latin typeface="Calibri" pitchFamily="34" charset="0"/>
                <a:ea typeface="Calibri" pitchFamily="34" charset="-122"/>
                <a:cs typeface="Calibri" pitchFamily="34" charset="-120"/>
              </a:rPr>
              <a:t>Silero VAD v5</a:t>
            </a:r>
            <a:endParaRPr lang="en-US" sz="1300" dirty="0"/>
          </a:p>
        </p:txBody>
      </p:sp>
      <p:sp>
        <p:nvSpPr>
          <p:cNvPr id="12" name="Text 10"/>
          <p:cNvSpPr/>
          <p:nvPr/>
        </p:nvSpPr>
        <p:spPr>
          <a:xfrm>
            <a:off x="685800" y="3813048"/>
            <a:ext cx="2267712" cy="640080"/>
          </a:xfrm>
          <a:prstGeom prst="rect">
            <a:avLst/>
          </a:prstGeom>
          <a:noFill/>
          <a:ln/>
        </p:spPr>
        <p:txBody>
          <a:bodyPr wrap="square" lIns="0" tIns="0" rIns="0" bIns="0" rtlCol="0" anchor="ctr"/>
          <a:lstStyle/>
          <a:p>
            <a:pPr indent="0" marL="0">
              <a:buNone/>
            </a:pPr>
            <a:r>
              <a:rPr lang="en-US" sz="1100" dirty="0">
                <a:solidFill>
                  <a:srgbClr val="5F6368"/>
                </a:solidFill>
                <a:latin typeface="Calibri" pitchFamily="34" charset="0"/>
                <a:ea typeface="Calibri" pitchFamily="34" charset="-122"/>
                <a:cs typeface="Calibri" pitchFamily="34" charset="-120"/>
              </a:rPr>
              <a:t>Détection de parole</a:t>
            </a:r>
            <a:endParaRPr lang="en-US" sz="1100" dirty="0"/>
          </a:p>
          <a:p>
            <a:pPr indent="0" marL="0">
              <a:buNone/>
            </a:pPr>
            <a:r>
              <a:rPr lang="en-US" sz="1100" dirty="0">
                <a:solidFill>
                  <a:srgbClr val="5F6368"/>
                </a:solidFill>
                <a:latin typeface="Calibri" pitchFamily="34" charset="0"/>
                <a:ea typeface="Calibri" pitchFamily="34" charset="-122"/>
                <a:cs typeface="Calibri" pitchFamily="34" charset="-120"/>
              </a:rPr>
              <a:t>32 ms · CPU · MIT</a:t>
            </a:r>
            <a:endParaRPr lang="en-US" sz="1100" dirty="0"/>
          </a:p>
        </p:txBody>
      </p:sp>
      <p:sp>
        <p:nvSpPr>
          <p:cNvPr id="13" name="Text 11"/>
          <p:cNvSpPr/>
          <p:nvPr/>
        </p:nvSpPr>
        <p:spPr>
          <a:xfrm>
            <a:off x="3054096" y="3337560"/>
            <a:ext cx="457200" cy="548640"/>
          </a:xfrm>
          <a:prstGeom prst="rect">
            <a:avLst/>
          </a:prstGeom>
          <a:noFill/>
          <a:ln/>
        </p:spPr>
        <p:txBody>
          <a:bodyPr wrap="square" lIns="0" tIns="0" rIns="0" bIns="0" rtlCol="0" anchor="ctr"/>
          <a:lstStyle/>
          <a:p>
            <a:pPr algn="ctr" indent="0" marL="0">
              <a:buNone/>
            </a:pPr>
            <a:r>
              <a:rPr lang="en-US" sz="2600" b="1" dirty="0">
                <a:solidFill>
                  <a:srgbClr val="3C4A66"/>
                </a:solidFill>
                <a:latin typeface="Calibri" pitchFamily="34" charset="0"/>
                <a:ea typeface="Calibri" pitchFamily="34" charset="-122"/>
                <a:cs typeface="Calibri" pitchFamily="34" charset="-120"/>
              </a:rPr>
              <a:t>→</a:t>
            </a:r>
            <a:endParaRPr lang="en-US" sz="2600" dirty="0"/>
          </a:p>
        </p:txBody>
      </p:sp>
      <p:sp>
        <p:nvSpPr>
          <p:cNvPr id="14" name="Shape 12"/>
          <p:cNvSpPr/>
          <p:nvPr/>
        </p:nvSpPr>
        <p:spPr>
          <a:xfrm>
            <a:off x="3474720" y="2788920"/>
            <a:ext cx="2542032" cy="1783080"/>
          </a:xfrm>
          <a:prstGeom prst="rect">
            <a:avLst/>
          </a:prstGeom>
          <a:solidFill>
            <a:srgbClr val="FFFFFF"/>
          </a:solidFill>
          <a:ln/>
          <a:effectLst>
            <a:outerShdw sx="100000" sy="100000" kx="0" ky="0" algn="bl" rotWithShape="0" blurRad="88900" dist="38100" dir="5400000">
              <a:srgbClr val="8A94AD">
                <a:alpha val="26000"/>
              </a:srgbClr>
            </a:outerShdw>
          </a:effectLst>
        </p:spPr>
      </p:sp>
      <p:sp>
        <p:nvSpPr>
          <p:cNvPr id="15" name="Shape 13"/>
          <p:cNvSpPr/>
          <p:nvPr/>
        </p:nvSpPr>
        <p:spPr>
          <a:xfrm>
            <a:off x="3474720" y="2788920"/>
            <a:ext cx="2542032" cy="457200"/>
          </a:xfrm>
          <a:prstGeom prst="rect">
            <a:avLst/>
          </a:prstGeom>
          <a:solidFill>
            <a:srgbClr val="4285F4"/>
          </a:solidFill>
          <a:ln/>
        </p:spPr>
      </p:sp>
      <p:sp>
        <p:nvSpPr>
          <p:cNvPr id="16" name="Text 14"/>
          <p:cNvSpPr/>
          <p:nvPr/>
        </p:nvSpPr>
        <p:spPr>
          <a:xfrm>
            <a:off x="3611880" y="2788920"/>
            <a:ext cx="2267712" cy="45720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Étage 1 — ASR</a:t>
            </a:r>
            <a:endParaRPr lang="en-US" sz="1400" dirty="0"/>
          </a:p>
        </p:txBody>
      </p:sp>
      <p:sp>
        <p:nvSpPr>
          <p:cNvPr id="17" name="Text 15"/>
          <p:cNvSpPr/>
          <p:nvPr/>
        </p:nvSpPr>
        <p:spPr>
          <a:xfrm>
            <a:off x="3611880" y="3355848"/>
            <a:ext cx="2267712" cy="457200"/>
          </a:xfrm>
          <a:prstGeom prst="rect">
            <a:avLst/>
          </a:prstGeom>
          <a:noFill/>
          <a:ln/>
        </p:spPr>
        <p:txBody>
          <a:bodyPr wrap="square" lIns="0" tIns="0" rIns="0" bIns="0" rtlCol="0" anchor="ctr"/>
          <a:lstStyle/>
          <a:p>
            <a:pPr indent="0" marL="0">
              <a:buNone/>
            </a:pPr>
            <a:r>
              <a:rPr lang="en-US" sz="1300" b="1" dirty="0">
                <a:solidFill>
                  <a:srgbClr val="202124"/>
                </a:solidFill>
                <a:latin typeface="Calibri" pitchFamily="34" charset="0"/>
                <a:ea typeface="Calibri" pitchFamily="34" charset="-122"/>
                <a:cs typeface="Calibri" pitchFamily="34" charset="-120"/>
              </a:rPr>
              <a:t>Whisper large-v3-turbo</a:t>
            </a:r>
            <a:endParaRPr lang="en-US" sz="1300" dirty="0"/>
          </a:p>
        </p:txBody>
      </p:sp>
      <p:sp>
        <p:nvSpPr>
          <p:cNvPr id="18" name="Text 16"/>
          <p:cNvSpPr/>
          <p:nvPr/>
        </p:nvSpPr>
        <p:spPr>
          <a:xfrm>
            <a:off x="3611880" y="3813048"/>
            <a:ext cx="2267712" cy="640080"/>
          </a:xfrm>
          <a:prstGeom prst="rect">
            <a:avLst/>
          </a:prstGeom>
          <a:noFill/>
          <a:ln/>
        </p:spPr>
        <p:txBody>
          <a:bodyPr wrap="square" lIns="0" tIns="0" rIns="0" bIns="0" rtlCol="0" anchor="ctr"/>
          <a:lstStyle/>
          <a:p>
            <a:pPr indent="0" marL="0">
              <a:buNone/>
            </a:pPr>
            <a:r>
              <a:rPr lang="en-US" sz="1100" dirty="0">
                <a:solidFill>
                  <a:srgbClr val="5F6368"/>
                </a:solidFill>
                <a:latin typeface="Calibri" pitchFamily="34" charset="0"/>
                <a:ea typeface="Calibri" pitchFamily="34" charset="-122"/>
                <a:cs typeface="Calibri" pitchFamily="34" charset="-120"/>
              </a:rPr>
              <a:t>Transcription</a:t>
            </a:r>
            <a:endParaRPr lang="en-US" sz="1100" dirty="0"/>
          </a:p>
          <a:p>
            <a:pPr indent="0" marL="0">
              <a:buNone/>
            </a:pPr>
            <a:r>
              <a:rPr lang="en-US" sz="1100" dirty="0">
                <a:solidFill>
                  <a:srgbClr val="5F6368"/>
                </a:solidFill>
                <a:latin typeface="Calibri" pitchFamily="34" charset="0"/>
                <a:ea typeface="Calibri" pitchFamily="34" charset="-122"/>
                <a:cs typeface="Calibri" pitchFamily="34" charset="-120"/>
              </a:rPr>
              <a:t>INT8 · 99 langues · Apache</a:t>
            </a:r>
            <a:endParaRPr lang="en-US" sz="1100" dirty="0"/>
          </a:p>
        </p:txBody>
      </p:sp>
      <p:sp>
        <p:nvSpPr>
          <p:cNvPr id="19" name="Text 17"/>
          <p:cNvSpPr/>
          <p:nvPr/>
        </p:nvSpPr>
        <p:spPr>
          <a:xfrm>
            <a:off x="5980176" y="3337560"/>
            <a:ext cx="457200" cy="548640"/>
          </a:xfrm>
          <a:prstGeom prst="rect">
            <a:avLst/>
          </a:prstGeom>
          <a:noFill/>
          <a:ln/>
        </p:spPr>
        <p:txBody>
          <a:bodyPr wrap="square" lIns="0" tIns="0" rIns="0" bIns="0" rtlCol="0" anchor="ctr"/>
          <a:lstStyle/>
          <a:p>
            <a:pPr algn="ctr" indent="0" marL="0">
              <a:buNone/>
            </a:pPr>
            <a:r>
              <a:rPr lang="en-US" sz="2600" b="1" dirty="0">
                <a:solidFill>
                  <a:srgbClr val="3C4A66"/>
                </a:solidFill>
                <a:latin typeface="Calibri" pitchFamily="34" charset="0"/>
                <a:ea typeface="Calibri" pitchFamily="34" charset="-122"/>
                <a:cs typeface="Calibri" pitchFamily="34" charset="-120"/>
              </a:rPr>
              <a:t>→</a:t>
            </a:r>
            <a:endParaRPr lang="en-US" sz="2600" dirty="0"/>
          </a:p>
        </p:txBody>
      </p:sp>
      <p:sp>
        <p:nvSpPr>
          <p:cNvPr id="20" name="Shape 18"/>
          <p:cNvSpPr/>
          <p:nvPr/>
        </p:nvSpPr>
        <p:spPr>
          <a:xfrm>
            <a:off x="6400800" y="2788920"/>
            <a:ext cx="2542032" cy="1783080"/>
          </a:xfrm>
          <a:prstGeom prst="rect">
            <a:avLst/>
          </a:prstGeom>
          <a:solidFill>
            <a:srgbClr val="FFFFFF"/>
          </a:solidFill>
          <a:ln/>
          <a:effectLst>
            <a:outerShdw sx="100000" sy="100000" kx="0" ky="0" algn="bl" rotWithShape="0" blurRad="88900" dist="38100" dir="5400000">
              <a:srgbClr val="8A94AD">
                <a:alpha val="26000"/>
              </a:srgbClr>
            </a:outerShdw>
          </a:effectLst>
        </p:spPr>
      </p:sp>
      <p:sp>
        <p:nvSpPr>
          <p:cNvPr id="21" name="Shape 19"/>
          <p:cNvSpPr/>
          <p:nvPr/>
        </p:nvSpPr>
        <p:spPr>
          <a:xfrm>
            <a:off x="6400800" y="2788920"/>
            <a:ext cx="2542032" cy="457200"/>
          </a:xfrm>
          <a:prstGeom prst="rect">
            <a:avLst/>
          </a:prstGeom>
          <a:solidFill>
            <a:srgbClr val="34A853"/>
          </a:solidFill>
          <a:ln/>
        </p:spPr>
      </p:sp>
      <p:sp>
        <p:nvSpPr>
          <p:cNvPr id="22" name="Text 20"/>
          <p:cNvSpPr/>
          <p:nvPr/>
        </p:nvSpPr>
        <p:spPr>
          <a:xfrm>
            <a:off x="6537960" y="2788920"/>
            <a:ext cx="2267712" cy="45720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Étage 2 — MT</a:t>
            </a:r>
            <a:endParaRPr lang="en-US" sz="1400" dirty="0"/>
          </a:p>
        </p:txBody>
      </p:sp>
      <p:sp>
        <p:nvSpPr>
          <p:cNvPr id="23" name="Text 21"/>
          <p:cNvSpPr/>
          <p:nvPr/>
        </p:nvSpPr>
        <p:spPr>
          <a:xfrm>
            <a:off x="6537960" y="3355848"/>
            <a:ext cx="2267712" cy="457200"/>
          </a:xfrm>
          <a:prstGeom prst="rect">
            <a:avLst/>
          </a:prstGeom>
          <a:noFill/>
          <a:ln/>
        </p:spPr>
        <p:txBody>
          <a:bodyPr wrap="square" lIns="0" tIns="0" rIns="0" bIns="0" rtlCol="0" anchor="ctr"/>
          <a:lstStyle/>
          <a:p>
            <a:pPr indent="0" marL="0">
              <a:buNone/>
            </a:pPr>
            <a:r>
              <a:rPr lang="en-US" sz="1300" b="1" dirty="0">
                <a:solidFill>
                  <a:srgbClr val="202124"/>
                </a:solidFill>
                <a:latin typeface="Calibri" pitchFamily="34" charset="0"/>
                <a:ea typeface="Calibri" pitchFamily="34" charset="-122"/>
                <a:cs typeface="Calibri" pitchFamily="34" charset="-120"/>
              </a:rPr>
              <a:t>NLLB-200-distilled-600M</a:t>
            </a:r>
            <a:endParaRPr lang="en-US" sz="1300" dirty="0"/>
          </a:p>
        </p:txBody>
      </p:sp>
      <p:sp>
        <p:nvSpPr>
          <p:cNvPr id="24" name="Text 22"/>
          <p:cNvSpPr/>
          <p:nvPr/>
        </p:nvSpPr>
        <p:spPr>
          <a:xfrm>
            <a:off x="6537960" y="3813048"/>
            <a:ext cx="2267712" cy="640080"/>
          </a:xfrm>
          <a:prstGeom prst="rect">
            <a:avLst/>
          </a:prstGeom>
          <a:noFill/>
          <a:ln/>
        </p:spPr>
        <p:txBody>
          <a:bodyPr wrap="square" lIns="0" tIns="0" rIns="0" bIns="0" rtlCol="0" anchor="ctr"/>
          <a:lstStyle/>
          <a:p>
            <a:pPr indent="0" marL="0">
              <a:buNone/>
            </a:pPr>
            <a:r>
              <a:rPr lang="en-US" sz="1100" dirty="0">
                <a:solidFill>
                  <a:srgbClr val="5F6368"/>
                </a:solidFill>
                <a:latin typeface="Calibri" pitchFamily="34" charset="0"/>
                <a:ea typeface="Calibri" pitchFamily="34" charset="-122"/>
                <a:cs typeface="Calibri" pitchFamily="34" charset="-120"/>
              </a:rPr>
              <a:t>Traduction → plt_Latn</a:t>
            </a:r>
            <a:endParaRPr lang="en-US" sz="1100" dirty="0"/>
          </a:p>
          <a:p>
            <a:pPr indent="0" marL="0">
              <a:buNone/>
            </a:pPr>
            <a:r>
              <a:rPr lang="en-US" sz="1100" dirty="0">
                <a:solidFill>
                  <a:srgbClr val="5F6368"/>
                </a:solidFill>
                <a:latin typeface="Calibri" pitchFamily="34" charset="0"/>
                <a:ea typeface="Calibri" pitchFamily="34" charset="-122"/>
                <a:cs typeface="Calibri" pitchFamily="34" charset="-120"/>
              </a:rPr>
              <a:t>LoRA r=16 · CC-BY-NC</a:t>
            </a:r>
            <a:endParaRPr lang="en-US" sz="1100" dirty="0"/>
          </a:p>
        </p:txBody>
      </p:sp>
      <p:sp>
        <p:nvSpPr>
          <p:cNvPr id="25" name="Text 23"/>
          <p:cNvSpPr/>
          <p:nvPr/>
        </p:nvSpPr>
        <p:spPr>
          <a:xfrm>
            <a:off x="8906256" y="3337560"/>
            <a:ext cx="457200" cy="548640"/>
          </a:xfrm>
          <a:prstGeom prst="rect">
            <a:avLst/>
          </a:prstGeom>
          <a:noFill/>
          <a:ln/>
        </p:spPr>
        <p:txBody>
          <a:bodyPr wrap="square" lIns="0" tIns="0" rIns="0" bIns="0" rtlCol="0" anchor="ctr"/>
          <a:lstStyle/>
          <a:p>
            <a:pPr algn="ctr" indent="0" marL="0">
              <a:buNone/>
            </a:pPr>
            <a:r>
              <a:rPr lang="en-US" sz="2600" b="1" dirty="0">
                <a:solidFill>
                  <a:srgbClr val="3C4A66"/>
                </a:solidFill>
                <a:latin typeface="Calibri" pitchFamily="34" charset="0"/>
                <a:ea typeface="Calibri" pitchFamily="34" charset="-122"/>
                <a:cs typeface="Calibri" pitchFamily="34" charset="-120"/>
              </a:rPr>
              <a:t>→</a:t>
            </a:r>
            <a:endParaRPr lang="en-US" sz="2600" dirty="0"/>
          </a:p>
        </p:txBody>
      </p:sp>
      <p:sp>
        <p:nvSpPr>
          <p:cNvPr id="26" name="Shape 24"/>
          <p:cNvSpPr/>
          <p:nvPr/>
        </p:nvSpPr>
        <p:spPr>
          <a:xfrm>
            <a:off x="9326880" y="2788920"/>
            <a:ext cx="2542032" cy="1783080"/>
          </a:xfrm>
          <a:prstGeom prst="rect">
            <a:avLst/>
          </a:prstGeom>
          <a:solidFill>
            <a:srgbClr val="FFFFFF"/>
          </a:solidFill>
          <a:ln/>
          <a:effectLst>
            <a:outerShdw sx="100000" sy="100000" kx="0" ky="0" algn="bl" rotWithShape="0" blurRad="88900" dist="38100" dir="5400000">
              <a:srgbClr val="8A94AD">
                <a:alpha val="26000"/>
              </a:srgbClr>
            </a:outerShdw>
          </a:effectLst>
        </p:spPr>
      </p:sp>
      <p:sp>
        <p:nvSpPr>
          <p:cNvPr id="27" name="Shape 25"/>
          <p:cNvSpPr/>
          <p:nvPr/>
        </p:nvSpPr>
        <p:spPr>
          <a:xfrm>
            <a:off x="9326880" y="2788920"/>
            <a:ext cx="2542032" cy="457200"/>
          </a:xfrm>
          <a:prstGeom prst="rect">
            <a:avLst/>
          </a:prstGeom>
          <a:solidFill>
            <a:srgbClr val="9334E6"/>
          </a:solidFill>
          <a:ln/>
        </p:spPr>
      </p:sp>
      <p:sp>
        <p:nvSpPr>
          <p:cNvPr id="28" name="Text 26"/>
          <p:cNvSpPr/>
          <p:nvPr/>
        </p:nvSpPr>
        <p:spPr>
          <a:xfrm>
            <a:off x="9464040" y="2788920"/>
            <a:ext cx="2267712" cy="45720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Étage 3 — TTS</a:t>
            </a:r>
            <a:endParaRPr lang="en-US" sz="1400" dirty="0"/>
          </a:p>
        </p:txBody>
      </p:sp>
      <p:sp>
        <p:nvSpPr>
          <p:cNvPr id="29" name="Text 27"/>
          <p:cNvSpPr/>
          <p:nvPr/>
        </p:nvSpPr>
        <p:spPr>
          <a:xfrm>
            <a:off x="9464040" y="3355848"/>
            <a:ext cx="2267712" cy="457200"/>
          </a:xfrm>
          <a:prstGeom prst="rect">
            <a:avLst/>
          </a:prstGeom>
          <a:noFill/>
          <a:ln/>
        </p:spPr>
        <p:txBody>
          <a:bodyPr wrap="square" lIns="0" tIns="0" rIns="0" bIns="0" rtlCol="0" anchor="ctr"/>
          <a:lstStyle/>
          <a:p>
            <a:pPr indent="0" marL="0">
              <a:buNone/>
            </a:pPr>
            <a:r>
              <a:rPr lang="en-US" sz="1300" b="1" dirty="0">
                <a:solidFill>
                  <a:srgbClr val="202124"/>
                </a:solidFill>
                <a:latin typeface="Calibri" pitchFamily="34" charset="0"/>
                <a:ea typeface="Calibri" pitchFamily="34" charset="-122"/>
                <a:cs typeface="Calibri" pitchFamily="34" charset="-120"/>
              </a:rPr>
              <a:t>MMS-TTS-MLG (VITS)</a:t>
            </a:r>
            <a:endParaRPr lang="en-US" sz="1300" dirty="0"/>
          </a:p>
        </p:txBody>
      </p:sp>
      <p:sp>
        <p:nvSpPr>
          <p:cNvPr id="30" name="Text 28"/>
          <p:cNvSpPr/>
          <p:nvPr/>
        </p:nvSpPr>
        <p:spPr>
          <a:xfrm>
            <a:off x="9464040" y="3813048"/>
            <a:ext cx="2267712" cy="640080"/>
          </a:xfrm>
          <a:prstGeom prst="rect">
            <a:avLst/>
          </a:prstGeom>
          <a:noFill/>
          <a:ln/>
        </p:spPr>
        <p:txBody>
          <a:bodyPr wrap="square" lIns="0" tIns="0" rIns="0" bIns="0" rtlCol="0" anchor="ctr"/>
          <a:lstStyle/>
          <a:p>
            <a:pPr indent="0" marL="0">
              <a:buNone/>
            </a:pPr>
            <a:r>
              <a:rPr lang="en-US" sz="1100" dirty="0">
                <a:solidFill>
                  <a:srgbClr val="5F6368"/>
                </a:solidFill>
                <a:latin typeface="Calibri" pitchFamily="34" charset="0"/>
                <a:ea typeface="Calibri" pitchFamily="34" charset="-122"/>
                <a:cs typeface="Calibri" pitchFamily="34" charset="-120"/>
              </a:rPr>
              <a:t>Synthèse vocale dialecte</a:t>
            </a:r>
            <a:endParaRPr lang="en-US" sz="1100" dirty="0"/>
          </a:p>
          <a:p>
            <a:pPr indent="0" marL="0">
              <a:buNone/>
            </a:pPr>
            <a:r>
              <a:rPr lang="en-US" sz="1100" dirty="0">
                <a:solidFill>
                  <a:srgbClr val="5F6368"/>
                </a:solidFill>
                <a:latin typeface="Calibri" pitchFamily="34" charset="0"/>
                <a:ea typeface="Calibri" pitchFamily="34" charset="-122"/>
                <a:cs typeface="Calibri" pitchFamily="34" charset="-120"/>
              </a:rPr>
              <a:t>16 kHz · CC-BY-NC</a:t>
            </a:r>
            <a:endParaRPr lang="en-US" sz="1100" dirty="0"/>
          </a:p>
        </p:txBody>
      </p:sp>
      <p:sp>
        <p:nvSpPr>
          <p:cNvPr id="31" name="Shape 29"/>
          <p:cNvSpPr/>
          <p:nvPr/>
        </p:nvSpPr>
        <p:spPr>
          <a:xfrm>
            <a:off x="548640" y="4892040"/>
            <a:ext cx="11064240" cy="1371600"/>
          </a:xfrm>
          <a:prstGeom prst="rect">
            <a:avLst/>
          </a:prstGeom>
          <a:solidFill>
            <a:srgbClr val="EEF2FB"/>
          </a:solidFill>
          <a:ln/>
        </p:spPr>
      </p:sp>
      <p:sp>
        <p:nvSpPr>
          <p:cNvPr id="32" name="Shape 30"/>
          <p:cNvSpPr/>
          <p:nvPr/>
        </p:nvSpPr>
        <p:spPr>
          <a:xfrm>
            <a:off x="548640" y="4892040"/>
            <a:ext cx="91440" cy="1371600"/>
          </a:xfrm>
          <a:prstGeom prst="rect">
            <a:avLst/>
          </a:prstGeom>
          <a:solidFill>
            <a:srgbClr val="4285F4"/>
          </a:solidFill>
          <a:ln/>
        </p:spPr>
      </p:sp>
      <p:sp>
        <p:nvSpPr>
          <p:cNvPr id="33" name="Text 31"/>
          <p:cNvSpPr/>
          <p:nvPr/>
        </p:nvSpPr>
        <p:spPr>
          <a:xfrm>
            <a:off x="786384" y="4965192"/>
            <a:ext cx="10680192" cy="1225296"/>
          </a:xfrm>
          <a:prstGeom prst="rect">
            <a:avLst/>
          </a:prstGeom>
          <a:noFill/>
          <a:ln/>
        </p:spPr>
        <p:txBody>
          <a:bodyPr wrap="square" lIns="0" tIns="0" rIns="0" bIns="0" rtlCol="0" anchor="ctr"/>
          <a:lstStyle/>
          <a:p>
            <a:pPr indent="0" marL="0">
              <a:buNone/>
            </a:pPr>
            <a:r>
              <a:rPr lang="en-US" sz="1100" b="1" dirty="0">
                <a:solidFill>
                  <a:srgbClr val="1A73E8"/>
                </a:solidFill>
                <a:latin typeface="Calibri" pitchFamily="34" charset="0"/>
                <a:ea typeface="Calibri" pitchFamily="34" charset="-122"/>
                <a:cs typeface="Calibri" pitchFamily="34" charset="-120"/>
              </a:rPr>
              <a:t>POURQUOI EN CASCADE ?   </a:t>
            </a:r>
            <a:pPr indent="0" marL="0">
              <a:buNone/>
            </a:pPr>
            <a:r>
              <a:rPr lang="en-US" sz="1200" dirty="0">
                <a:solidFill>
                  <a:srgbClr val="202124"/>
                </a:solidFill>
                <a:latin typeface="Calibri" pitchFamily="34" charset="0"/>
                <a:ea typeface="Calibri" pitchFamily="34" charset="-122"/>
                <a:cs typeface="Calibri" pitchFamily="34" charset="-120"/>
              </a:rPr>
              <a:t>Modularité : chaque composant est remplaçable/affinable indépendamment. Fine-tuning ciblé du maillon le plus faible. Extension dialecte à bas coût (1 checkpoint TTS/dialecte). Empreinte totale ~6,2 Go sur GPU L4 (24 Go). Aucun système end-to-end S2S pour le malgache n'existait publiquement en 2026.</a:t>
            </a:r>
            <a:endParaRPr lang="en-US" sz="1100" dirty="0"/>
          </a:p>
        </p:txBody>
      </p:sp>
      <p:sp>
        <p:nvSpPr>
          <p:cNvPr id="34" name="Text 32"/>
          <p:cNvSpPr/>
          <p:nvPr/>
        </p:nvSpPr>
        <p:spPr>
          <a:xfrm>
            <a:off x="548640" y="6510528"/>
            <a:ext cx="11155680" cy="274320"/>
          </a:xfrm>
          <a:prstGeom prst="rect">
            <a:avLst/>
          </a:prstGeom>
          <a:noFill/>
          <a:ln/>
        </p:spPr>
        <p:txBody>
          <a:bodyPr wrap="square" lIns="0" tIns="0" rIns="0" bIns="0" rtlCol="0" anchor="ctr"/>
          <a:lstStyle/>
          <a:p>
            <a:pPr indent="0" marL="0">
              <a:buNone/>
            </a:pPr>
            <a:r>
              <a:rPr lang="en-US" sz="950" i="1" dirty="0">
                <a:solidFill>
                  <a:srgbClr val="5F6368"/>
                </a:solidFill>
                <a:latin typeface="Calibri" pitchFamily="34" charset="0"/>
                <a:ea typeface="Calibri" pitchFamily="34" charset="-122"/>
                <a:cs typeface="Calibri" pitchFamily="34" charset="-120"/>
              </a:rPr>
              <a:t>Source : README §1, §3, §6 — Audio in → [VAD] → [ASR] → [NLLB MT] → [TTS] → WAV out</a:t>
            </a:r>
            <a:endParaRPr lang="en-US" sz="950" dirty="0"/>
          </a:p>
        </p:txBody>
      </p:sp>
      <p:sp>
        <p:nvSpPr>
          <p:cNvPr id="35" name="Text 33"/>
          <p:cNvSpPr/>
          <p:nvPr/>
        </p:nvSpPr>
        <p:spPr>
          <a:xfrm>
            <a:off x="2103120" y="4658868"/>
            <a:ext cx="3200400" cy="182880"/>
          </a:xfrm>
          <a:prstGeom prst="rect">
            <a:avLst/>
          </a:prstGeom>
          <a:noFill/>
          <a:ln/>
        </p:spPr>
        <p:txBody>
          <a:bodyPr wrap="square" lIns="0" tIns="0" rIns="0" bIns="0" rtlCol="0" anchor="ctr"/>
          <a:lstStyle/>
          <a:p>
            <a:pPr indent="0" marL="0">
              <a:buNone/>
            </a:pPr>
            <a:r>
              <a:rPr lang="en-US" sz="850" b="1" dirty="0">
                <a:solidFill>
                  <a:srgbClr val="97A1B5"/>
                </a:solidFill>
                <a:latin typeface="Calibri" pitchFamily="34" charset="0"/>
                <a:ea typeface="Calibri" pitchFamily="34" charset="-122"/>
                <a:cs typeface="Calibri" pitchFamily="34" charset="-120"/>
              </a:rPr>
              <a:t>Tsantaniaina Rakotonjanahary Ambaorasoa Guillaume</a:t>
            </a:r>
            <a:endParaRPr lang="en-US" sz="850" dirty="0"/>
          </a:p>
        </p:txBody>
      </p:sp>
      <p:sp>
        <p:nvSpPr>
          <p:cNvPr id="36" name="Shape 34"/>
          <p:cNvSpPr/>
          <p:nvPr/>
        </p:nvSpPr>
        <p:spPr>
          <a:xfrm>
            <a:off x="11137392" y="5852160"/>
            <a:ext cx="914400" cy="914400"/>
          </a:xfrm>
          <a:prstGeom prst="roundRect">
            <a:avLst>
              <a:gd name="adj" fmla="val 10000"/>
            </a:avLst>
          </a:prstGeom>
          <a:solidFill>
            <a:srgbClr val="FFFFFF"/>
          </a:solidFill>
          <a:ln w="12700">
            <a:solidFill>
              <a:srgbClr val="D6DEEC"/>
            </a:solidFill>
            <a:prstDash val="solid"/>
          </a:ln>
          <a:effectLst>
            <a:outerShdw sx="100000" sy="100000" kx="0" ky="0" algn="bl" rotWithShape="0" blurRad="88900" dist="38100" dir="5400000">
              <a:srgbClr val="8A94AD">
                <a:alpha val="26000"/>
              </a:srgbClr>
            </a:outerShdw>
          </a:effectLst>
        </p:spPr>
      </p:sp>
      <p:pic>
        <p:nvPicPr>
          <p:cNvPr id="37" name="Image 0" descr="logos/logo_mdn.png">    </p:cNvPr>
          <p:cNvPicPr>
            <a:picLocks noChangeAspect="1"/>
          </p:cNvPicPr>
          <p:nvPr/>
        </p:nvPicPr>
        <p:blipFill>
          <a:blip r:embed="rId1"/>
          <a:stretch>
            <a:fillRect/>
          </a:stretch>
        </p:blipFill>
        <p:spPr>
          <a:xfrm>
            <a:off x="11237976" y="5952744"/>
            <a:ext cx="713232" cy="71323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34A853"/>
          </a:solidFill>
          <a:ln/>
        </p:spPr>
      </p:sp>
      <p:sp>
        <p:nvSpPr>
          <p:cNvPr id="3" name="Shape 1"/>
          <p:cNvSpPr/>
          <p:nvPr/>
        </p:nvSpPr>
        <p:spPr>
          <a:xfrm>
            <a:off x="146304" y="0"/>
            <a:ext cx="12042648" cy="1078992"/>
          </a:xfrm>
          <a:prstGeom prst="rect">
            <a:avLst/>
          </a:prstGeom>
          <a:solidFill>
            <a:srgbClr val="1B2A4A"/>
          </a:solidFill>
          <a:ln/>
        </p:spPr>
      </p:sp>
      <p:sp>
        <p:nvSpPr>
          <p:cNvPr id="4" name="Text 2"/>
          <p:cNvSpPr/>
          <p:nvPr/>
        </p:nvSpPr>
        <p:spPr>
          <a:xfrm>
            <a:off x="548640" y="182880"/>
            <a:ext cx="9601200" cy="292608"/>
          </a:xfrm>
          <a:prstGeom prst="rect">
            <a:avLst/>
          </a:prstGeom>
          <a:noFill/>
          <a:ln/>
        </p:spPr>
        <p:txBody>
          <a:bodyPr wrap="square" lIns="0" tIns="0" rIns="0" bIns="0" rtlCol="0" anchor="ctr"/>
          <a:lstStyle/>
          <a:p>
            <a:pPr indent="0" marL="0">
              <a:buNone/>
            </a:pPr>
            <a:r>
              <a:rPr lang="en-US" sz="1200" b="1" spc="150" kern="0" dirty="0">
                <a:solidFill>
                  <a:srgbClr val="81C995"/>
                </a:solidFill>
                <a:latin typeface="Calibri" pitchFamily="34" charset="0"/>
                <a:ea typeface="Calibri" pitchFamily="34" charset="-122"/>
                <a:cs typeface="Calibri" pitchFamily="34" charset="-120"/>
              </a:rPr>
              <a:t>CE QUE LE SYSTÈME COUVRE</a:t>
            </a:r>
            <a:endParaRPr lang="en-US" sz="1200" dirty="0"/>
          </a:p>
        </p:txBody>
      </p:sp>
      <p:sp>
        <p:nvSpPr>
          <p:cNvPr id="5" name="Text 3"/>
          <p:cNvSpPr/>
          <p:nvPr/>
        </p:nvSpPr>
        <p:spPr>
          <a:xfrm>
            <a:off x="530352" y="438912"/>
            <a:ext cx="9692640" cy="566928"/>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Dialectes &amp; pile de modèles</a:t>
            </a:r>
            <a:endParaRPr lang="en-US" sz="2700" dirty="0"/>
          </a:p>
        </p:txBody>
      </p:sp>
      <p:sp>
        <p:nvSpPr>
          <p:cNvPr id="6" name="Text 4"/>
          <p:cNvSpPr/>
          <p:nvPr/>
        </p:nvSpPr>
        <p:spPr>
          <a:xfrm>
            <a:off x="548640" y="1280160"/>
            <a:ext cx="7315200" cy="274320"/>
          </a:xfrm>
          <a:prstGeom prst="rect">
            <a:avLst/>
          </a:prstGeom>
          <a:noFill/>
          <a:ln/>
        </p:spPr>
        <p:txBody>
          <a:bodyPr wrap="square" lIns="0" tIns="0" rIns="0" bIns="0" rtlCol="0" anchor="ctr"/>
          <a:lstStyle/>
          <a:p>
            <a:pPr indent="0" marL="0">
              <a:buNone/>
            </a:pPr>
            <a:r>
              <a:rPr lang="en-US" sz="1200" b="1" spc="100" kern="0" dirty="0">
                <a:solidFill>
                  <a:srgbClr val="1E8E3E"/>
                </a:solidFill>
                <a:latin typeface="Calibri" pitchFamily="34" charset="0"/>
                <a:ea typeface="Calibri" pitchFamily="34" charset="-122"/>
                <a:cs typeface="Calibri" pitchFamily="34" charset="-120"/>
              </a:rPr>
              <a:t>DIALECTES MALGACHES SUPPORTÉS</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5486400" cy="914400"/>
        </p:xfrm>
        <a:graphic>
          <a:graphicData uri="http://schemas.openxmlformats.org/drawingml/2006/table">
            <a:tbl>
              <a:tblPr/>
              <a:tblGrid>
                <a:gridCol w="1371600"/>
                <a:gridCol w="1554480"/>
                <a:gridCol w="1463040"/>
                <a:gridCol w="1097280"/>
              </a:tblGrid>
              <a:tr h="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Clé</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8E3E"/>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Nom</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8E3E"/>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Région</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8E3E"/>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Locuteurs</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8E3E"/>
                    </a:solidFill>
                  </a:tcPr>
                </a:tc>
              </a:tr>
              <a:tr h="0">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plt_latn</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Malagasy Officiel</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Antananarivo</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Référence</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r>
              <a:tr h="0">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betsileo</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Betsileo</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Fianarantsoa</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~1,5 M</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betsimisaraka</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Betsimisaraka</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Toamasina</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~1,5 M</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r>
              <a:tr h="0">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sakalava</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Sakalava</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Mahajanga</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~1 M</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antandroy</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Antandroy</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Ambovombe</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~800 K</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r>
              <a:tr h="0">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merina</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Merina</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Imerina</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~4 M</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r>
            </a:tbl>
          </a:graphicData>
        </a:graphic>
      </p:graphicFrame>
      <p:sp>
        <p:nvSpPr>
          <p:cNvPr id="8" name="Text 5"/>
          <p:cNvSpPr/>
          <p:nvPr/>
        </p:nvSpPr>
        <p:spPr>
          <a:xfrm>
            <a:off x="548640" y="4434840"/>
            <a:ext cx="5486400" cy="365760"/>
          </a:xfrm>
          <a:prstGeom prst="rect">
            <a:avLst/>
          </a:prstGeom>
          <a:noFill/>
          <a:ln/>
        </p:spPr>
        <p:txBody>
          <a:bodyPr wrap="square" lIns="0" tIns="0" rIns="0" bIns="0" rtlCol="0" anchor="ctr"/>
          <a:lstStyle/>
          <a:p>
            <a:pPr indent="0" marL="0">
              <a:buNone/>
            </a:pPr>
            <a:r>
              <a:rPr lang="en-US" sz="1100" i="1" dirty="0">
                <a:solidFill>
                  <a:srgbClr val="5F6368"/>
                </a:solidFill>
                <a:latin typeface="Calibri" pitchFamily="34" charset="0"/>
                <a:ea typeface="Calibri" pitchFamily="34" charset="-122"/>
                <a:cs typeface="Calibri" pitchFamily="34" charset="-120"/>
              </a:rPr>
              <a:t>Langues sources : fr · en · de · es · it · pt (auto-détectées par Whisper)</a:t>
            </a:r>
            <a:endParaRPr lang="en-US" sz="1100" dirty="0"/>
          </a:p>
        </p:txBody>
      </p:sp>
      <p:sp>
        <p:nvSpPr>
          <p:cNvPr id="9" name="Text 6"/>
          <p:cNvSpPr/>
          <p:nvPr/>
        </p:nvSpPr>
        <p:spPr>
          <a:xfrm>
            <a:off x="6400800" y="1280160"/>
            <a:ext cx="5486400" cy="274320"/>
          </a:xfrm>
          <a:prstGeom prst="rect">
            <a:avLst/>
          </a:prstGeom>
          <a:noFill/>
          <a:ln/>
        </p:spPr>
        <p:txBody>
          <a:bodyPr wrap="square" lIns="0" tIns="0" rIns="0" bIns="0" rtlCol="0" anchor="ctr"/>
          <a:lstStyle/>
          <a:p>
            <a:pPr indent="0" marL="0">
              <a:buNone/>
            </a:pPr>
            <a:r>
              <a:rPr lang="en-US" sz="1200" b="1" spc="100" kern="0" dirty="0">
                <a:solidFill>
                  <a:srgbClr val="1E8E3E"/>
                </a:solidFill>
                <a:latin typeface="Calibri" pitchFamily="34" charset="0"/>
                <a:ea typeface="Calibri" pitchFamily="34" charset="-122"/>
                <a:cs typeface="Calibri" pitchFamily="34" charset="-120"/>
              </a:rPr>
              <a:t>PILE DE MODÈLES IA &amp; VRAM (NVIDIA L4 24 GB)</a:t>
            </a:r>
            <a:endParaRPr lang="en-US" sz="12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6400800" y="1600200"/>
          <a:ext cx="5212080" cy="914400"/>
        </p:xfrm>
        <a:graphic>
          <a:graphicData uri="http://schemas.openxmlformats.org/drawingml/2006/table">
            <a:tbl>
              <a:tblPr/>
              <a:tblGrid>
                <a:gridCol w="914400"/>
                <a:gridCol w="2103120"/>
                <a:gridCol w="1097280"/>
                <a:gridCol w="1097280"/>
              </a:tblGrid>
              <a:tr h="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Étage</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8E3E"/>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Modèle</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8E3E"/>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VRAM</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8E3E"/>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Fine-tune</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8E3E"/>
                    </a:solidFill>
                  </a:tcPr>
                </a:tc>
              </a:tr>
              <a:tr h="0">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VAD</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Silero VAD v5</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0 (CPU)</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Non requis</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r>
              <a:tr h="0">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ASR</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Whisper turbo INT8</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1,7 GB</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Optionnel</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MT</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NLLB-200-600M INT8</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0,7 GB</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Oui (haut)</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r>
              <a:tr h="0">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TTS</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MMS-TTS-MLG ×6</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3,0 GB</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Oui /dialecte</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Overhead CUDA</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0,8 GB</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r>
              <a:tr h="0">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TOTAL utilisé</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6,2 GB</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17,8 GB libre</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r>
            </a:tbl>
          </a:graphicData>
        </a:graphic>
      </p:graphicFrame>
      <p:sp>
        <p:nvSpPr>
          <p:cNvPr id="11" name="Shape 7"/>
          <p:cNvSpPr/>
          <p:nvPr/>
        </p:nvSpPr>
        <p:spPr>
          <a:xfrm>
            <a:off x="6400800" y="4434840"/>
            <a:ext cx="5212080" cy="1737360"/>
          </a:xfrm>
          <a:prstGeom prst="rect">
            <a:avLst/>
          </a:prstGeom>
          <a:solidFill>
            <a:srgbClr val="EEF2FB"/>
          </a:solidFill>
          <a:ln/>
        </p:spPr>
      </p:sp>
      <p:sp>
        <p:nvSpPr>
          <p:cNvPr id="12" name="Shape 8"/>
          <p:cNvSpPr/>
          <p:nvPr/>
        </p:nvSpPr>
        <p:spPr>
          <a:xfrm>
            <a:off x="6400800" y="4434840"/>
            <a:ext cx="91440" cy="1737360"/>
          </a:xfrm>
          <a:prstGeom prst="rect">
            <a:avLst/>
          </a:prstGeom>
          <a:solidFill>
            <a:srgbClr val="34A853"/>
          </a:solidFill>
          <a:ln/>
        </p:spPr>
      </p:sp>
      <p:sp>
        <p:nvSpPr>
          <p:cNvPr id="13" name="Text 9"/>
          <p:cNvSpPr/>
          <p:nvPr/>
        </p:nvSpPr>
        <p:spPr>
          <a:xfrm>
            <a:off x="6638544" y="4507992"/>
            <a:ext cx="4828032" cy="1591056"/>
          </a:xfrm>
          <a:prstGeom prst="rect">
            <a:avLst/>
          </a:prstGeom>
          <a:noFill/>
          <a:ln/>
        </p:spPr>
        <p:txBody>
          <a:bodyPr wrap="square" lIns="0" tIns="0" rIns="0" bIns="0" rtlCol="0" anchor="ctr"/>
          <a:lstStyle/>
          <a:p>
            <a:pPr indent="0" marL="0">
              <a:buNone/>
            </a:pPr>
            <a:r>
              <a:rPr lang="en-US" sz="1100" b="1" dirty="0">
                <a:solidFill>
                  <a:srgbClr val="1E8E3E"/>
                </a:solidFill>
                <a:latin typeface="Calibri" pitchFamily="34" charset="0"/>
                <a:ea typeface="Calibri" pitchFamily="34" charset="-122"/>
                <a:cs typeface="Calibri" pitchFamily="34" charset="-120"/>
              </a:rPr>
              <a:t>À RETENIR   </a:t>
            </a:r>
            <a:pPr indent="0" marL="0">
              <a:buNone/>
            </a:pPr>
            <a:r>
              <a:rPr lang="en-US" sz="1200" dirty="0">
                <a:solidFill>
                  <a:srgbClr val="202124"/>
                </a:solidFill>
                <a:latin typeface="Calibri" pitchFamily="34" charset="0"/>
                <a:ea typeface="Calibri" pitchFamily="34" charset="-122"/>
                <a:cs typeface="Calibri" pitchFamily="34" charset="-120"/>
              </a:rPr>
              <a:t>3 à 5 sessions WebRTC/WebSocket simultanées par instance. L4 Spot ~0,28 $/h. NLLB et MMS-TTS sous CC-BY-NC 4.0 — usage ONG/recherche autorisé. Whisper Apache 2.0, Silero MIT.</a:t>
            </a:r>
            <a:endParaRPr lang="en-US" sz="1100" dirty="0"/>
          </a:p>
        </p:txBody>
      </p:sp>
      <p:sp>
        <p:nvSpPr>
          <p:cNvPr id="14" name="Text 10"/>
          <p:cNvSpPr/>
          <p:nvPr/>
        </p:nvSpPr>
        <p:spPr>
          <a:xfrm>
            <a:off x="548640" y="6510528"/>
            <a:ext cx="11155680" cy="274320"/>
          </a:xfrm>
          <a:prstGeom prst="rect">
            <a:avLst/>
          </a:prstGeom>
          <a:noFill/>
          <a:ln/>
        </p:spPr>
        <p:txBody>
          <a:bodyPr wrap="square" lIns="0" tIns="0" rIns="0" bIns="0" rtlCol="0" anchor="ctr"/>
          <a:lstStyle/>
          <a:p>
            <a:pPr indent="0" marL="0">
              <a:buNone/>
            </a:pPr>
            <a:r>
              <a:rPr lang="en-US" sz="950" i="1" dirty="0">
                <a:solidFill>
                  <a:srgbClr val="5F6368"/>
                </a:solidFill>
                <a:latin typeface="Calibri" pitchFamily="34" charset="0"/>
                <a:ea typeface="Calibri" pitchFamily="34" charset="-122"/>
                <a:cs typeface="Calibri" pitchFamily="34" charset="-120"/>
              </a:rPr>
              <a:t>Source : README §2, §3 — pile de modèles et allocation VRAM</a:t>
            </a:r>
            <a:endParaRPr lang="en-US" sz="950" dirty="0"/>
          </a:p>
        </p:txBody>
      </p:sp>
      <p:sp>
        <p:nvSpPr>
          <p:cNvPr id="15" name="Text 11"/>
          <p:cNvSpPr/>
          <p:nvPr/>
        </p:nvSpPr>
        <p:spPr>
          <a:xfrm>
            <a:off x="3657600" y="6213348"/>
            <a:ext cx="3200400" cy="182880"/>
          </a:xfrm>
          <a:prstGeom prst="rect">
            <a:avLst/>
          </a:prstGeom>
          <a:noFill/>
          <a:ln/>
        </p:spPr>
        <p:txBody>
          <a:bodyPr wrap="square" lIns="0" tIns="0" rIns="0" bIns="0" rtlCol="0" anchor="ctr"/>
          <a:lstStyle/>
          <a:p>
            <a:pPr indent="0" marL="0">
              <a:buNone/>
            </a:pPr>
            <a:r>
              <a:rPr lang="en-US" sz="850" b="1" dirty="0">
                <a:solidFill>
                  <a:srgbClr val="97A1B5"/>
                </a:solidFill>
                <a:latin typeface="Calibri" pitchFamily="34" charset="0"/>
                <a:ea typeface="Calibri" pitchFamily="34" charset="-122"/>
                <a:cs typeface="Calibri" pitchFamily="34" charset="-120"/>
              </a:rPr>
              <a:t>Tsantaniaina Rakotonjanahary Ambaorasoa Guillaume</a:t>
            </a:r>
            <a:endParaRPr lang="en-US" sz="850" dirty="0"/>
          </a:p>
        </p:txBody>
      </p:sp>
      <p:sp>
        <p:nvSpPr>
          <p:cNvPr id="16" name="Shape 12"/>
          <p:cNvSpPr/>
          <p:nvPr/>
        </p:nvSpPr>
        <p:spPr>
          <a:xfrm>
            <a:off x="11137392" y="5852160"/>
            <a:ext cx="914400" cy="914400"/>
          </a:xfrm>
          <a:prstGeom prst="roundRect">
            <a:avLst>
              <a:gd name="adj" fmla="val 10000"/>
            </a:avLst>
          </a:prstGeom>
          <a:solidFill>
            <a:srgbClr val="FFFFFF"/>
          </a:solidFill>
          <a:ln w="12700">
            <a:solidFill>
              <a:srgbClr val="D6DEEC"/>
            </a:solidFill>
            <a:prstDash val="solid"/>
          </a:ln>
          <a:effectLst>
            <a:outerShdw sx="100000" sy="100000" kx="0" ky="0" algn="bl" rotWithShape="0" blurRad="88900" dist="38100" dir="5400000">
              <a:srgbClr val="8A94AD">
                <a:alpha val="26000"/>
              </a:srgbClr>
            </a:outerShdw>
          </a:effectLst>
        </p:spPr>
      </p:sp>
      <p:pic>
        <p:nvPicPr>
          <p:cNvPr id="17" name="Image 0" descr="logos/logo_mdn.png">    </p:cNvPr>
          <p:cNvPicPr>
            <a:picLocks noChangeAspect="1"/>
          </p:cNvPicPr>
          <p:nvPr/>
        </p:nvPicPr>
        <p:blipFill>
          <a:blip r:embed="rId1"/>
          <a:stretch>
            <a:fillRect/>
          </a:stretch>
        </p:blipFill>
        <p:spPr>
          <a:xfrm>
            <a:off x="11237976" y="5952744"/>
            <a:ext cx="713232" cy="71323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2B5CB"/>
          </a:solidFill>
          <a:ln/>
        </p:spPr>
      </p:sp>
      <p:sp>
        <p:nvSpPr>
          <p:cNvPr id="3" name="Shape 1"/>
          <p:cNvSpPr/>
          <p:nvPr/>
        </p:nvSpPr>
        <p:spPr>
          <a:xfrm>
            <a:off x="146304" y="0"/>
            <a:ext cx="12042648" cy="1078992"/>
          </a:xfrm>
          <a:prstGeom prst="rect">
            <a:avLst/>
          </a:prstGeom>
          <a:solidFill>
            <a:srgbClr val="1B2A4A"/>
          </a:solidFill>
          <a:ln/>
        </p:spPr>
      </p:sp>
      <p:sp>
        <p:nvSpPr>
          <p:cNvPr id="4" name="Text 2"/>
          <p:cNvSpPr/>
          <p:nvPr/>
        </p:nvSpPr>
        <p:spPr>
          <a:xfrm>
            <a:off x="548640" y="182880"/>
            <a:ext cx="9601200" cy="292608"/>
          </a:xfrm>
          <a:prstGeom prst="rect">
            <a:avLst/>
          </a:prstGeom>
          <a:noFill/>
          <a:ln/>
        </p:spPr>
        <p:txBody>
          <a:bodyPr wrap="square" lIns="0" tIns="0" rIns="0" bIns="0" rtlCol="0" anchor="ctr"/>
          <a:lstStyle/>
          <a:p>
            <a:pPr indent="0" marL="0">
              <a:buNone/>
            </a:pPr>
            <a:r>
              <a:rPr lang="en-US" sz="1200" b="1" spc="150" kern="0" dirty="0">
                <a:solidFill>
                  <a:srgbClr val="78D9E6"/>
                </a:solidFill>
                <a:latin typeface="Calibri" pitchFamily="34" charset="0"/>
                <a:ea typeface="Calibri" pitchFamily="34" charset="-122"/>
                <a:cs typeface="Calibri" pitchFamily="34" charset="-120"/>
              </a:rPr>
              <a:t>VUE D'ENSEMBLE DE BOUT EN BOUT</a:t>
            </a:r>
            <a:endParaRPr lang="en-US" sz="1200" dirty="0"/>
          </a:p>
        </p:txBody>
      </p:sp>
      <p:sp>
        <p:nvSpPr>
          <p:cNvPr id="5" name="Text 3"/>
          <p:cNvSpPr/>
          <p:nvPr/>
        </p:nvSpPr>
        <p:spPr>
          <a:xfrm>
            <a:off x="530352" y="438912"/>
            <a:ext cx="9692640" cy="566928"/>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Architecture GCP de production</a:t>
            </a:r>
            <a:endParaRPr lang="en-US" sz="2700" dirty="0"/>
          </a:p>
        </p:txBody>
      </p:sp>
      <p:sp>
        <p:nvSpPr>
          <p:cNvPr id="6" name="Text 4"/>
          <p:cNvSpPr/>
          <p:nvPr/>
        </p:nvSpPr>
        <p:spPr>
          <a:xfrm>
            <a:off x="548640" y="1325880"/>
            <a:ext cx="5486400" cy="274320"/>
          </a:xfrm>
          <a:prstGeom prst="rect">
            <a:avLst/>
          </a:prstGeom>
          <a:noFill/>
          <a:ln/>
        </p:spPr>
        <p:txBody>
          <a:bodyPr wrap="square" lIns="0" tIns="0" rIns="0" bIns="0" rtlCol="0" anchor="ctr"/>
          <a:lstStyle/>
          <a:p>
            <a:pPr indent="0" marL="0">
              <a:buNone/>
            </a:pPr>
            <a:r>
              <a:rPr lang="en-US" sz="1200" b="1" spc="100" kern="0" dirty="0">
                <a:solidFill>
                  <a:srgbClr val="1A73E8"/>
                </a:solidFill>
                <a:latin typeface="Calibri" pitchFamily="34" charset="0"/>
                <a:ea typeface="Calibri" pitchFamily="34" charset="-122"/>
                <a:cs typeface="Calibri" pitchFamily="34" charset="-120"/>
              </a:rPr>
              <a:t>①  TEMPS RÉEL — INFÉRENCE</a:t>
            </a:r>
            <a:endParaRPr lang="en-US" sz="1200" dirty="0"/>
          </a:p>
        </p:txBody>
      </p:sp>
      <p:sp>
        <p:nvSpPr>
          <p:cNvPr id="7" name="Shape 5"/>
          <p:cNvSpPr/>
          <p:nvPr/>
        </p:nvSpPr>
        <p:spPr>
          <a:xfrm>
            <a:off x="548640" y="1627632"/>
            <a:ext cx="1783080" cy="1325880"/>
          </a:xfrm>
          <a:prstGeom prst="rect">
            <a:avLst/>
          </a:prstGeom>
          <a:solidFill>
            <a:srgbClr val="FFFFFF"/>
          </a:solidFill>
          <a:ln/>
          <a:effectLst>
            <a:outerShdw sx="100000" sy="100000" kx="0" ky="0" algn="bl" rotWithShape="0" blurRad="88900" dist="38100" dir="5400000">
              <a:srgbClr val="8A94AD">
                <a:alpha val="26000"/>
              </a:srgbClr>
            </a:outerShdw>
          </a:effectLst>
        </p:spPr>
      </p:sp>
      <p:sp>
        <p:nvSpPr>
          <p:cNvPr id="8" name="Shape 6"/>
          <p:cNvSpPr/>
          <p:nvPr/>
        </p:nvSpPr>
        <p:spPr>
          <a:xfrm>
            <a:off x="548640" y="1627632"/>
            <a:ext cx="1783080" cy="82296"/>
          </a:xfrm>
          <a:prstGeom prst="rect">
            <a:avLst/>
          </a:prstGeom>
          <a:solidFill>
            <a:srgbClr val="4285F4"/>
          </a:solidFill>
          <a:ln/>
        </p:spPr>
      </p:sp>
      <p:sp>
        <p:nvSpPr>
          <p:cNvPr id="9" name="Text 7"/>
          <p:cNvSpPr/>
          <p:nvPr/>
        </p:nvSpPr>
        <p:spPr>
          <a:xfrm>
            <a:off x="548640" y="1792224"/>
            <a:ext cx="1783080" cy="640080"/>
          </a:xfrm>
          <a:prstGeom prst="rect">
            <a:avLst/>
          </a:prstGeom>
          <a:noFill/>
          <a:ln/>
        </p:spPr>
        <p:txBody>
          <a:bodyPr wrap="square" lIns="0" tIns="0" rIns="0" bIns="0" rtlCol="0" anchor="ctr"/>
          <a:lstStyle/>
          <a:p>
            <a:pPr algn="ctr" indent="0" marL="0">
              <a:buNone/>
            </a:pPr>
            <a:r>
              <a:rPr lang="en-US" sz="2800" dirty="0">
                <a:solidFill>
                  <a:srgbClr val="1A73E8"/>
                </a:solidFill>
              </a:rPr>
              <a:t>●</a:t>
            </a:r>
            <a:endParaRPr lang="en-US" sz="2800" dirty="0"/>
          </a:p>
        </p:txBody>
      </p:sp>
      <p:sp>
        <p:nvSpPr>
          <p:cNvPr id="10" name="Text 8"/>
          <p:cNvSpPr/>
          <p:nvPr/>
        </p:nvSpPr>
        <p:spPr>
          <a:xfrm>
            <a:off x="594360" y="2478024"/>
            <a:ext cx="1691640" cy="438912"/>
          </a:xfrm>
          <a:prstGeom prst="rect">
            <a:avLst/>
          </a:prstGeom>
          <a:noFill/>
          <a:ln/>
        </p:spPr>
        <p:txBody>
          <a:bodyPr wrap="square" lIns="0" tIns="0" rIns="0" bIns="0" rtlCol="0" anchor="t"/>
          <a:lstStyle/>
          <a:p>
            <a:pPr algn="ctr" indent="0" marL="0">
              <a:buNone/>
            </a:pPr>
            <a:r>
              <a:rPr lang="en-US" sz="1050" b="1" dirty="0">
                <a:solidFill>
                  <a:srgbClr val="202124"/>
                </a:solidFill>
                <a:latin typeface="Calibri" pitchFamily="34" charset="0"/>
                <a:ea typeface="Calibri" pitchFamily="34" charset="-122"/>
                <a:cs typeface="Calibri" pitchFamily="34" charset="-120"/>
              </a:rPr>
              <a:t>Client Web</a:t>
            </a:r>
            <a:endParaRPr lang="en-US" sz="1050" dirty="0"/>
          </a:p>
          <a:p>
            <a:pPr algn="ctr" indent="0" marL="0">
              <a:buNone/>
            </a:pPr>
            <a:r>
              <a:rPr lang="en-US" sz="850" dirty="0">
                <a:solidFill>
                  <a:srgbClr val="5F6368"/>
                </a:solidFill>
                <a:latin typeface="Calibri" pitchFamily="34" charset="0"/>
                <a:ea typeface="Calibri" pitchFamily="34" charset="-122"/>
                <a:cs typeface="Calibri" pitchFamily="34" charset="-120"/>
              </a:rPr>
              <a:t>WebRTC / WS</a:t>
            </a:r>
            <a:endParaRPr lang="en-US" sz="1050" dirty="0"/>
          </a:p>
        </p:txBody>
      </p:sp>
      <p:sp>
        <p:nvSpPr>
          <p:cNvPr id="11" name="Text 9"/>
          <p:cNvSpPr/>
          <p:nvPr/>
        </p:nvSpPr>
        <p:spPr>
          <a:xfrm>
            <a:off x="2331720" y="2011680"/>
            <a:ext cx="566928" cy="548640"/>
          </a:xfrm>
          <a:prstGeom prst="rect">
            <a:avLst/>
          </a:prstGeom>
          <a:noFill/>
          <a:ln/>
        </p:spPr>
        <p:txBody>
          <a:bodyPr wrap="square" lIns="0" tIns="0" rIns="0" bIns="0" rtlCol="0" anchor="ctr"/>
          <a:lstStyle/>
          <a:p>
            <a:pPr algn="ctr" indent="0" marL="0">
              <a:buNone/>
            </a:pPr>
            <a:r>
              <a:rPr lang="en-US" sz="2600" b="1" dirty="0">
                <a:solidFill>
                  <a:srgbClr val="0E7C8B"/>
                </a:solidFill>
              </a:rPr>
              <a:t>→</a:t>
            </a:r>
            <a:endParaRPr lang="en-US" sz="2600" dirty="0"/>
          </a:p>
        </p:txBody>
      </p:sp>
      <p:sp>
        <p:nvSpPr>
          <p:cNvPr id="12" name="Shape 10"/>
          <p:cNvSpPr/>
          <p:nvPr/>
        </p:nvSpPr>
        <p:spPr>
          <a:xfrm>
            <a:off x="2935224" y="1627632"/>
            <a:ext cx="1783080" cy="1325880"/>
          </a:xfrm>
          <a:prstGeom prst="rect">
            <a:avLst/>
          </a:prstGeom>
          <a:solidFill>
            <a:srgbClr val="FFFFFF"/>
          </a:solidFill>
          <a:ln/>
          <a:effectLst>
            <a:outerShdw sx="100000" sy="100000" kx="0" ky="0" algn="bl" rotWithShape="0" blurRad="88900" dist="38100" dir="5400000">
              <a:srgbClr val="8A94AD">
                <a:alpha val="26000"/>
              </a:srgbClr>
            </a:outerShdw>
          </a:effectLst>
        </p:spPr>
      </p:sp>
      <p:sp>
        <p:nvSpPr>
          <p:cNvPr id="13" name="Shape 11"/>
          <p:cNvSpPr/>
          <p:nvPr/>
        </p:nvSpPr>
        <p:spPr>
          <a:xfrm>
            <a:off x="2935224" y="1627632"/>
            <a:ext cx="1783080" cy="82296"/>
          </a:xfrm>
          <a:prstGeom prst="rect">
            <a:avLst/>
          </a:prstGeom>
          <a:solidFill>
            <a:srgbClr val="4285F4"/>
          </a:solidFill>
          <a:ln/>
        </p:spPr>
      </p:sp>
      <p:pic>
        <p:nvPicPr>
          <p:cNvPr id="14" name="Image 0" descr="logos/01_cloud_run.png">    </p:cNvPr>
          <p:cNvPicPr>
            <a:picLocks noChangeAspect="1"/>
          </p:cNvPicPr>
          <p:nvPr/>
        </p:nvPicPr>
        <p:blipFill>
          <a:blip r:embed="rId1"/>
          <a:stretch>
            <a:fillRect/>
          </a:stretch>
        </p:blipFill>
        <p:spPr>
          <a:xfrm>
            <a:off x="3488436" y="1810512"/>
            <a:ext cx="676656" cy="676656"/>
          </a:xfrm>
          <a:prstGeom prst="rect">
            <a:avLst/>
          </a:prstGeom>
        </p:spPr>
      </p:pic>
      <p:sp>
        <p:nvSpPr>
          <p:cNvPr id="15" name="Text 12"/>
          <p:cNvSpPr/>
          <p:nvPr/>
        </p:nvSpPr>
        <p:spPr>
          <a:xfrm>
            <a:off x="2980944" y="2478024"/>
            <a:ext cx="1691640" cy="438912"/>
          </a:xfrm>
          <a:prstGeom prst="rect">
            <a:avLst/>
          </a:prstGeom>
          <a:noFill/>
          <a:ln/>
        </p:spPr>
        <p:txBody>
          <a:bodyPr wrap="square" lIns="0" tIns="0" rIns="0" bIns="0" rtlCol="0" anchor="t"/>
          <a:lstStyle/>
          <a:p>
            <a:pPr algn="ctr" indent="0" marL="0">
              <a:buNone/>
            </a:pPr>
            <a:r>
              <a:rPr lang="en-US" sz="1050" b="1" dirty="0">
                <a:solidFill>
                  <a:srgbClr val="202124"/>
                </a:solidFill>
                <a:latin typeface="Calibri" pitchFamily="34" charset="0"/>
                <a:ea typeface="Calibri" pitchFamily="34" charset="-122"/>
                <a:cs typeface="Calibri" pitchFamily="34" charset="-120"/>
              </a:rPr>
              <a:t>Cloud Run</a:t>
            </a:r>
            <a:endParaRPr lang="en-US" sz="1050" dirty="0"/>
          </a:p>
          <a:p>
            <a:pPr algn="ctr" indent="0" marL="0">
              <a:buNone/>
            </a:pPr>
            <a:r>
              <a:rPr lang="en-US" sz="850" dirty="0">
                <a:solidFill>
                  <a:srgbClr val="5F6368"/>
                </a:solidFill>
                <a:latin typeface="Calibri" pitchFamily="34" charset="0"/>
                <a:ea typeface="Calibri" pitchFamily="34" charset="-122"/>
                <a:cs typeface="Calibri" pitchFamily="34" charset="-120"/>
              </a:rPr>
              <a:t>Signaling CPU</a:t>
            </a:r>
            <a:endParaRPr lang="en-US" sz="1050" dirty="0"/>
          </a:p>
        </p:txBody>
      </p:sp>
      <p:sp>
        <p:nvSpPr>
          <p:cNvPr id="16" name="Text 13"/>
          <p:cNvSpPr/>
          <p:nvPr/>
        </p:nvSpPr>
        <p:spPr>
          <a:xfrm>
            <a:off x="4718304" y="2011680"/>
            <a:ext cx="566928" cy="548640"/>
          </a:xfrm>
          <a:prstGeom prst="rect">
            <a:avLst/>
          </a:prstGeom>
          <a:noFill/>
          <a:ln/>
        </p:spPr>
        <p:txBody>
          <a:bodyPr wrap="square" lIns="0" tIns="0" rIns="0" bIns="0" rtlCol="0" anchor="ctr"/>
          <a:lstStyle/>
          <a:p>
            <a:pPr algn="ctr" indent="0" marL="0">
              <a:buNone/>
            </a:pPr>
            <a:r>
              <a:rPr lang="en-US" sz="2600" b="1" dirty="0">
                <a:solidFill>
                  <a:srgbClr val="0E7C8B"/>
                </a:solidFill>
              </a:rPr>
              <a:t>→</a:t>
            </a:r>
            <a:endParaRPr lang="en-US" sz="2600" dirty="0"/>
          </a:p>
        </p:txBody>
      </p:sp>
      <p:sp>
        <p:nvSpPr>
          <p:cNvPr id="17" name="Shape 14"/>
          <p:cNvSpPr/>
          <p:nvPr/>
        </p:nvSpPr>
        <p:spPr>
          <a:xfrm>
            <a:off x="5321808" y="1627632"/>
            <a:ext cx="1783080" cy="1325880"/>
          </a:xfrm>
          <a:prstGeom prst="rect">
            <a:avLst/>
          </a:prstGeom>
          <a:solidFill>
            <a:srgbClr val="FFFFFF"/>
          </a:solidFill>
          <a:ln/>
          <a:effectLst>
            <a:outerShdw sx="100000" sy="100000" kx="0" ky="0" algn="bl" rotWithShape="0" blurRad="88900" dist="38100" dir="5400000">
              <a:srgbClr val="8A94AD">
                <a:alpha val="26000"/>
              </a:srgbClr>
            </a:outerShdw>
          </a:effectLst>
        </p:spPr>
      </p:sp>
      <p:sp>
        <p:nvSpPr>
          <p:cNvPr id="18" name="Shape 15"/>
          <p:cNvSpPr/>
          <p:nvPr/>
        </p:nvSpPr>
        <p:spPr>
          <a:xfrm>
            <a:off x="5321808" y="1627632"/>
            <a:ext cx="1783080" cy="82296"/>
          </a:xfrm>
          <a:prstGeom prst="rect">
            <a:avLst/>
          </a:prstGeom>
          <a:solidFill>
            <a:srgbClr val="EA4335"/>
          </a:solidFill>
          <a:ln/>
        </p:spPr>
      </p:sp>
      <p:pic>
        <p:nvPicPr>
          <p:cNvPr id="19" name="Image 1" descr="logos/02_cloud_run_gpu.png">    </p:cNvPr>
          <p:cNvPicPr>
            <a:picLocks noChangeAspect="1"/>
          </p:cNvPicPr>
          <p:nvPr/>
        </p:nvPicPr>
        <p:blipFill>
          <a:blip r:embed="rId2"/>
          <a:stretch>
            <a:fillRect/>
          </a:stretch>
        </p:blipFill>
        <p:spPr>
          <a:xfrm>
            <a:off x="5875020" y="1810512"/>
            <a:ext cx="676656" cy="676656"/>
          </a:xfrm>
          <a:prstGeom prst="rect">
            <a:avLst/>
          </a:prstGeom>
        </p:spPr>
      </p:pic>
      <p:sp>
        <p:nvSpPr>
          <p:cNvPr id="20" name="Text 16"/>
          <p:cNvSpPr/>
          <p:nvPr/>
        </p:nvSpPr>
        <p:spPr>
          <a:xfrm>
            <a:off x="5367528" y="2478024"/>
            <a:ext cx="1691640" cy="438912"/>
          </a:xfrm>
          <a:prstGeom prst="rect">
            <a:avLst/>
          </a:prstGeom>
          <a:noFill/>
          <a:ln/>
        </p:spPr>
        <p:txBody>
          <a:bodyPr wrap="square" lIns="0" tIns="0" rIns="0" bIns="0" rtlCol="0" anchor="t"/>
          <a:lstStyle/>
          <a:p>
            <a:pPr algn="ctr" indent="0" marL="0">
              <a:buNone/>
            </a:pPr>
            <a:r>
              <a:rPr lang="en-US" sz="1050" b="1" dirty="0">
                <a:solidFill>
                  <a:srgbClr val="202124"/>
                </a:solidFill>
                <a:latin typeface="Calibri" pitchFamily="34" charset="0"/>
                <a:ea typeface="Calibri" pitchFamily="34" charset="-122"/>
                <a:cs typeface="Calibri" pitchFamily="34" charset="-120"/>
              </a:rPr>
              <a:t>Cloud Run GPU</a:t>
            </a:r>
            <a:endParaRPr lang="en-US" sz="1050" dirty="0"/>
          </a:p>
          <a:p>
            <a:pPr algn="ctr" indent="0" marL="0">
              <a:buNone/>
            </a:pPr>
            <a:r>
              <a:rPr lang="en-US" sz="850" dirty="0">
                <a:solidFill>
                  <a:srgbClr val="5F6368"/>
                </a:solidFill>
                <a:latin typeface="Calibri" pitchFamily="34" charset="0"/>
                <a:ea typeface="Calibri" pitchFamily="34" charset="-122"/>
                <a:cs typeface="Calibri" pitchFamily="34" charset="-120"/>
              </a:rPr>
              <a:t>VAD·ASR·MT·TTS</a:t>
            </a:r>
            <a:endParaRPr lang="en-US" sz="1050" dirty="0"/>
          </a:p>
        </p:txBody>
      </p:sp>
      <p:sp>
        <p:nvSpPr>
          <p:cNvPr id="21" name="Text 17"/>
          <p:cNvSpPr/>
          <p:nvPr/>
        </p:nvSpPr>
        <p:spPr>
          <a:xfrm>
            <a:off x="7104888" y="2011680"/>
            <a:ext cx="566928" cy="548640"/>
          </a:xfrm>
          <a:prstGeom prst="rect">
            <a:avLst/>
          </a:prstGeom>
          <a:noFill/>
          <a:ln/>
        </p:spPr>
        <p:txBody>
          <a:bodyPr wrap="square" lIns="0" tIns="0" rIns="0" bIns="0" rtlCol="0" anchor="ctr"/>
          <a:lstStyle/>
          <a:p>
            <a:pPr algn="ctr" indent="0" marL="0">
              <a:buNone/>
            </a:pPr>
            <a:r>
              <a:rPr lang="en-US" sz="2600" b="1" dirty="0">
                <a:solidFill>
                  <a:srgbClr val="0E7C8B"/>
                </a:solidFill>
              </a:rPr>
              <a:t>→</a:t>
            </a:r>
            <a:endParaRPr lang="en-US" sz="2600" dirty="0"/>
          </a:p>
        </p:txBody>
      </p:sp>
      <p:sp>
        <p:nvSpPr>
          <p:cNvPr id="22" name="Shape 18"/>
          <p:cNvSpPr/>
          <p:nvPr/>
        </p:nvSpPr>
        <p:spPr>
          <a:xfrm>
            <a:off x="7708392" y="1627632"/>
            <a:ext cx="1783080" cy="1325880"/>
          </a:xfrm>
          <a:prstGeom prst="rect">
            <a:avLst/>
          </a:prstGeom>
          <a:solidFill>
            <a:srgbClr val="FFFFFF"/>
          </a:solidFill>
          <a:ln/>
          <a:effectLst>
            <a:outerShdw sx="100000" sy="100000" kx="0" ky="0" algn="bl" rotWithShape="0" blurRad="88900" dist="38100" dir="5400000">
              <a:srgbClr val="8A94AD">
                <a:alpha val="26000"/>
              </a:srgbClr>
            </a:outerShdw>
          </a:effectLst>
        </p:spPr>
      </p:sp>
      <p:sp>
        <p:nvSpPr>
          <p:cNvPr id="23" name="Shape 19"/>
          <p:cNvSpPr/>
          <p:nvPr/>
        </p:nvSpPr>
        <p:spPr>
          <a:xfrm>
            <a:off x="7708392" y="1627632"/>
            <a:ext cx="1783080" cy="82296"/>
          </a:xfrm>
          <a:prstGeom prst="rect">
            <a:avLst/>
          </a:prstGeom>
          <a:solidFill>
            <a:srgbClr val="34A853"/>
          </a:solidFill>
          <a:ln/>
        </p:spPr>
      </p:sp>
      <p:pic>
        <p:nvPicPr>
          <p:cNvPr id="24" name="Image 2" descr="logos/03_cloud_storage.png">    </p:cNvPr>
          <p:cNvPicPr>
            <a:picLocks noChangeAspect="1"/>
          </p:cNvPicPr>
          <p:nvPr/>
        </p:nvPicPr>
        <p:blipFill>
          <a:blip r:embed="rId3"/>
          <a:stretch>
            <a:fillRect/>
          </a:stretch>
        </p:blipFill>
        <p:spPr>
          <a:xfrm>
            <a:off x="8261604" y="1810512"/>
            <a:ext cx="676656" cy="676656"/>
          </a:xfrm>
          <a:prstGeom prst="rect">
            <a:avLst/>
          </a:prstGeom>
        </p:spPr>
      </p:pic>
      <p:sp>
        <p:nvSpPr>
          <p:cNvPr id="25" name="Text 20"/>
          <p:cNvSpPr/>
          <p:nvPr/>
        </p:nvSpPr>
        <p:spPr>
          <a:xfrm>
            <a:off x="7754112" y="2478024"/>
            <a:ext cx="1691640" cy="438912"/>
          </a:xfrm>
          <a:prstGeom prst="rect">
            <a:avLst/>
          </a:prstGeom>
          <a:noFill/>
          <a:ln/>
        </p:spPr>
        <p:txBody>
          <a:bodyPr wrap="square" lIns="0" tIns="0" rIns="0" bIns="0" rtlCol="0" anchor="t"/>
          <a:lstStyle/>
          <a:p>
            <a:pPr algn="ctr" indent="0" marL="0">
              <a:buNone/>
            </a:pPr>
            <a:r>
              <a:rPr lang="en-US" sz="1050" b="1" dirty="0">
                <a:solidFill>
                  <a:srgbClr val="202124"/>
                </a:solidFill>
                <a:latin typeface="Calibri" pitchFamily="34" charset="0"/>
                <a:ea typeface="Calibri" pitchFamily="34" charset="-122"/>
                <a:cs typeface="Calibri" pitchFamily="34" charset="-120"/>
              </a:rPr>
              <a:t>Cloud Storage</a:t>
            </a:r>
            <a:endParaRPr lang="en-US" sz="1050" dirty="0"/>
          </a:p>
          <a:p>
            <a:pPr algn="ctr" indent="0" marL="0">
              <a:buNone/>
            </a:pPr>
            <a:r>
              <a:rPr lang="en-US" sz="850" dirty="0">
                <a:solidFill>
                  <a:srgbClr val="5F6368"/>
                </a:solidFill>
                <a:latin typeface="Calibri" pitchFamily="34" charset="0"/>
                <a:ea typeface="Calibri" pitchFamily="34" charset="-122"/>
                <a:cs typeface="Calibri" pitchFamily="34" charset="-120"/>
              </a:rPr>
              <a:t>Modèles</a:t>
            </a:r>
            <a:endParaRPr lang="en-US" sz="1050" dirty="0"/>
          </a:p>
        </p:txBody>
      </p:sp>
      <p:sp>
        <p:nvSpPr>
          <p:cNvPr id="26" name="Text 21"/>
          <p:cNvSpPr/>
          <p:nvPr/>
        </p:nvSpPr>
        <p:spPr>
          <a:xfrm>
            <a:off x="548640" y="3246120"/>
            <a:ext cx="8229600" cy="274320"/>
          </a:xfrm>
          <a:prstGeom prst="rect">
            <a:avLst/>
          </a:prstGeom>
          <a:noFill/>
          <a:ln/>
        </p:spPr>
        <p:txBody>
          <a:bodyPr wrap="square" lIns="0" tIns="0" rIns="0" bIns="0" rtlCol="0" anchor="ctr"/>
          <a:lstStyle/>
          <a:p>
            <a:pPr indent="0" marL="0">
              <a:buNone/>
            </a:pPr>
            <a:r>
              <a:rPr lang="en-US" sz="1200" b="1" spc="100" kern="0" dirty="0">
                <a:solidFill>
                  <a:srgbClr val="8430CE"/>
                </a:solidFill>
                <a:latin typeface="Calibri" pitchFamily="34" charset="0"/>
                <a:ea typeface="Calibri" pitchFamily="34" charset="-122"/>
                <a:cs typeface="Calibri" pitchFamily="34" charset="-120"/>
              </a:rPr>
              <a:t>②  COLLECTE → ENTRAÎNEMENT → DÉPLOIEMENT</a:t>
            </a:r>
            <a:endParaRPr lang="en-US" sz="1200" dirty="0"/>
          </a:p>
        </p:txBody>
      </p:sp>
      <p:sp>
        <p:nvSpPr>
          <p:cNvPr id="27" name="Shape 22"/>
          <p:cNvSpPr/>
          <p:nvPr/>
        </p:nvSpPr>
        <p:spPr>
          <a:xfrm>
            <a:off x="548640" y="3547872"/>
            <a:ext cx="1783080" cy="1325880"/>
          </a:xfrm>
          <a:prstGeom prst="rect">
            <a:avLst/>
          </a:prstGeom>
          <a:solidFill>
            <a:srgbClr val="FFFFFF"/>
          </a:solidFill>
          <a:ln/>
          <a:effectLst>
            <a:outerShdw sx="100000" sy="100000" kx="0" ky="0" algn="bl" rotWithShape="0" blurRad="88900" dist="38100" dir="5400000">
              <a:srgbClr val="8A94AD">
                <a:alpha val="26000"/>
              </a:srgbClr>
            </a:outerShdw>
          </a:effectLst>
        </p:spPr>
      </p:sp>
      <p:sp>
        <p:nvSpPr>
          <p:cNvPr id="28" name="Shape 23"/>
          <p:cNvSpPr/>
          <p:nvPr/>
        </p:nvSpPr>
        <p:spPr>
          <a:xfrm>
            <a:off x="548640" y="3547872"/>
            <a:ext cx="1783080" cy="82296"/>
          </a:xfrm>
          <a:prstGeom prst="rect">
            <a:avLst/>
          </a:prstGeom>
          <a:solidFill>
            <a:srgbClr val="12B5CB"/>
          </a:solidFill>
          <a:ln/>
        </p:spPr>
      </p:sp>
      <p:pic>
        <p:nvPicPr>
          <p:cNvPr id="29" name="Image 3" descr="logos/03_cloud_storage.png">    </p:cNvPr>
          <p:cNvPicPr>
            <a:picLocks noChangeAspect="1"/>
          </p:cNvPicPr>
          <p:nvPr/>
        </p:nvPicPr>
        <p:blipFill>
          <a:blip r:embed="rId4"/>
          <a:stretch>
            <a:fillRect/>
          </a:stretch>
        </p:blipFill>
        <p:spPr>
          <a:xfrm>
            <a:off x="1101852" y="3730752"/>
            <a:ext cx="676656" cy="676656"/>
          </a:xfrm>
          <a:prstGeom prst="rect">
            <a:avLst/>
          </a:prstGeom>
        </p:spPr>
      </p:pic>
      <p:sp>
        <p:nvSpPr>
          <p:cNvPr id="30" name="Text 24"/>
          <p:cNvSpPr/>
          <p:nvPr/>
        </p:nvSpPr>
        <p:spPr>
          <a:xfrm>
            <a:off x="594360" y="4398264"/>
            <a:ext cx="1691640" cy="438912"/>
          </a:xfrm>
          <a:prstGeom prst="rect">
            <a:avLst/>
          </a:prstGeom>
          <a:noFill/>
          <a:ln/>
        </p:spPr>
        <p:txBody>
          <a:bodyPr wrap="square" lIns="0" tIns="0" rIns="0" bIns="0" rtlCol="0" anchor="t"/>
          <a:lstStyle/>
          <a:p>
            <a:pPr algn="ctr" indent="0" marL="0">
              <a:buNone/>
            </a:pPr>
            <a:r>
              <a:rPr lang="en-US" sz="1050" b="1" dirty="0">
                <a:solidFill>
                  <a:srgbClr val="202124"/>
                </a:solidFill>
                <a:latin typeface="Calibri" pitchFamily="34" charset="0"/>
                <a:ea typeface="Calibri" pitchFamily="34" charset="-122"/>
                <a:cs typeface="Calibri" pitchFamily="34" charset="-120"/>
              </a:rPr>
              <a:t>Kozy (Frontend)</a:t>
            </a:r>
            <a:endParaRPr lang="en-US" sz="1050" dirty="0"/>
          </a:p>
          <a:p>
            <a:pPr algn="ctr" indent="0" marL="0">
              <a:buNone/>
            </a:pPr>
            <a:r>
              <a:rPr lang="en-US" sz="850" dirty="0">
                <a:solidFill>
                  <a:srgbClr val="5F6368"/>
                </a:solidFill>
                <a:latin typeface="Calibri" pitchFamily="34" charset="0"/>
                <a:ea typeface="Calibri" pitchFamily="34" charset="-122"/>
                <a:cs typeface="Calibri" pitchFamily="34" charset="-120"/>
              </a:rPr>
              <a:t>Collecte audio/CSV</a:t>
            </a:r>
            <a:endParaRPr lang="en-US" sz="1050" dirty="0"/>
          </a:p>
        </p:txBody>
      </p:sp>
      <p:sp>
        <p:nvSpPr>
          <p:cNvPr id="31" name="Text 25"/>
          <p:cNvSpPr/>
          <p:nvPr/>
        </p:nvSpPr>
        <p:spPr>
          <a:xfrm>
            <a:off x="2331720" y="3931920"/>
            <a:ext cx="566928" cy="548640"/>
          </a:xfrm>
          <a:prstGeom prst="rect">
            <a:avLst/>
          </a:prstGeom>
          <a:noFill/>
          <a:ln/>
        </p:spPr>
        <p:txBody>
          <a:bodyPr wrap="square" lIns="0" tIns="0" rIns="0" bIns="0" rtlCol="0" anchor="ctr"/>
          <a:lstStyle/>
          <a:p>
            <a:pPr algn="ctr" indent="0" marL="0">
              <a:buNone/>
            </a:pPr>
            <a:r>
              <a:rPr lang="en-US" sz="2600" b="1" dirty="0">
                <a:solidFill>
                  <a:srgbClr val="0E7C8B"/>
                </a:solidFill>
              </a:rPr>
              <a:t>→</a:t>
            </a:r>
            <a:endParaRPr lang="en-US" sz="2600" dirty="0"/>
          </a:p>
        </p:txBody>
      </p:sp>
      <p:sp>
        <p:nvSpPr>
          <p:cNvPr id="32" name="Shape 26"/>
          <p:cNvSpPr/>
          <p:nvPr/>
        </p:nvSpPr>
        <p:spPr>
          <a:xfrm>
            <a:off x="2656332" y="3547872"/>
            <a:ext cx="1783080" cy="1325880"/>
          </a:xfrm>
          <a:prstGeom prst="rect">
            <a:avLst/>
          </a:prstGeom>
          <a:solidFill>
            <a:srgbClr val="FFFFFF"/>
          </a:solidFill>
          <a:ln/>
          <a:effectLst>
            <a:outerShdw sx="100000" sy="100000" kx="0" ky="0" algn="bl" rotWithShape="0" blurRad="88900" dist="38100" dir="5400000">
              <a:srgbClr val="8A94AD">
                <a:alpha val="26000"/>
              </a:srgbClr>
            </a:outerShdw>
          </a:effectLst>
        </p:spPr>
      </p:sp>
      <p:sp>
        <p:nvSpPr>
          <p:cNvPr id="33" name="Shape 27"/>
          <p:cNvSpPr/>
          <p:nvPr/>
        </p:nvSpPr>
        <p:spPr>
          <a:xfrm>
            <a:off x="2656332" y="3547872"/>
            <a:ext cx="1783080" cy="82296"/>
          </a:xfrm>
          <a:prstGeom prst="rect">
            <a:avLst/>
          </a:prstGeom>
          <a:solidFill>
            <a:srgbClr val="34A853"/>
          </a:solidFill>
          <a:ln/>
        </p:spPr>
      </p:sp>
      <p:pic>
        <p:nvPicPr>
          <p:cNvPr id="34" name="Image 4" descr="logos/03_cloud_storage.png">    </p:cNvPr>
          <p:cNvPicPr>
            <a:picLocks noChangeAspect="1"/>
          </p:cNvPicPr>
          <p:nvPr/>
        </p:nvPicPr>
        <p:blipFill>
          <a:blip r:embed="rId5"/>
          <a:stretch>
            <a:fillRect/>
          </a:stretch>
        </p:blipFill>
        <p:spPr>
          <a:xfrm>
            <a:off x="3209544" y="3730752"/>
            <a:ext cx="676656" cy="676656"/>
          </a:xfrm>
          <a:prstGeom prst="rect">
            <a:avLst/>
          </a:prstGeom>
        </p:spPr>
      </p:pic>
      <p:sp>
        <p:nvSpPr>
          <p:cNvPr id="35" name="Text 28"/>
          <p:cNvSpPr/>
          <p:nvPr/>
        </p:nvSpPr>
        <p:spPr>
          <a:xfrm>
            <a:off x="2702052" y="4398264"/>
            <a:ext cx="1691640" cy="438912"/>
          </a:xfrm>
          <a:prstGeom prst="rect">
            <a:avLst/>
          </a:prstGeom>
          <a:noFill/>
          <a:ln/>
        </p:spPr>
        <p:txBody>
          <a:bodyPr wrap="square" lIns="0" tIns="0" rIns="0" bIns="0" rtlCol="0" anchor="t"/>
          <a:lstStyle/>
          <a:p>
            <a:pPr algn="ctr" indent="0" marL="0">
              <a:buNone/>
            </a:pPr>
            <a:r>
              <a:rPr lang="en-US" sz="1050" b="1" dirty="0">
                <a:solidFill>
                  <a:srgbClr val="202124"/>
                </a:solidFill>
                <a:latin typeface="Calibri" pitchFamily="34" charset="0"/>
                <a:ea typeface="Calibri" pitchFamily="34" charset="-122"/>
                <a:cs typeface="Calibri" pitchFamily="34" charset="-120"/>
              </a:rPr>
              <a:t>Cloud Storage</a:t>
            </a:r>
            <a:endParaRPr lang="en-US" sz="1050" dirty="0"/>
          </a:p>
          <a:p>
            <a:pPr algn="ctr" indent="0" marL="0">
              <a:buNone/>
            </a:pPr>
            <a:r>
              <a:rPr lang="en-US" sz="850" dirty="0">
                <a:solidFill>
                  <a:srgbClr val="5F6368"/>
                </a:solidFill>
                <a:latin typeface="Calibri" pitchFamily="34" charset="0"/>
                <a:ea typeface="Calibri" pitchFamily="34" charset="-122"/>
                <a:cs typeface="Calibri" pitchFamily="34" charset="-120"/>
              </a:rPr>
              <a:t>Dataset</a:t>
            </a:r>
            <a:endParaRPr lang="en-US" sz="1050" dirty="0"/>
          </a:p>
        </p:txBody>
      </p:sp>
      <p:sp>
        <p:nvSpPr>
          <p:cNvPr id="36" name="Text 29"/>
          <p:cNvSpPr/>
          <p:nvPr/>
        </p:nvSpPr>
        <p:spPr>
          <a:xfrm>
            <a:off x="4439412" y="3931920"/>
            <a:ext cx="566928" cy="548640"/>
          </a:xfrm>
          <a:prstGeom prst="rect">
            <a:avLst/>
          </a:prstGeom>
          <a:noFill/>
          <a:ln/>
        </p:spPr>
        <p:txBody>
          <a:bodyPr wrap="square" lIns="0" tIns="0" rIns="0" bIns="0" rtlCol="0" anchor="ctr"/>
          <a:lstStyle/>
          <a:p>
            <a:pPr algn="ctr" indent="0" marL="0">
              <a:buNone/>
            </a:pPr>
            <a:r>
              <a:rPr lang="en-US" sz="2600" b="1" dirty="0">
                <a:solidFill>
                  <a:srgbClr val="0E7C8B"/>
                </a:solidFill>
              </a:rPr>
              <a:t>→</a:t>
            </a:r>
            <a:endParaRPr lang="en-US" sz="2600" dirty="0"/>
          </a:p>
        </p:txBody>
      </p:sp>
      <p:sp>
        <p:nvSpPr>
          <p:cNvPr id="37" name="Shape 30"/>
          <p:cNvSpPr/>
          <p:nvPr/>
        </p:nvSpPr>
        <p:spPr>
          <a:xfrm>
            <a:off x="4764024" y="3547872"/>
            <a:ext cx="1783080" cy="1325880"/>
          </a:xfrm>
          <a:prstGeom prst="rect">
            <a:avLst/>
          </a:prstGeom>
          <a:solidFill>
            <a:srgbClr val="FFFFFF"/>
          </a:solidFill>
          <a:ln/>
          <a:effectLst>
            <a:outerShdw sx="100000" sy="100000" kx="0" ky="0" algn="bl" rotWithShape="0" blurRad="88900" dist="38100" dir="5400000">
              <a:srgbClr val="8A94AD">
                <a:alpha val="26000"/>
              </a:srgbClr>
            </a:outerShdw>
          </a:effectLst>
        </p:spPr>
      </p:sp>
      <p:sp>
        <p:nvSpPr>
          <p:cNvPr id="38" name="Shape 31"/>
          <p:cNvSpPr/>
          <p:nvPr/>
        </p:nvSpPr>
        <p:spPr>
          <a:xfrm>
            <a:off x="4764024" y="3547872"/>
            <a:ext cx="1783080" cy="82296"/>
          </a:xfrm>
          <a:prstGeom prst="rect">
            <a:avLst/>
          </a:prstGeom>
          <a:solidFill>
            <a:srgbClr val="EA4335"/>
          </a:solidFill>
          <a:ln/>
        </p:spPr>
      </p:sp>
      <p:pic>
        <p:nvPicPr>
          <p:cNvPr id="39" name="Image 5" descr="logos/07_pubsub.png">    </p:cNvPr>
          <p:cNvPicPr>
            <a:picLocks noChangeAspect="1"/>
          </p:cNvPicPr>
          <p:nvPr/>
        </p:nvPicPr>
        <p:blipFill>
          <a:blip r:embed="rId6"/>
          <a:stretch>
            <a:fillRect/>
          </a:stretch>
        </p:blipFill>
        <p:spPr>
          <a:xfrm>
            <a:off x="5317236" y="3730752"/>
            <a:ext cx="676656" cy="676656"/>
          </a:xfrm>
          <a:prstGeom prst="rect">
            <a:avLst/>
          </a:prstGeom>
        </p:spPr>
      </p:pic>
      <p:sp>
        <p:nvSpPr>
          <p:cNvPr id="40" name="Text 32"/>
          <p:cNvSpPr/>
          <p:nvPr/>
        </p:nvSpPr>
        <p:spPr>
          <a:xfrm>
            <a:off x="4809744" y="4398264"/>
            <a:ext cx="1691640" cy="438912"/>
          </a:xfrm>
          <a:prstGeom prst="rect">
            <a:avLst/>
          </a:prstGeom>
          <a:noFill/>
          <a:ln/>
        </p:spPr>
        <p:txBody>
          <a:bodyPr wrap="square" lIns="0" tIns="0" rIns="0" bIns="0" rtlCol="0" anchor="t"/>
          <a:lstStyle/>
          <a:p>
            <a:pPr algn="ctr" indent="0" marL="0">
              <a:buNone/>
            </a:pPr>
            <a:r>
              <a:rPr lang="en-US" sz="1050" b="1" dirty="0">
                <a:solidFill>
                  <a:srgbClr val="202124"/>
                </a:solidFill>
                <a:latin typeface="Calibri" pitchFamily="34" charset="0"/>
                <a:ea typeface="Calibri" pitchFamily="34" charset="-122"/>
                <a:cs typeface="Calibri" pitchFamily="34" charset="-120"/>
              </a:rPr>
              <a:t>Pub/Sub</a:t>
            </a:r>
            <a:endParaRPr lang="en-US" sz="1050" dirty="0"/>
          </a:p>
          <a:p>
            <a:pPr algn="ctr" indent="0" marL="0">
              <a:buNone/>
            </a:pPr>
            <a:r>
              <a:rPr lang="en-US" sz="850" dirty="0">
                <a:solidFill>
                  <a:srgbClr val="5F6368"/>
                </a:solidFill>
                <a:latin typeface="Calibri" pitchFamily="34" charset="0"/>
                <a:ea typeface="Calibri" pitchFamily="34" charset="-122"/>
                <a:cs typeface="Calibri" pitchFamily="34" charset="-120"/>
              </a:rPr>
              <a:t>Événement</a:t>
            </a:r>
            <a:endParaRPr lang="en-US" sz="1050" dirty="0"/>
          </a:p>
        </p:txBody>
      </p:sp>
      <p:sp>
        <p:nvSpPr>
          <p:cNvPr id="41" name="Text 33"/>
          <p:cNvSpPr/>
          <p:nvPr/>
        </p:nvSpPr>
        <p:spPr>
          <a:xfrm>
            <a:off x="6547104" y="3931920"/>
            <a:ext cx="566928" cy="548640"/>
          </a:xfrm>
          <a:prstGeom prst="rect">
            <a:avLst/>
          </a:prstGeom>
          <a:noFill/>
          <a:ln/>
        </p:spPr>
        <p:txBody>
          <a:bodyPr wrap="square" lIns="0" tIns="0" rIns="0" bIns="0" rtlCol="0" anchor="ctr"/>
          <a:lstStyle/>
          <a:p>
            <a:pPr algn="ctr" indent="0" marL="0">
              <a:buNone/>
            </a:pPr>
            <a:r>
              <a:rPr lang="en-US" sz="2600" b="1" dirty="0">
                <a:solidFill>
                  <a:srgbClr val="0E7C8B"/>
                </a:solidFill>
              </a:rPr>
              <a:t>→</a:t>
            </a:r>
            <a:endParaRPr lang="en-US" sz="2600" dirty="0"/>
          </a:p>
        </p:txBody>
      </p:sp>
      <p:sp>
        <p:nvSpPr>
          <p:cNvPr id="42" name="Shape 34"/>
          <p:cNvSpPr/>
          <p:nvPr/>
        </p:nvSpPr>
        <p:spPr>
          <a:xfrm>
            <a:off x="6871716" y="3547872"/>
            <a:ext cx="1783080" cy="1325880"/>
          </a:xfrm>
          <a:prstGeom prst="rect">
            <a:avLst/>
          </a:prstGeom>
          <a:solidFill>
            <a:srgbClr val="FFFFFF"/>
          </a:solidFill>
          <a:ln/>
          <a:effectLst>
            <a:outerShdw sx="100000" sy="100000" kx="0" ky="0" algn="bl" rotWithShape="0" blurRad="88900" dist="38100" dir="5400000">
              <a:srgbClr val="8A94AD">
                <a:alpha val="26000"/>
              </a:srgbClr>
            </a:outerShdw>
          </a:effectLst>
        </p:spPr>
      </p:sp>
      <p:sp>
        <p:nvSpPr>
          <p:cNvPr id="43" name="Shape 35"/>
          <p:cNvSpPr/>
          <p:nvPr/>
        </p:nvSpPr>
        <p:spPr>
          <a:xfrm>
            <a:off x="6871716" y="3547872"/>
            <a:ext cx="1783080" cy="82296"/>
          </a:xfrm>
          <a:prstGeom prst="rect">
            <a:avLst/>
          </a:prstGeom>
          <a:solidFill>
            <a:srgbClr val="9334E6"/>
          </a:solidFill>
          <a:ln/>
        </p:spPr>
      </p:sp>
      <p:pic>
        <p:nvPicPr>
          <p:cNvPr id="44" name="Image 6" descr="logos/04_vertex_ai.png">    </p:cNvPr>
          <p:cNvPicPr>
            <a:picLocks noChangeAspect="1"/>
          </p:cNvPicPr>
          <p:nvPr/>
        </p:nvPicPr>
        <p:blipFill>
          <a:blip r:embed="rId7"/>
          <a:stretch>
            <a:fillRect/>
          </a:stretch>
        </p:blipFill>
        <p:spPr>
          <a:xfrm>
            <a:off x="7424928" y="3730752"/>
            <a:ext cx="676656" cy="676656"/>
          </a:xfrm>
          <a:prstGeom prst="rect">
            <a:avLst/>
          </a:prstGeom>
        </p:spPr>
      </p:pic>
      <p:sp>
        <p:nvSpPr>
          <p:cNvPr id="45" name="Text 36"/>
          <p:cNvSpPr/>
          <p:nvPr/>
        </p:nvSpPr>
        <p:spPr>
          <a:xfrm>
            <a:off x="6917436" y="4398264"/>
            <a:ext cx="1691640" cy="438912"/>
          </a:xfrm>
          <a:prstGeom prst="rect">
            <a:avLst/>
          </a:prstGeom>
          <a:noFill/>
          <a:ln/>
        </p:spPr>
        <p:txBody>
          <a:bodyPr wrap="square" lIns="0" tIns="0" rIns="0" bIns="0" rtlCol="0" anchor="t"/>
          <a:lstStyle/>
          <a:p>
            <a:pPr algn="ctr" indent="0" marL="0">
              <a:buNone/>
            </a:pPr>
            <a:r>
              <a:rPr lang="en-US" sz="1050" b="1" dirty="0">
                <a:solidFill>
                  <a:srgbClr val="202124"/>
                </a:solidFill>
                <a:latin typeface="Calibri" pitchFamily="34" charset="0"/>
                <a:ea typeface="Calibri" pitchFamily="34" charset="-122"/>
                <a:cs typeface="Calibri" pitchFamily="34" charset="-120"/>
              </a:rPr>
              <a:t>Vertex AI</a:t>
            </a:r>
            <a:endParaRPr lang="en-US" sz="1050" dirty="0"/>
          </a:p>
          <a:p>
            <a:pPr algn="ctr" indent="0" marL="0">
              <a:buNone/>
            </a:pPr>
            <a:r>
              <a:rPr lang="en-US" sz="850" dirty="0">
                <a:solidFill>
                  <a:srgbClr val="5F6368"/>
                </a:solidFill>
                <a:latin typeface="Calibri" pitchFamily="34" charset="0"/>
                <a:ea typeface="Calibri" pitchFamily="34" charset="-122"/>
                <a:cs typeface="Calibri" pitchFamily="34" charset="-120"/>
              </a:rPr>
              <a:t>Fine-tuning T4</a:t>
            </a:r>
            <a:endParaRPr lang="en-US" sz="1050" dirty="0"/>
          </a:p>
        </p:txBody>
      </p:sp>
      <p:sp>
        <p:nvSpPr>
          <p:cNvPr id="46" name="Text 37"/>
          <p:cNvSpPr/>
          <p:nvPr/>
        </p:nvSpPr>
        <p:spPr>
          <a:xfrm>
            <a:off x="8654796" y="3931920"/>
            <a:ext cx="566928" cy="548640"/>
          </a:xfrm>
          <a:prstGeom prst="rect">
            <a:avLst/>
          </a:prstGeom>
          <a:noFill/>
          <a:ln/>
        </p:spPr>
        <p:txBody>
          <a:bodyPr wrap="square" lIns="0" tIns="0" rIns="0" bIns="0" rtlCol="0" anchor="ctr"/>
          <a:lstStyle/>
          <a:p>
            <a:pPr algn="ctr" indent="0" marL="0">
              <a:buNone/>
            </a:pPr>
            <a:r>
              <a:rPr lang="en-US" sz="2600" b="1" dirty="0">
                <a:solidFill>
                  <a:srgbClr val="0E7C8B"/>
                </a:solidFill>
              </a:rPr>
              <a:t>→</a:t>
            </a:r>
            <a:endParaRPr lang="en-US" sz="2600" dirty="0"/>
          </a:p>
        </p:txBody>
      </p:sp>
      <p:sp>
        <p:nvSpPr>
          <p:cNvPr id="47" name="Shape 38"/>
          <p:cNvSpPr/>
          <p:nvPr/>
        </p:nvSpPr>
        <p:spPr>
          <a:xfrm>
            <a:off x="8979408" y="3547872"/>
            <a:ext cx="1783080" cy="1325880"/>
          </a:xfrm>
          <a:prstGeom prst="rect">
            <a:avLst/>
          </a:prstGeom>
          <a:solidFill>
            <a:srgbClr val="FFFFFF"/>
          </a:solidFill>
          <a:ln/>
          <a:effectLst>
            <a:outerShdw sx="100000" sy="100000" kx="0" ky="0" algn="bl" rotWithShape="0" blurRad="88900" dist="38100" dir="5400000">
              <a:srgbClr val="8A94AD">
                <a:alpha val="26000"/>
              </a:srgbClr>
            </a:outerShdw>
          </a:effectLst>
        </p:spPr>
      </p:sp>
      <p:sp>
        <p:nvSpPr>
          <p:cNvPr id="48" name="Shape 39"/>
          <p:cNvSpPr/>
          <p:nvPr/>
        </p:nvSpPr>
        <p:spPr>
          <a:xfrm>
            <a:off x="8979408" y="3547872"/>
            <a:ext cx="1783080" cy="82296"/>
          </a:xfrm>
          <a:prstGeom prst="rect">
            <a:avLst/>
          </a:prstGeom>
          <a:solidFill>
            <a:srgbClr val="F9AB00"/>
          </a:solidFill>
          <a:ln/>
        </p:spPr>
      </p:sp>
      <p:pic>
        <p:nvPicPr>
          <p:cNvPr id="49" name="Image 7" descr="logos/05_cloud_build.png">    </p:cNvPr>
          <p:cNvPicPr>
            <a:picLocks noChangeAspect="1"/>
          </p:cNvPicPr>
          <p:nvPr/>
        </p:nvPicPr>
        <p:blipFill>
          <a:blip r:embed="rId8"/>
          <a:stretch>
            <a:fillRect/>
          </a:stretch>
        </p:blipFill>
        <p:spPr>
          <a:xfrm>
            <a:off x="9532620" y="3730752"/>
            <a:ext cx="676656" cy="676656"/>
          </a:xfrm>
          <a:prstGeom prst="rect">
            <a:avLst/>
          </a:prstGeom>
        </p:spPr>
      </p:pic>
      <p:sp>
        <p:nvSpPr>
          <p:cNvPr id="50" name="Text 40"/>
          <p:cNvSpPr/>
          <p:nvPr/>
        </p:nvSpPr>
        <p:spPr>
          <a:xfrm>
            <a:off x="9025128" y="4398264"/>
            <a:ext cx="1691640" cy="438912"/>
          </a:xfrm>
          <a:prstGeom prst="rect">
            <a:avLst/>
          </a:prstGeom>
          <a:noFill/>
          <a:ln/>
        </p:spPr>
        <p:txBody>
          <a:bodyPr wrap="square" lIns="0" tIns="0" rIns="0" bIns="0" rtlCol="0" anchor="t"/>
          <a:lstStyle/>
          <a:p>
            <a:pPr algn="ctr" indent="0" marL="0">
              <a:buNone/>
            </a:pPr>
            <a:r>
              <a:rPr lang="en-US" sz="1050" b="1" dirty="0">
                <a:solidFill>
                  <a:srgbClr val="202124"/>
                </a:solidFill>
                <a:latin typeface="Calibri" pitchFamily="34" charset="0"/>
                <a:ea typeface="Calibri" pitchFamily="34" charset="-122"/>
                <a:cs typeface="Calibri" pitchFamily="34" charset="-120"/>
              </a:rPr>
              <a:t>Cloud Build</a:t>
            </a:r>
            <a:endParaRPr lang="en-US" sz="1050" dirty="0"/>
          </a:p>
          <a:p>
            <a:pPr algn="ctr" indent="0" marL="0">
              <a:buNone/>
            </a:pPr>
            <a:r>
              <a:rPr lang="en-US" sz="850" dirty="0">
                <a:solidFill>
                  <a:srgbClr val="5F6368"/>
                </a:solidFill>
                <a:latin typeface="Calibri" pitchFamily="34" charset="0"/>
                <a:ea typeface="Calibri" pitchFamily="34" charset="-122"/>
                <a:cs typeface="Calibri" pitchFamily="34" charset="-120"/>
              </a:rPr>
              <a:t>Blue/Green</a:t>
            </a:r>
            <a:endParaRPr lang="en-US" sz="1050" dirty="0"/>
          </a:p>
        </p:txBody>
      </p:sp>
      <p:sp>
        <p:nvSpPr>
          <p:cNvPr id="51" name="Text 41"/>
          <p:cNvSpPr/>
          <p:nvPr/>
        </p:nvSpPr>
        <p:spPr>
          <a:xfrm>
            <a:off x="548640" y="4956048"/>
            <a:ext cx="11064240" cy="292608"/>
          </a:xfrm>
          <a:prstGeom prst="rect">
            <a:avLst/>
          </a:prstGeom>
          <a:noFill/>
          <a:ln/>
        </p:spPr>
        <p:txBody>
          <a:bodyPr wrap="square" lIns="0" tIns="0" rIns="0" bIns="0" rtlCol="0" anchor="ctr"/>
          <a:lstStyle/>
          <a:p>
            <a:pPr indent="0" marL="0">
              <a:buNone/>
            </a:pPr>
            <a:r>
              <a:rPr lang="en-US" sz="1050" i="1" dirty="0">
                <a:solidFill>
                  <a:srgbClr val="5F6368"/>
                </a:solidFill>
                <a:latin typeface="Calibri" pitchFamily="34" charset="0"/>
                <a:ea typeface="Calibri" pitchFamily="34" charset="-122"/>
                <a:cs typeface="Calibri" pitchFamily="34" charset="-120"/>
              </a:rPr>
              <a:t>La chaîne ② réinjecte le modèle validé dans Cloud Run GPU (chaîne ①) via un déploiement Blue/Green.</a:t>
            </a:r>
            <a:endParaRPr lang="en-US" sz="1050" dirty="0"/>
          </a:p>
        </p:txBody>
      </p:sp>
      <p:sp>
        <p:nvSpPr>
          <p:cNvPr id="52" name="Shape 42"/>
          <p:cNvSpPr/>
          <p:nvPr/>
        </p:nvSpPr>
        <p:spPr>
          <a:xfrm>
            <a:off x="548640" y="5349240"/>
            <a:ext cx="11091672" cy="960120"/>
          </a:xfrm>
          <a:prstGeom prst="rect">
            <a:avLst/>
          </a:prstGeom>
          <a:solidFill>
            <a:srgbClr val="E9EDF6"/>
          </a:solidFill>
          <a:ln/>
        </p:spPr>
      </p:sp>
      <p:sp>
        <p:nvSpPr>
          <p:cNvPr id="53" name="Shape 43"/>
          <p:cNvSpPr/>
          <p:nvPr/>
        </p:nvSpPr>
        <p:spPr>
          <a:xfrm>
            <a:off x="548640" y="5349240"/>
            <a:ext cx="109728" cy="960120"/>
          </a:xfrm>
          <a:prstGeom prst="rect">
            <a:avLst/>
          </a:prstGeom>
          <a:solidFill>
            <a:srgbClr val="12B5CB"/>
          </a:solidFill>
          <a:ln/>
        </p:spPr>
      </p:sp>
      <p:sp>
        <p:nvSpPr>
          <p:cNvPr id="54" name="Text 44"/>
          <p:cNvSpPr/>
          <p:nvPr/>
        </p:nvSpPr>
        <p:spPr>
          <a:xfrm>
            <a:off x="749808" y="5440680"/>
            <a:ext cx="2103120" cy="777240"/>
          </a:xfrm>
          <a:prstGeom prst="rect">
            <a:avLst/>
          </a:prstGeom>
          <a:noFill/>
          <a:ln/>
        </p:spPr>
        <p:txBody>
          <a:bodyPr wrap="square" lIns="0" tIns="0" rIns="0" bIns="0" rtlCol="0" anchor="ctr"/>
          <a:lstStyle/>
          <a:p>
            <a:pPr indent="0" marL="0">
              <a:buNone/>
            </a:pPr>
            <a:r>
              <a:rPr lang="en-US" sz="1100" b="1" spc="100" kern="0" dirty="0">
                <a:solidFill>
                  <a:srgbClr val="0E7C8B"/>
                </a:solidFill>
                <a:latin typeface="Calibri" pitchFamily="34" charset="0"/>
                <a:ea typeface="Calibri" pitchFamily="34" charset="-122"/>
                <a:cs typeface="Calibri" pitchFamily="34" charset="-120"/>
              </a:rPr>
              <a:t>TRANSVERSAUX</a:t>
            </a:r>
            <a:endParaRPr lang="en-US" sz="1100" dirty="0"/>
          </a:p>
        </p:txBody>
      </p:sp>
      <p:pic>
        <p:nvPicPr>
          <p:cNvPr id="55" name="Image 8" descr="logos/06_artifact_registry.png">    </p:cNvPr>
          <p:cNvPicPr>
            <a:picLocks noChangeAspect="1"/>
          </p:cNvPicPr>
          <p:nvPr/>
        </p:nvPicPr>
        <p:blipFill>
          <a:blip r:embed="rId9"/>
          <a:stretch>
            <a:fillRect/>
          </a:stretch>
        </p:blipFill>
        <p:spPr>
          <a:xfrm>
            <a:off x="2743200" y="5623560"/>
            <a:ext cx="420624" cy="420624"/>
          </a:xfrm>
          <a:prstGeom prst="rect">
            <a:avLst/>
          </a:prstGeom>
        </p:spPr>
      </p:pic>
      <p:sp>
        <p:nvSpPr>
          <p:cNvPr id="56" name="Text 45"/>
          <p:cNvSpPr/>
          <p:nvPr/>
        </p:nvSpPr>
        <p:spPr>
          <a:xfrm>
            <a:off x="3236976" y="5623560"/>
            <a:ext cx="1252728" cy="420624"/>
          </a:xfrm>
          <a:prstGeom prst="rect">
            <a:avLst/>
          </a:prstGeom>
          <a:noFill/>
          <a:ln/>
        </p:spPr>
        <p:txBody>
          <a:bodyPr wrap="square" lIns="0" tIns="0" rIns="0" bIns="0" rtlCol="0" anchor="ctr"/>
          <a:lstStyle/>
          <a:p>
            <a:pPr indent="0" marL="0">
              <a:buNone/>
            </a:pPr>
            <a:r>
              <a:rPr lang="en-US" sz="1050" b="1" dirty="0">
                <a:solidFill>
                  <a:srgbClr val="202124"/>
                </a:solidFill>
                <a:latin typeface="Calibri" pitchFamily="34" charset="0"/>
                <a:ea typeface="Calibri" pitchFamily="34" charset="-122"/>
                <a:cs typeface="Calibri" pitchFamily="34" charset="-120"/>
              </a:rPr>
              <a:t>Artifact Registry</a:t>
            </a:r>
            <a:endParaRPr lang="en-US" sz="1050" dirty="0"/>
          </a:p>
        </p:txBody>
      </p:sp>
      <p:pic>
        <p:nvPicPr>
          <p:cNvPr id="57" name="Image 9" descr="logos/10_iam.png">    </p:cNvPr>
          <p:cNvPicPr>
            <a:picLocks noChangeAspect="1"/>
          </p:cNvPicPr>
          <p:nvPr/>
        </p:nvPicPr>
        <p:blipFill>
          <a:blip r:embed="rId10"/>
          <a:stretch>
            <a:fillRect/>
          </a:stretch>
        </p:blipFill>
        <p:spPr>
          <a:xfrm>
            <a:off x="4526280" y="5623560"/>
            <a:ext cx="420624" cy="420624"/>
          </a:xfrm>
          <a:prstGeom prst="rect">
            <a:avLst/>
          </a:prstGeom>
        </p:spPr>
      </p:pic>
      <p:sp>
        <p:nvSpPr>
          <p:cNvPr id="58" name="Text 46"/>
          <p:cNvSpPr/>
          <p:nvPr/>
        </p:nvSpPr>
        <p:spPr>
          <a:xfrm>
            <a:off x="5020056" y="5623560"/>
            <a:ext cx="1252728" cy="420624"/>
          </a:xfrm>
          <a:prstGeom prst="rect">
            <a:avLst/>
          </a:prstGeom>
          <a:noFill/>
          <a:ln/>
        </p:spPr>
        <p:txBody>
          <a:bodyPr wrap="square" lIns="0" tIns="0" rIns="0" bIns="0" rtlCol="0" anchor="ctr"/>
          <a:lstStyle/>
          <a:p>
            <a:pPr indent="0" marL="0">
              <a:buNone/>
            </a:pPr>
            <a:r>
              <a:rPr lang="en-US" sz="1050" b="1" dirty="0">
                <a:solidFill>
                  <a:srgbClr val="202124"/>
                </a:solidFill>
                <a:latin typeface="Calibri" pitchFamily="34" charset="0"/>
                <a:ea typeface="Calibri" pitchFamily="34" charset="-122"/>
                <a:cs typeface="Calibri" pitchFamily="34" charset="-120"/>
              </a:rPr>
              <a:t>IAM</a:t>
            </a:r>
            <a:endParaRPr lang="en-US" sz="1050" dirty="0"/>
          </a:p>
        </p:txBody>
      </p:sp>
      <p:pic>
        <p:nvPicPr>
          <p:cNvPr id="59" name="Image 10" descr="logos/08_cloud_logging.png">    </p:cNvPr>
          <p:cNvPicPr>
            <a:picLocks noChangeAspect="1"/>
          </p:cNvPicPr>
          <p:nvPr/>
        </p:nvPicPr>
        <p:blipFill>
          <a:blip r:embed="rId11"/>
          <a:stretch>
            <a:fillRect/>
          </a:stretch>
        </p:blipFill>
        <p:spPr>
          <a:xfrm>
            <a:off x="6309360" y="5623560"/>
            <a:ext cx="420624" cy="420624"/>
          </a:xfrm>
          <a:prstGeom prst="rect">
            <a:avLst/>
          </a:prstGeom>
        </p:spPr>
      </p:pic>
      <p:sp>
        <p:nvSpPr>
          <p:cNvPr id="60" name="Text 47"/>
          <p:cNvSpPr/>
          <p:nvPr/>
        </p:nvSpPr>
        <p:spPr>
          <a:xfrm>
            <a:off x="6803136" y="5623560"/>
            <a:ext cx="1252728" cy="420624"/>
          </a:xfrm>
          <a:prstGeom prst="rect">
            <a:avLst/>
          </a:prstGeom>
          <a:noFill/>
          <a:ln/>
        </p:spPr>
        <p:txBody>
          <a:bodyPr wrap="square" lIns="0" tIns="0" rIns="0" bIns="0" rtlCol="0" anchor="ctr"/>
          <a:lstStyle/>
          <a:p>
            <a:pPr indent="0" marL="0">
              <a:buNone/>
            </a:pPr>
            <a:r>
              <a:rPr lang="en-US" sz="1050" b="1" dirty="0">
                <a:solidFill>
                  <a:srgbClr val="202124"/>
                </a:solidFill>
                <a:latin typeface="Calibri" pitchFamily="34" charset="0"/>
                <a:ea typeface="Calibri" pitchFamily="34" charset="-122"/>
                <a:cs typeface="Calibri" pitchFamily="34" charset="-120"/>
              </a:rPr>
              <a:t>Logging</a:t>
            </a:r>
            <a:endParaRPr lang="en-US" sz="1050" dirty="0"/>
          </a:p>
        </p:txBody>
      </p:sp>
      <p:pic>
        <p:nvPicPr>
          <p:cNvPr id="61" name="Image 11" descr="logos/09_cloud_monitoring.png">    </p:cNvPr>
          <p:cNvPicPr>
            <a:picLocks noChangeAspect="1"/>
          </p:cNvPicPr>
          <p:nvPr/>
        </p:nvPicPr>
        <p:blipFill>
          <a:blip r:embed="rId12"/>
          <a:stretch>
            <a:fillRect/>
          </a:stretch>
        </p:blipFill>
        <p:spPr>
          <a:xfrm>
            <a:off x="8092440" y="5623560"/>
            <a:ext cx="420624" cy="420624"/>
          </a:xfrm>
          <a:prstGeom prst="rect">
            <a:avLst/>
          </a:prstGeom>
        </p:spPr>
      </p:pic>
      <p:sp>
        <p:nvSpPr>
          <p:cNvPr id="62" name="Text 48"/>
          <p:cNvSpPr/>
          <p:nvPr/>
        </p:nvSpPr>
        <p:spPr>
          <a:xfrm>
            <a:off x="8586216" y="5623560"/>
            <a:ext cx="1252728" cy="420624"/>
          </a:xfrm>
          <a:prstGeom prst="rect">
            <a:avLst/>
          </a:prstGeom>
          <a:noFill/>
          <a:ln/>
        </p:spPr>
        <p:txBody>
          <a:bodyPr wrap="square" lIns="0" tIns="0" rIns="0" bIns="0" rtlCol="0" anchor="ctr"/>
          <a:lstStyle/>
          <a:p>
            <a:pPr indent="0" marL="0">
              <a:buNone/>
            </a:pPr>
            <a:r>
              <a:rPr lang="en-US" sz="1050" b="1" dirty="0">
                <a:solidFill>
                  <a:srgbClr val="202124"/>
                </a:solidFill>
                <a:latin typeface="Calibri" pitchFamily="34" charset="0"/>
                <a:ea typeface="Calibri" pitchFamily="34" charset="-122"/>
                <a:cs typeface="Calibri" pitchFamily="34" charset="-120"/>
              </a:rPr>
              <a:t>Monitoring</a:t>
            </a:r>
            <a:endParaRPr lang="en-US" sz="1050" dirty="0"/>
          </a:p>
        </p:txBody>
      </p:sp>
      <p:pic>
        <p:nvPicPr>
          <p:cNvPr id="63" name="Image 12" descr="logos/11_compute_engine.png">    </p:cNvPr>
          <p:cNvPicPr>
            <a:picLocks noChangeAspect="1"/>
          </p:cNvPicPr>
          <p:nvPr/>
        </p:nvPicPr>
        <p:blipFill>
          <a:blip r:embed="rId13"/>
          <a:stretch>
            <a:fillRect/>
          </a:stretch>
        </p:blipFill>
        <p:spPr>
          <a:xfrm>
            <a:off x="9875520" y="5623560"/>
            <a:ext cx="420624" cy="420624"/>
          </a:xfrm>
          <a:prstGeom prst="rect">
            <a:avLst/>
          </a:prstGeom>
        </p:spPr>
      </p:pic>
      <p:sp>
        <p:nvSpPr>
          <p:cNvPr id="64" name="Text 49"/>
          <p:cNvSpPr/>
          <p:nvPr/>
        </p:nvSpPr>
        <p:spPr>
          <a:xfrm>
            <a:off x="10369296" y="5623560"/>
            <a:ext cx="1252728" cy="420624"/>
          </a:xfrm>
          <a:prstGeom prst="rect">
            <a:avLst/>
          </a:prstGeom>
          <a:noFill/>
          <a:ln/>
        </p:spPr>
        <p:txBody>
          <a:bodyPr wrap="square" lIns="0" tIns="0" rIns="0" bIns="0" rtlCol="0" anchor="ctr"/>
          <a:lstStyle/>
          <a:p>
            <a:pPr indent="0" marL="0">
              <a:buNone/>
            </a:pPr>
            <a:r>
              <a:rPr lang="en-US" sz="1050" b="1" dirty="0">
                <a:solidFill>
                  <a:srgbClr val="202124"/>
                </a:solidFill>
                <a:latin typeface="Calibri" pitchFamily="34" charset="0"/>
                <a:ea typeface="Calibri" pitchFamily="34" charset="-122"/>
                <a:cs typeface="Calibri" pitchFamily="34" charset="-120"/>
              </a:rPr>
              <a:t>Compute Engine</a:t>
            </a:r>
            <a:endParaRPr lang="en-US" sz="1050" dirty="0"/>
          </a:p>
        </p:txBody>
      </p:sp>
      <p:sp>
        <p:nvSpPr>
          <p:cNvPr id="65" name="Text 50"/>
          <p:cNvSpPr/>
          <p:nvPr/>
        </p:nvSpPr>
        <p:spPr>
          <a:xfrm>
            <a:off x="548640" y="6510528"/>
            <a:ext cx="11155680" cy="274320"/>
          </a:xfrm>
          <a:prstGeom prst="rect">
            <a:avLst/>
          </a:prstGeom>
          <a:noFill/>
          <a:ln/>
        </p:spPr>
        <p:txBody>
          <a:bodyPr wrap="square" lIns="0" tIns="0" rIns="0" bIns="0" rtlCol="0" anchor="ctr"/>
          <a:lstStyle/>
          <a:p>
            <a:pPr indent="0" marL="0">
              <a:buNone/>
            </a:pPr>
            <a:r>
              <a:rPr lang="en-US" sz="950" i="1" dirty="0">
                <a:solidFill>
                  <a:srgbClr val="5F6368"/>
                </a:solidFill>
                <a:latin typeface="Calibri" pitchFamily="34" charset="0"/>
                <a:ea typeface="Calibri" pitchFamily="34" charset="-122"/>
                <a:cs typeface="Calibri" pitchFamily="34" charset="-120"/>
              </a:rPr>
              <a:t>Source : README §5.2 — Cloud Run CPU+GPU · GCS · Vertex AI · Cloud Build · Pub/Sub · Scheduler · STUN/TURN Cloudflare</a:t>
            </a:r>
            <a:endParaRPr lang="en-US" sz="950" dirty="0"/>
          </a:p>
        </p:txBody>
      </p:sp>
      <p:sp>
        <p:nvSpPr>
          <p:cNvPr id="66" name="Text 51"/>
          <p:cNvSpPr/>
          <p:nvPr/>
        </p:nvSpPr>
        <p:spPr>
          <a:xfrm>
            <a:off x="5212080" y="3026664"/>
            <a:ext cx="3200400" cy="182880"/>
          </a:xfrm>
          <a:prstGeom prst="rect">
            <a:avLst/>
          </a:prstGeom>
          <a:noFill/>
          <a:ln/>
        </p:spPr>
        <p:txBody>
          <a:bodyPr wrap="square" lIns="0" tIns="0" rIns="0" bIns="0" rtlCol="0" anchor="ctr"/>
          <a:lstStyle/>
          <a:p>
            <a:pPr indent="0" marL="0">
              <a:buNone/>
            </a:pPr>
            <a:r>
              <a:rPr lang="en-US" sz="850" b="1" dirty="0">
                <a:solidFill>
                  <a:srgbClr val="97A1B5"/>
                </a:solidFill>
                <a:latin typeface="Calibri" pitchFamily="34" charset="0"/>
                <a:ea typeface="Calibri" pitchFamily="34" charset="-122"/>
                <a:cs typeface="Calibri" pitchFamily="34" charset="-120"/>
              </a:rPr>
              <a:t>Tsantaniaina Rakotonjanahary Ambaorasoa Guillaume</a:t>
            </a:r>
            <a:endParaRPr lang="en-US" sz="850" dirty="0"/>
          </a:p>
        </p:txBody>
      </p:sp>
      <p:sp>
        <p:nvSpPr>
          <p:cNvPr id="67" name="Shape 52"/>
          <p:cNvSpPr/>
          <p:nvPr/>
        </p:nvSpPr>
        <p:spPr>
          <a:xfrm>
            <a:off x="11137392" y="5852160"/>
            <a:ext cx="914400" cy="914400"/>
          </a:xfrm>
          <a:prstGeom prst="roundRect">
            <a:avLst>
              <a:gd name="adj" fmla="val 10000"/>
            </a:avLst>
          </a:prstGeom>
          <a:solidFill>
            <a:srgbClr val="FFFFFF"/>
          </a:solidFill>
          <a:ln w="12700">
            <a:solidFill>
              <a:srgbClr val="D6DEEC"/>
            </a:solidFill>
            <a:prstDash val="solid"/>
          </a:ln>
          <a:effectLst>
            <a:outerShdw sx="100000" sy="100000" kx="0" ky="0" algn="bl" rotWithShape="0" blurRad="88900" dist="38100" dir="5400000">
              <a:srgbClr val="8A94AD">
                <a:alpha val="26000"/>
              </a:srgbClr>
            </a:outerShdw>
          </a:effectLst>
        </p:spPr>
      </p:sp>
      <p:pic>
        <p:nvPicPr>
          <p:cNvPr id="68" name="Image 13" descr="logos/logo_mdn.png">    </p:cNvPr>
          <p:cNvPicPr>
            <a:picLocks noChangeAspect="1"/>
          </p:cNvPicPr>
          <p:nvPr/>
        </p:nvPicPr>
        <p:blipFill>
          <a:blip r:embed="rId14"/>
          <a:stretch>
            <a:fillRect/>
          </a:stretch>
        </p:blipFill>
        <p:spPr>
          <a:xfrm>
            <a:off x="11237976" y="5952744"/>
            <a:ext cx="713232" cy="71323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2B5CB"/>
          </a:solidFill>
          <a:ln/>
        </p:spPr>
      </p:sp>
      <p:sp>
        <p:nvSpPr>
          <p:cNvPr id="3" name="Shape 1"/>
          <p:cNvSpPr/>
          <p:nvPr/>
        </p:nvSpPr>
        <p:spPr>
          <a:xfrm>
            <a:off x="146304" y="0"/>
            <a:ext cx="12042648" cy="1078992"/>
          </a:xfrm>
          <a:prstGeom prst="rect">
            <a:avLst/>
          </a:prstGeom>
          <a:solidFill>
            <a:srgbClr val="1B2A4A"/>
          </a:solidFill>
          <a:ln/>
        </p:spPr>
      </p:sp>
      <p:sp>
        <p:nvSpPr>
          <p:cNvPr id="4" name="Text 2"/>
          <p:cNvSpPr/>
          <p:nvPr/>
        </p:nvSpPr>
        <p:spPr>
          <a:xfrm>
            <a:off x="548640" y="182880"/>
            <a:ext cx="9601200" cy="292608"/>
          </a:xfrm>
          <a:prstGeom prst="rect">
            <a:avLst/>
          </a:prstGeom>
          <a:noFill/>
          <a:ln/>
        </p:spPr>
        <p:txBody>
          <a:bodyPr wrap="square" lIns="0" tIns="0" rIns="0" bIns="0" rtlCol="0" anchor="ctr"/>
          <a:lstStyle/>
          <a:p>
            <a:pPr indent="0" marL="0">
              <a:buNone/>
            </a:pPr>
            <a:r>
              <a:rPr lang="en-US" sz="1200" b="1" spc="150" kern="0" dirty="0">
                <a:solidFill>
                  <a:srgbClr val="78D9E6"/>
                </a:solidFill>
                <a:latin typeface="Calibri" pitchFamily="34" charset="0"/>
                <a:ea typeface="Calibri" pitchFamily="34" charset="-122"/>
                <a:cs typeface="Calibri" pitchFamily="34" charset="-120"/>
              </a:rPr>
              <a:t>COMMENT LES SERVICES S'ENCHAÎNENT</a:t>
            </a:r>
            <a:endParaRPr lang="en-US" sz="1200" dirty="0"/>
          </a:p>
        </p:txBody>
      </p:sp>
      <p:sp>
        <p:nvSpPr>
          <p:cNvPr id="5" name="Text 3"/>
          <p:cNvSpPr/>
          <p:nvPr/>
        </p:nvSpPr>
        <p:spPr>
          <a:xfrm>
            <a:off x="530352" y="438912"/>
            <a:ext cx="9692640" cy="566928"/>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Flux d'architecture &amp; latence</a:t>
            </a:r>
            <a:endParaRPr lang="en-US" sz="2700" dirty="0"/>
          </a:p>
        </p:txBody>
      </p:sp>
      <p:sp>
        <p:nvSpPr>
          <p:cNvPr id="6" name="Text 4"/>
          <p:cNvSpPr/>
          <p:nvPr/>
        </p:nvSpPr>
        <p:spPr>
          <a:xfrm>
            <a:off x="548640" y="1280160"/>
            <a:ext cx="7315200" cy="274320"/>
          </a:xfrm>
          <a:prstGeom prst="rect">
            <a:avLst/>
          </a:prstGeom>
          <a:noFill/>
          <a:ln/>
        </p:spPr>
        <p:txBody>
          <a:bodyPr wrap="square" lIns="0" tIns="0" rIns="0" bIns="0" rtlCol="0" anchor="ctr"/>
          <a:lstStyle/>
          <a:p>
            <a:pPr indent="0" marL="0">
              <a:buNone/>
            </a:pPr>
            <a:r>
              <a:rPr lang="en-US" sz="1200" b="1" spc="100" kern="0" dirty="0">
                <a:solidFill>
                  <a:srgbClr val="0E7C8B"/>
                </a:solidFill>
                <a:latin typeface="Calibri" pitchFamily="34" charset="0"/>
                <a:ea typeface="Calibri" pitchFamily="34" charset="-122"/>
                <a:cs typeface="Calibri" pitchFamily="34" charset="-120"/>
              </a:rPr>
              <a:t>LES 6 FLUX DE L'ARCHITECTURE</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6583680" cy="914400"/>
        </p:xfrm>
        <a:graphic>
          <a:graphicData uri="http://schemas.openxmlformats.org/drawingml/2006/table">
            <a:tbl>
              <a:tblPr/>
              <a:tblGrid>
                <a:gridCol w="731520"/>
                <a:gridCol w="2377440"/>
                <a:gridCol w="3474720"/>
              </a:tblGrid>
              <a:tr h="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Flux</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0E7C8B"/>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Chemin</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0E7C8B"/>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Composants clés</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0E7C8B"/>
                    </a:solidFill>
                  </a:tcPr>
                </a:tc>
              </a:tr>
              <a:tr h="0">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2a</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Connexion WebRTC</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Client → Cloud Run CPU</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r>
              <a:tr h="0">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2b</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Pipeline d'inférence</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Cloud Run CPU → Cloud Run GPU L4</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2c</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Stockage modèles</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Cloud Run GPU ↔ Cloud Storage</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r>
              <a:tr h="0">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2d</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Déclencheur training</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GCS → Pub/Sub → Vertex Pipeline</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2e</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Cycle de vie modèle</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Vertex → Registry → Build → Deploy</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r>
              <a:tr h="0">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2f</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Monitoring de drift</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Scheduler → Monitoring → Pub/Sub</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r>
            </a:tbl>
          </a:graphicData>
        </a:graphic>
      </p:graphicFrame>
      <p:sp>
        <p:nvSpPr>
          <p:cNvPr id="8" name="Text 5"/>
          <p:cNvSpPr/>
          <p:nvPr/>
        </p:nvSpPr>
        <p:spPr>
          <a:xfrm>
            <a:off x="7406640" y="1280160"/>
            <a:ext cx="4572000" cy="274320"/>
          </a:xfrm>
          <a:prstGeom prst="rect">
            <a:avLst/>
          </a:prstGeom>
          <a:noFill/>
          <a:ln/>
        </p:spPr>
        <p:txBody>
          <a:bodyPr wrap="square" lIns="0" tIns="0" rIns="0" bIns="0" rtlCol="0" anchor="ctr"/>
          <a:lstStyle/>
          <a:p>
            <a:pPr indent="0" marL="0">
              <a:buNone/>
            </a:pPr>
            <a:r>
              <a:rPr lang="en-US" sz="1200" b="1" spc="100" kern="0" dirty="0">
                <a:solidFill>
                  <a:srgbClr val="0E7C8B"/>
                </a:solidFill>
                <a:latin typeface="Calibri" pitchFamily="34" charset="0"/>
                <a:ea typeface="Calibri" pitchFamily="34" charset="-122"/>
                <a:cs typeface="Calibri" pitchFamily="34" charset="-120"/>
              </a:rPr>
              <a:t>LATENCE (L4, À CHAUD)</a:t>
            </a:r>
            <a:endParaRPr lang="en-US" sz="120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7406640" y="1600200"/>
          <a:ext cx="4206240" cy="914400"/>
        </p:xfrm>
        <a:graphic>
          <a:graphicData uri="http://schemas.openxmlformats.org/drawingml/2006/table">
            <a:tbl>
              <a:tblPr/>
              <a:tblGrid>
                <a:gridCol w="2377440"/>
                <a:gridCol w="1828800"/>
              </a:tblGrid>
              <a:tr h="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Étage</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0E7C8B"/>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Latence</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0E7C8B"/>
                    </a:solidFill>
                  </a:tcPr>
                </a:tc>
              </a:tr>
              <a:tr h="0">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Silero VAD</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1–50 ms</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r>
              <a:tr h="0">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Whisper INT8 (3 s)</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250–500 ms</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NLLB-200 INT8</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80–350 ms</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r>
              <a:tr h="0">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MMS-TTS VITS</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150–450 ms</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WebRTC transport</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50–150 ms</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r>
              <a:tr h="0">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TOTAL (à chaud)</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~700–1500 ms</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r>
            </a:tbl>
          </a:graphicData>
        </a:graphic>
      </p:graphicFrame>
      <p:sp>
        <p:nvSpPr>
          <p:cNvPr id="10" name="Shape 6"/>
          <p:cNvSpPr/>
          <p:nvPr/>
        </p:nvSpPr>
        <p:spPr>
          <a:xfrm>
            <a:off x="548640" y="5029200"/>
            <a:ext cx="11064240" cy="1143000"/>
          </a:xfrm>
          <a:prstGeom prst="rect">
            <a:avLst/>
          </a:prstGeom>
          <a:solidFill>
            <a:srgbClr val="EEF2FB"/>
          </a:solidFill>
          <a:ln/>
        </p:spPr>
      </p:sp>
      <p:sp>
        <p:nvSpPr>
          <p:cNvPr id="11" name="Shape 7"/>
          <p:cNvSpPr/>
          <p:nvPr/>
        </p:nvSpPr>
        <p:spPr>
          <a:xfrm>
            <a:off x="548640" y="5029200"/>
            <a:ext cx="91440" cy="1143000"/>
          </a:xfrm>
          <a:prstGeom prst="rect">
            <a:avLst/>
          </a:prstGeom>
          <a:solidFill>
            <a:srgbClr val="12B5CB"/>
          </a:solidFill>
          <a:ln/>
        </p:spPr>
      </p:sp>
      <p:sp>
        <p:nvSpPr>
          <p:cNvPr id="12" name="Text 8"/>
          <p:cNvSpPr/>
          <p:nvPr/>
        </p:nvSpPr>
        <p:spPr>
          <a:xfrm>
            <a:off x="786384" y="5102352"/>
            <a:ext cx="10680192" cy="996696"/>
          </a:xfrm>
          <a:prstGeom prst="rect">
            <a:avLst/>
          </a:prstGeom>
          <a:noFill/>
          <a:ln/>
        </p:spPr>
        <p:txBody>
          <a:bodyPr wrap="square" lIns="0" tIns="0" rIns="0" bIns="0" rtlCol="0" anchor="ctr"/>
          <a:lstStyle/>
          <a:p>
            <a:pPr indent="0" marL="0">
              <a:buNone/>
            </a:pPr>
            <a:r>
              <a:rPr lang="en-US" sz="1100" b="1" dirty="0">
                <a:solidFill>
                  <a:srgbClr val="0E7C8B"/>
                </a:solidFill>
                <a:latin typeface="Calibri" pitchFamily="34" charset="0"/>
                <a:ea typeface="Calibri" pitchFamily="34" charset="-122"/>
                <a:cs typeface="Calibri" pitchFamily="34" charset="-120"/>
              </a:rPr>
              <a:t>OPTIMISATIONS ACTIVES   </a:t>
            </a:r>
            <a:pPr indent="0" marL="0">
              <a:buNone/>
            </a:pPr>
            <a:r>
              <a:rPr lang="en-US" sz="1200" dirty="0">
                <a:solidFill>
                  <a:srgbClr val="202124"/>
                </a:solidFill>
                <a:latin typeface="Calibri" pitchFamily="34" charset="0"/>
                <a:ea typeface="Calibri" pitchFamily="34" charset="-122"/>
                <a:cs typeface="Calibri" pitchFamily="34" charset="-120"/>
              </a:rPr>
              <a:t>vad_filter=True (VAD + ASR en parallèle) · num_beams=2 · checkpoints TTS préchargés en VRAM · chunks de 32 ms · quantification INT8 (CTranslate2) : −50 % VRAM, ×2 vitesse.</a:t>
            </a:r>
            <a:endParaRPr lang="en-US" sz="1100" dirty="0"/>
          </a:p>
        </p:txBody>
      </p:sp>
      <p:sp>
        <p:nvSpPr>
          <p:cNvPr id="13" name="Text 9"/>
          <p:cNvSpPr/>
          <p:nvPr/>
        </p:nvSpPr>
        <p:spPr>
          <a:xfrm>
            <a:off x="548640" y="6510528"/>
            <a:ext cx="11155680" cy="274320"/>
          </a:xfrm>
          <a:prstGeom prst="rect">
            <a:avLst/>
          </a:prstGeom>
          <a:noFill/>
          <a:ln/>
        </p:spPr>
        <p:txBody>
          <a:bodyPr wrap="square" lIns="0" tIns="0" rIns="0" bIns="0" rtlCol="0" anchor="ctr"/>
          <a:lstStyle/>
          <a:p>
            <a:pPr indent="0" marL="0">
              <a:buNone/>
            </a:pPr>
            <a:r>
              <a:rPr lang="en-US" sz="950" i="1" dirty="0">
                <a:solidFill>
                  <a:srgbClr val="5F6368"/>
                </a:solidFill>
                <a:latin typeface="Calibri" pitchFamily="34" charset="0"/>
                <a:ea typeface="Calibri" pitchFamily="34" charset="-122"/>
                <a:cs typeface="Calibri" pitchFamily="34" charset="-120"/>
              </a:rPr>
              <a:t>Source : README §5.3, §7 — tableau des flux et décomposition de la latence</a:t>
            </a:r>
            <a:endParaRPr lang="en-US" sz="950" dirty="0"/>
          </a:p>
        </p:txBody>
      </p:sp>
      <p:sp>
        <p:nvSpPr>
          <p:cNvPr id="14" name="Text 10"/>
          <p:cNvSpPr/>
          <p:nvPr/>
        </p:nvSpPr>
        <p:spPr>
          <a:xfrm>
            <a:off x="548640" y="4567428"/>
            <a:ext cx="3200400" cy="182880"/>
          </a:xfrm>
          <a:prstGeom prst="rect">
            <a:avLst/>
          </a:prstGeom>
          <a:noFill/>
          <a:ln/>
        </p:spPr>
        <p:txBody>
          <a:bodyPr wrap="square" lIns="0" tIns="0" rIns="0" bIns="0" rtlCol="0" anchor="ctr"/>
          <a:lstStyle/>
          <a:p>
            <a:pPr indent="0" marL="0">
              <a:buNone/>
            </a:pPr>
            <a:r>
              <a:rPr lang="en-US" sz="850" b="1" dirty="0">
                <a:solidFill>
                  <a:srgbClr val="97A1B5"/>
                </a:solidFill>
                <a:latin typeface="Calibri" pitchFamily="34" charset="0"/>
                <a:ea typeface="Calibri" pitchFamily="34" charset="-122"/>
                <a:cs typeface="Calibri" pitchFamily="34" charset="-120"/>
              </a:rPr>
              <a:t>Tsantaniaina Rakotonjanahary Ambaorasoa Guillaume</a:t>
            </a:r>
            <a:endParaRPr lang="en-US" sz="850" dirty="0"/>
          </a:p>
        </p:txBody>
      </p:sp>
      <p:sp>
        <p:nvSpPr>
          <p:cNvPr id="15" name="Shape 11"/>
          <p:cNvSpPr/>
          <p:nvPr/>
        </p:nvSpPr>
        <p:spPr>
          <a:xfrm>
            <a:off x="11137392" y="5852160"/>
            <a:ext cx="914400" cy="914400"/>
          </a:xfrm>
          <a:prstGeom prst="roundRect">
            <a:avLst>
              <a:gd name="adj" fmla="val 10000"/>
            </a:avLst>
          </a:prstGeom>
          <a:solidFill>
            <a:srgbClr val="FFFFFF"/>
          </a:solidFill>
          <a:ln w="12700">
            <a:solidFill>
              <a:srgbClr val="D6DEEC"/>
            </a:solidFill>
            <a:prstDash val="solid"/>
          </a:ln>
          <a:effectLst>
            <a:outerShdw sx="100000" sy="100000" kx="0" ky="0" algn="bl" rotWithShape="0" blurRad="88900" dist="38100" dir="5400000">
              <a:srgbClr val="8A94AD">
                <a:alpha val="26000"/>
              </a:srgbClr>
            </a:outerShdw>
          </a:effectLst>
        </p:spPr>
      </p:sp>
      <p:pic>
        <p:nvPicPr>
          <p:cNvPr id="16" name="Image 0" descr="logos/logo_mdn.png">    </p:cNvPr>
          <p:cNvPicPr>
            <a:picLocks noChangeAspect="1"/>
          </p:cNvPicPr>
          <p:nvPr/>
        </p:nvPicPr>
        <p:blipFill>
          <a:blip r:embed="rId1"/>
          <a:stretch>
            <a:fillRect/>
          </a:stretch>
        </p:blipFill>
        <p:spPr>
          <a:xfrm>
            <a:off x="11237976" y="5952744"/>
            <a:ext cx="713232" cy="71323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2B5CB"/>
          </a:solidFill>
          <a:ln/>
        </p:spPr>
      </p:sp>
      <p:sp>
        <p:nvSpPr>
          <p:cNvPr id="3" name="Shape 1"/>
          <p:cNvSpPr/>
          <p:nvPr/>
        </p:nvSpPr>
        <p:spPr>
          <a:xfrm>
            <a:off x="146304" y="0"/>
            <a:ext cx="12042648" cy="1078992"/>
          </a:xfrm>
          <a:prstGeom prst="rect">
            <a:avLst/>
          </a:prstGeom>
          <a:solidFill>
            <a:srgbClr val="1B2A4A"/>
          </a:solidFill>
          <a:ln/>
        </p:spPr>
      </p:sp>
      <p:sp>
        <p:nvSpPr>
          <p:cNvPr id="4" name="Text 2"/>
          <p:cNvSpPr/>
          <p:nvPr/>
        </p:nvSpPr>
        <p:spPr>
          <a:xfrm>
            <a:off x="548640" y="182880"/>
            <a:ext cx="9601200" cy="292608"/>
          </a:xfrm>
          <a:prstGeom prst="rect">
            <a:avLst/>
          </a:prstGeom>
          <a:noFill/>
          <a:ln/>
        </p:spPr>
        <p:txBody>
          <a:bodyPr wrap="square" lIns="0" tIns="0" rIns="0" bIns="0" rtlCol="0" anchor="ctr"/>
          <a:lstStyle/>
          <a:p>
            <a:pPr indent="0" marL="0">
              <a:buNone/>
            </a:pPr>
            <a:r>
              <a:rPr lang="en-US" sz="1200" b="1" spc="150" kern="0" dirty="0">
                <a:solidFill>
                  <a:srgbClr val="78D9E6"/>
                </a:solidFill>
                <a:latin typeface="Calibri" pitchFamily="34" charset="0"/>
                <a:ea typeface="Calibri" pitchFamily="34" charset="-122"/>
                <a:cs typeface="Calibri" pitchFamily="34" charset="-120"/>
              </a:rPr>
              <a:t>FRONTEND · GESTION DES DATASETS D'ENTRAÎNEMENT</a:t>
            </a:r>
            <a:endParaRPr lang="en-US" sz="1200" dirty="0"/>
          </a:p>
        </p:txBody>
      </p:sp>
      <p:sp>
        <p:nvSpPr>
          <p:cNvPr id="5" name="Text 3"/>
          <p:cNvSpPr/>
          <p:nvPr/>
        </p:nvSpPr>
        <p:spPr>
          <a:xfrm>
            <a:off x="530352" y="438912"/>
            <a:ext cx="9692640" cy="566928"/>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Kozy — application de collecte de données</a:t>
            </a:r>
            <a:endParaRPr lang="en-US" sz="2700" dirty="0"/>
          </a:p>
        </p:txBody>
      </p:sp>
      <p:sp>
        <p:nvSpPr>
          <p:cNvPr id="6" name="Text 4"/>
          <p:cNvSpPr/>
          <p:nvPr/>
        </p:nvSpPr>
        <p:spPr>
          <a:xfrm>
            <a:off x="8229600" y="182880"/>
            <a:ext cx="1828800" cy="274320"/>
          </a:xfrm>
          <a:prstGeom prst="rect">
            <a:avLst/>
          </a:prstGeom>
          <a:noFill/>
          <a:ln/>
        </p:spPr>
        <p:txBody>
          <a:bodyPr wrap="square" lIns="0" tIns="0" rIns="0" bIns="0" rtlCol="0" anchor="ctr"/>
          <a:lstStyle/>
          <a:p>
            <a:pPr algn="r" indent="0" marL="0">
              <a:buNone/>
            </a:pPr>
            <a:r>
              <a:rPr lang="en-US" sz="1050" b="1" spc="100" kern="0" dirty="0">
                <a:solidFill>
                  <a:srgbClr val="8FA0C4"/>
                </a:solidFill>
                <a:latin typeface="Calibri" pitchFamily="34" charset="0"/>
                <a:ea typeface="Calibri" pitchFamily="34" charset="-122"/>
                <a:cs typeface="Calibri" pitchFamily="34" charset="-120"/>
              </a:rPr>
              <a:t>ÉCOSYSTÈME</a:t>
            </a:r>
            <a:endParaRPr lang="en-US" sz="1050" dirty="0"/>
          </a:p>
        </p:txBody>
      </p:sp>
      <p:sp>
        <p:nvSpPr>
          <p:cNvPr id="7" name="Shape 5"/>
          <p:cNvSpPr/>
          <p:nvPr/>
        </p:nvSpPr>
        <p:spPr>
          <a:xfrm>
            <a:off x="10927080" y="237744"/>
            <a:ext cx="603504" cy="603504"/>
          </a:xfrm>
          <a:prstGeom prst="roundRect">
            <a:avLst>
              <a:gd name="adj" fmla="val 12121"/>
            </a:avLst>
          </a:prstGeom>
          <a:solidFill>
            <a:srgbClr val="FFFFFF"/>
          </a:solidFill>
          <a:ln/>
        </p:spPr>
      </p:sp>
      <p:pic>
        <p:nvPicPr>
          <p:cNvPr id="8" name="Image 0" descr="logos/03_cloud_storage.png">    </p:cNvPr>
          <p:cNvPicPr>
            <a:picLocks noChangeAspect="1"/>
          </p:cNvPicPr>
          <p:nvPr/>
        </p:nvPicPr>
        <p:blipFill>
          <a:blip r:embed="rId1"/>
          <a:stretch>
            <a:fillRect/>
          </a:stretch>
        </p:blipFill>
        <p:spPr>
          <a:xfrm>
            <a:off x="10991088" y="301752"/>
            <a:ext cx="475488" cy="475488"/>
          </a:xfrm>
          <a:prstGeom prst="rect">
            <a:avLst/>
          </a:prstGeom>
        </p:spPr>
      </p:pic>
      <p:sp>
        <p:nvSpPr>
          <p:cNvPr id="9" name="Text 6"/>
          <p:cNvSpPr/>
          <p:nvPr/>
        </p:nvSpPr>
        <p:spPr>
          <a:xfrm>
            <a:off x="548640" y="1325880"/>
            <a:ext cx="11064240" cy="822960"/>
          </a:xfrm>
          <a:prstGeom prst="rect">
            <a:avLst/>
          </a:prstGeom>
          <a:noFill/>
          <a:ln/>
        </p:spPr>
        <p:txBody>
          <a:bodyPr wrap="square" lIns="0" tIns="0" rIns="0" bIns="0" rtlCol="0" anchor="t"/>
          <a:lstStyle/>
          <a:p>
            <a:pPr indent="0" marL="0">
              <a:buNone/>
            </a:pPr>
            <a:r>
              <a:rPr lang="en-US" sz="1350" dirty="0">
                <a:solidFill>
                  <a:srgbClr val="202124"/>
                </a:solidFill>
                <a:latin typeface="Calibri" pitchFamily="34" charset="0"/>
                <a:ea typeface="Calibri" pitchFamily="34" charset="-122"/>
                <a:cs typeface="Calibri" pitchFamily="34" charset="-120"/>
              </a:rPr>
              <a:t>Kozy (dépôt Frontend) est l'application web qui alimente le projet en données. Elle collecte et cure des échantillons audio par dialecte et des jeux CSV de traduction, stockés sur Cloud Storage — la matière première du fine-tuning NLLB et TTS.</a:t>
            </a:r>
            <a:endParaRPr lang="en-US" sz="1350" dirty="0"/>
          </a:p>
        </p:txBody>
      </p:sp>
      <p:sp>
        <p:nvSpPr>
          <p:cNvPr id="10" name="Text 7"/>
          <p:cNvSpPr/>
          <p:nvPr/>
        </p:nvSpPr>
        <p:spPr>
          <a:xfrm>
            <a:off x="548640" y="2286000"/>
            <a:ext cx="5486400" cy="274320"/>
          </a:xfrm>
          <a:prstGeom prst="rect">
            <a:avLst/>
          </a:prstGeom>
          <a:noFill/>
          <a:ln/>
        </p:spPr>
        <p:txBody>
          <a:bodyPr wrap="square" lIns="0" tIns="0" rIns="0" bIns="0" rtlCol="0" anchor="ctr"/>
          <a:lstStyle/>
          <a:p>
            <a:pPr indent="0" marL="0">
              <a:buNone/>
            </a:pPr>
            <a:r>
              <a:rPr lang="en-US" sz="1300" b="1" spc="100" kern="0" dirty="0">
                <a:solidFill>
                  <a:srgbClr val="0E7C8B"/>
                </a:solidFill>
                <a:latin typeface="Calibri" pitchFamily="34" charset="0"/>
                <a:ea typeface="Calibri" pitchFamily="34" charset="-122"/>
                <a:cs typeface="Calibri" pitchFamily="34" charset="-120"/>
              </a:rPr>
              <a:t>PILE TECHNIQUE</a:t>
            </a:r>
            <a:endParaRPr lang="en-US" sz="1300" dirty="0"/>
          </a:p>
        </p:txBody>
      </p:sp>
      <p:sp>
        <p:nvSpPr>
          <p:cNvPr id="11" name="Text 8"/>
          <p:cNvSpPr/>
          <p:nvPr/>
        </p:nvSpPr>
        <p:spPr>
          <a:xfrm>
            <a:off x="548640" y="2606040"/>
            <a:ext cx="5486400" cy="1554480"/>
          </a:xfrm>
          <a:prstGeom prst="rect">
            <a:avLst/>
          </a:prstGeom>
          <a:noFill/>
          <a:ln/>
        </p:spPr>
        <p:txBody>
          <a:bodyPr wrap="square" lIns="0" tIns="0" rIns="0" bIns="0" rtlCol="0" anchor="t"/>
          <a:lstStyle/>
          <a:p>
            <a:pPr marL="190500" indent="-190500">
              <a:spcAft>
                <a:spcPts val="600"/>
              </a:spcAft>
              <a:buSzPct val="100000"/>
              <a:buChar char="•"/>
            </a:pPr>
            <a:r>
              <a:rPr lang="en-US" sz="1250" dirty="0">
                <a:solidFill>
                  <a:srgbClr val="202124"/>
                </a:solidFill>
                <a:latin typeface="Calibri" pitchFamily="34" charset="0"/>
                <a:ea typeface="Calibri" pitchFamily="34" charset="-122"/>
                <a:cs typeface="Calibri" pitchFamily="34" charset="-120"/>
              </a:rPr>
              <a:t>Frontend : React 19 · Vite · Tailwind CSS</a:t>
            </a:r>
            <a:endParaRPr lang="en-US" sz="1250" dirty="0"/>
          </a:p>
          <a:p>
            <a:pPr marL="190500" indent="-190500">
              <a:spcAft>
                <a:spcPts val="600"/>
              </a:spcAft>
              <a:buSzPct val="100000"/>
              <a:buChar char="•"/>
            </a:pPr>
            <a:r>
              <a:rPr lang="en-US" sz="1250" dirty="0">
                <a:solidFill>
                  <a:srgbClr val="202124"/>
                </a:solidFill>
                <a:latin typeface="Calibri" pitchFamily="34" charset="0"/>
                <a:ea typeface="Calibri" pitchFamily="34" charset="-122"/>
                <a:cs typeface="Calibri" pitchFamily="34" charset="-120"/>
              </a:rPr>
              <a:t>Backend : Node.js · Express · TypeScript</a:t>
            </a:r>
            <a:endParaRPr lang="en-US" sz="1250" dirty="0"/>
          </a:p>
          <a:p>
            <a:pPr marL="190500" indent="-190500">
              <a:spcAft>
                <a:spcPts val="600"/>
              </a:spcAft>
              <a:buSzPct val="100000"/>
              <a:buChar char="•"/>
            </a:pPr>
            <a:r>
              <a:rPr lang="en-US" sz="1250" dirty="0">
                <a:solidFill>
                  <a:srgbClr val="202124"/>
                </a:solidFill>
                <a:latin typeface="Calibri" pitchFamily="34" charset="0"/>
                <a:ea typeface="Calibri" pitchFamily="34" charset="-122"/>
                <a:cs typeface="Calibri" pitchFamily="34" charset="-120"/>
              </a:rPr>
              <a:t>Auth : Google OAuth 2.0 (google-auth-library)</a:t>
            </a:r>
            <a:endParaRPr lang="en-US" sz="1250" dirty="0"/>
          </a:p>
          <a:p>
            <a:pPr marL="190500" indent="-190500">
              <a:spcAft>
                <a:spcPts val="600"/>
              </a:spcAft>
              <a:buSzPct val="100000"/>
              <a:buChar char="•"/>
            </a:pPr>
            <a:r>
              <a:rPr lang="en-US" sz="1250" dirty="0">
                <a:solidFill>
                  <a:srgbClr val="202124"/>
                </a:solidFill>
                <a:latin typeface="Calibri" pitchFamily="34" charset="0"/>
                <a:ea typeface="Calibri" pitchFamily="34" charset="-122"/>
                <a:cs typeface="Calibri" pitchFamily="34" charset="-120"/>
              </a:rPr>
              <a:t>Upload : Multer · CSV : Papa Parse · validation Zod</a:t>
            </a:r>
            <a:endParaRPr lang="en-US" sz="1250" dirty="0"/>
          </a:p>
        </p:txBody>
      </p:sp>
      <p:sp>
        <p:nvSpPr>
          <p:cNvPr id="12" name="Text 9"/>
          <p:cNvSpPr/>
          <p:nvPr/>
        </p:nvSpPr>
        <p:spPr>
          <a:xfrm>
            <a:off x="548640" y="4343400"/>
            <a:ext cx="5486400" cy="274320"/>
          </a:xfrm>
          <a:prstGeom prst="rect">
            <a:avLst/>
          </a:prstGeom>
          <a:noFill/>
          <a:ln/>
        </p:spPr>
        <p:txBody>
          <a:bodyPr wrap="square" lIns="0" tIns="0" rIns="0" bIns="0" rtlCol="0" anchor="ctr"/>
          <a:lstStyle/>
          <a:p>
            <a:pPr indent="0" marL="0">
              <a:buNone/>
            </a:pPr>
            <a:r>
              <a:rPr lang="en-US" sz="1300" b="1" spc="100" kern="0" dirty="0">
                <a:solidFill>
                  <a:srgbClr val="0E7C8B"/>
                </a:solidFill>
                <a:latin typeface="Calibri" pitchFamily="34" charset="0"/>
                <a:ea typeface="Calibri" pitchFamily="34" charset="-122"/>
                <a:cs typeface="Calibri" pitchFamily="34" charset="-120"/>
              </a:rPr>
              <a:t>DONNÉES PRODUITES</a:t>
            </a:r>
            <a:endParaRPr lang="en-US" sz="1300" dirty="0"/>
          </a:p>
        </p:txBody>
      </p:sp>
      <p:sp>
        <p:nvSpPr>
          <p:cNvPr id="13" name="Shape 10"/>
          <p:cNvSpPr/>
          <p:nvPr/>
        </p:nvSpPr>
        <p:spPr>
          <a:xfrm>
            <a:off x="548640" y="4663440"/>
            <a:ext cx="5486400" cy="1417320"/>
          </a:xfrm>
          <a:prstGeom prst="rect">
            <a:avLst/>
          </a:prstGeom>
          <a:solidFill>
            <a:srgbClr val="0E1A33"/>
          </a:solidFill>
          <a:ln/>
          <a:effectLst>
            <a:outerShdw sx="100000" sy="100000" kx="0" ky="0" algn="bl" rotWithShape="0" blurRad="88900" dist="38100" dir="5400000">
              <a:srgbClr val="8A94AD">
                <a:alpha val="26000"/>
              </a:srgbClr>
            </a:outerShdw>
          </a:effectLst>
        </p:spPr>
      </p:sp>
      <p:sp>
        <p:nvSpPr>
          <p:cNvPr id="14" name="Text 11"/>
          <p:cNvSpPr/>
          <p:nvPr/>
        </p:nvSpPr>
        <p:spPr>
          <a:xfrm>
            <a:off x="713232" y="4773168"/>
            <a:ext cx="5157216" cy="1197864"/>
          </a:xfrm>
          <a:prstGeom prst="rect">
            <a:avLst/>
          </a:prstGeom>
          <a:noFill/>
          <a:ln/>
        </p:spPr>
        <p:txBody>
          <a:bodyPr wrap="square" lIns="0" tIns="0" rIns="0" bIns="0" rtlCol="0" anchor="t"/>
          <a:lstStyle/>
          <a:p>
            <a:pPr indent="0" marL="0">
              <a:buNone/>
            </a:pPr>
            <a:r>
              <a:rPr lang="en-US" sz="1000" dirty="0">
                <a:solidFill>
                  <a:srgbClr val="7F8CA8"/>
                </a:solidFill>
                <a:latin typeface="Consolas" pitchFamily="34" charset="0"/>
                <a:ea typeface="Consolas" pitchFamily="34" charset="-122"/>
                <a:cs typeface="Consolas" pitchFamily="34" charset="-120"/>
              </a:rPr>
              <a:t># Bucket : gs://kozy-dataset</a:t>
            </a:r>
            <a:endParaRPr lang="en-US" sz="1000" dirty="0"/>
          </a:p>
          <a:p>
            <a:pPr indent="0" marL="0">
              <a:buNone/>
            </a:pPr>
            <a:r>
              <a:rPr lang="en-US" sz="1000" dirty="0">
                <a:solidFill>
                  <a:srgbClr val="DCE3F2"/>
                </a:solidFill>
                <a:latin typeface="Consolas" pitchFamily="34" charset="0"/>
                <a:ea typeface="Consolas" pitchFamily="34" charset="-122"/>
                <a:cs typeface="Consolas" pitchFamily="34" charset="-120"/>
              </a:rPr>
              <a:t>csv/        # source,target,</a:t>
            </a:r>
            <a:endParaRPr lang="en-US" sz="1000" dirty="0"/>
          </a:p>
          <a:p>
            <a:pPr indent="0" marL="0">
              <a:buNone/>
            </a:pPr>
            <a:r>
              <a:rPr lang="en-US" sz="1000" dirty="0">
                <a:solidFill>
                  <a:srgbClr val="7F8CA8"/>
                </a:solidFill>
                <a:latin typeface="Consolas" pitchFamily="34" charset="0"/>
                <a:ea typeface="Consolas" pitchFamily="34" charset="-122"/>
                <a:cs typeface="Consolas" pitchFamily="34" charset="-120"/>
              </a:rPr>
              <a:t>            #   src_lang,dialecte</a:t>
            </a:r>
            <a:endParaRPr lang="en-US" sz="1000" dirty="0"/>
          </a:p>
          <a:p>
            <a:pPr indent="0" marL="0">
              <a:buNone/>
            </a:pPr>
            <a:r>
              <a:rPr lang="en-US" sz="1000" dirty="0">
                <a:solidFill>
                  <a:srgbClr val="DCE3F2"/>
                </a:solidFill>
                <a:latin typeface="Consolas" pitchFamily="34" charset="0"/>
                <a:ea typeface="Consolas" pitchFamily="34" charset="-122"/>
                <a:cs typeface="Consolas" pitchFamily="34" charset="-120"/>
              </a:rPr>
              <a:t>audio/{dialect}/{fichier}.wav</a:t>
            </a:r>
            <a:endParaRPr lang="en-US" sz="1000" dirty="0"/>
          </a:p>
        </p:txBody>
      </p:sp>
      <p:sp>
        <p:nvSpPr>
          <p:cNvPr id="15" name="Text 12"/>
          <p:cNvSpPr/>
          <p:nvPr/>
        </p:nvSpPr>
        <p:spPr>
          <a:xfrm>
            <a:off x="6309360" y="2286000"/>
            <a:ext cx="5486400" cy="274320"/>
          </a:xfrm>
          <a:prstGeom prst="rect">
            <a:avLst/>
          </a:prstGeom>
          <a:noFill/>
          <a:ln/>
        </p:spPr>
        <p:txBody>
          <a:bodyPr wrap="square" lIns="0" tIns="0" rIns="0" bIns="0" rtlCol="0" anchor="ctr"/>
          <a:lstStyle/>
          <a:p>
            <a:pPr indent="0" marL="0">
              <a:buNone/>
            </a:pPr>
            <a:r>
              <a:rPr lang="en-US" sz="1300" b="1" spc="100" kern="0" dirty="0">
                <a:solidFill>
                  <a:srgbClr val="0E7C8B"/>
                </a:solidFill>
                <a:latin typeface="Calibri" pitchFamily="34" charset="0"/>
                <a:ea typeface="Calibri" pitchFamily="34" charset="-122"/>
                <a:cs typeface="Calibri" pitchFamily="34" charset="-120"/>
              </a:rPr>
              <a:t>COMPOSANTS GCP UTILISÉS</a:t>
            </a:r>
            <a:endParaRPr lang="en-US" sz="1300" dirty="0"/>
          </a:p>
        </p:txBody>
      </p:sp>
      <p:sp>
        <p:nvSpPr>
          <p:cNvPr id="16" name="Shape 13"/>
          <p:cNvSpPr/>
          <p:nvPr/>
        </p:nvSpPr>
        <p:spPr>
          <a:xfrm>
            <a:off x="6309360" y="2606040"/>
            <a:ext cx="2606040" cy="1033272"/>
          </a:xfrm>
          <a:prstGeom prst="rect">
            <a:avLst/>
          </a:prstGeom>
          <a:solidFill>
            <a:srgbClr val="FFFFFF"/>
          </a:solidFill>
          <a:ln/>
          <a:effectLst>
            <a:outerShdw sx="100000" sy="100000" kx="0" ky="0" algn="bl" rotWithShape="0" blurRad="88900" dist="38100" dir="5400000">
              <a:srgbClr val="8A94AD">
                <a:alpha val="26000"/>
              </a:srgbClr>
            </a:outerShdw>
          </a:effectLst>
        </p:spPr>
      </p:sp>
      <p:pic>
        <p:nvPicPr>
          <p:cNvPr id="17" name="Image 1" descr="logos/03_cloud_storage.png">    </p:cNvPr>
          <p:cNvPicPr>
            <a:picLocks noChangeAspect="1"/>
          </p:cNvPicPr>
          <p:nvPr/>
        </p:nvPicPr>
        <p:blipFill>
          <a:blip r:embed="rId2"/>
          <a:stretch>
            <a:fillRect/>
          </a:stretch>
        </p:blipFill>
        <p:spPr>
          <a:xfrm>
            <a:off x="6419088" y="2871216"/>
            <a:ext cx="502920" cy="502920"/>
          </a:xfrm>
          <a:prstGeom prst="rect">
            <a:avLst/>
          </a:prstGeom>
        </p:spPr>
      </p:pic>
      <p:sp>
        <p:nvSpPr>
          <p:cNvPr id="18" name="Text 14"/>
          <p:cNvSpPr/>
          <p:nvPr/>
        </p:nvSpPr>
        <p:spPr>
          <a:xfrm>
            <a:off x="7022592" y="2697480"/>
            <a:ext cx="1801368" cy="850392"/>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Cloud Storage
</a:t>
            </a:r>
            <a:endParaRPr lang="en-US" sz="1100" dirty="0"/>
          </a:p>
          <a:p>
            <a:pPr indent="0" marL="0">
              <a:buNone/>
            </a:pPr>
            <a:r>
              <a:rPr lang="en-US" sz="900" dirty="0">
                <a:solidFill>
                  <a:srgbClr val="5F6368"/>
                </a:solidFill>
                <a:latin typeface="Calibri" pitchFamily="34" charset="0"/>
                <a:ea typeface="Calibri" pitchFamily="34" charset="-122"/>
                <a:cs typeface="Calibri" pitchFamily="34" charset="-120"/>
              </a:rPr>
              <a:t>bucket kozy-dataset</a:t>
            </a:r>
            <a:endParaRPr lang="en-US" sz="1100" dirty="0"/>
          </a:p>
        </p:txBody>
      </p:sp>
      <p:sp>
        <p:nvSpPr>
          <p:cNvPr id="19" name="Shape 15"/>
          <p:cNvSpPr/>
          <p:nvPr/>
        </p:nvSpPr>
        <p:spPr>
          <a:xfrm>
            <a:off x="9052560" y="2606040"/>
            <a:ext cx="2606040" cy="1033272"/>
          </a:xfrm>
          <a:prstGeom prst="rect">
            <a:avLst/>
          </a:prstGeom>
          <a:solidFill>
            <a:srgbClr val="FFFFFF"/>
          </a:solidFill>
          <a:ln/>
          <a:effectLst>
            <a:outerShdw sx="100000" sy="100000" kx="0" ky="0" algn="bl" rotWithShape="0" blurRad="88900" dist="38100" dir="5400000">
              <a:srgbClr val="8A94AD">
                <a:alpha val="26000"/>
              </a:srgbClr>
            </a:outerShdw>
          </a:effectLst>
        </p:spPr>
      </p:sp>
      <p:pic>
        <p:nvPicPr>
          <p:cNvPr id="20" name="Image 2" descr="logos/10_iam.png">    </p:cNvPr>
          <p:cNvPicPr>
            <a:picLocks noChangeAspect="1"/>
          </p:cNvPicPr>
          <p:nvPr/>
        </p:nvPicPr>
        <p:blipFill>
          <a:blip r:embed="rId3"/>
          <a:stretch>
            <a:fillRect/>
          </a:stretch>
        </p:blipFill>
        <p:spPr>
          <a:xfrm>
            <a:off x="9162288" y="2871216"/>
            <a:ext cx="502920" cy="502920"/>
          </a:xfrm>
          <a:prstGeom prst="rect">
            <a:avLst/>
          </a:prstGeom>
        </p:spPr>
      </p:pic>
      <p:sp>
        <p:nvSpPr>
          <p:cNvPr id="21" name="Text 16"/>
          <p:cNvSpPr/>
          <p:nvPr/>
        </p:nvSpPr>
        <p:spPr>
          <a:xfrm>
            <a:off x="9765792" y="2697480"/>
            <a:ext cx="1801368" cy="850392"/>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Google OAuth 2.0
</a:t>
            </a:r>
            <a:endParaRPr lang="en-US" sz="1100" dirty="0"/>
          </a:p>
          <a:p>
            <a:pPr indent="0" marL="0">
              <a:buNone/>
            </a:pPr>
            <a:r>
              <a:rPr lang="en-US" sz="900" dirty="0">
                <a:solidFill>
                  <a:srgbClr val="5F6368"/>
                </a:solidFill>
                <a:latin typeface="Calibri" pitchFamily="34" charset="0"/>
                <a:ea typeface="Calibri" pitchFamily="34" charset="-122"/>
                <a:cs typeface="Calibri" pitchFamily="34" charset="-120"/>
              </a:rPr>
              <a:t>authentification</a:t>
            </a:r>
            <a:endParaRPr lang="en-US" sz="1100" dirty="0"/>
          </a:p>
        </p:txBody>
      </p:sp>
      <p:sp>
        <p:nvSpPr>
          <p:cNvPr id="22" name="Shape 17"/>
          <p:cNvSpPr/>
          <p:nvPr/>
        </p:nvSpPr>
        <p:spPr>
          <a:xfrm>
            <a:off x="6309360" y="3739896"/>
            <a:ext cx="2606040" cy="1033272"/>
          </a:xfrm>
          <a:prstGeom prst="rect">
            <a:avLst/>
          </a:prstGeom>
          <a:solidFill>
            <a:srgbClr val="FFFFFF"/>
          </a:solidFill>
          <a:ln/>
          <a:effectLst>
            <a:outerShdw sx="100000" sy="100000" kx="0" ky="0" algn="bl" rotWithShape="0" blurRad="88900" dist="38100" dir="5400000">
              <a:srgbClr val="8A94AD">
                <a:alpha val="26000"/>
              </a:srgbClr>
            </a:outerShdw>
          </a:effectLst>
        </p:spPr>
      </p:sp>
      <p:pic>
        <p:nvPicPr>
          <p:cNvPr id="23" name="Image 3" descr="logos/01_cloud_run.png">    </p:cNvPr>
          <p:cNvPicPr>
            <a:picLocks noChangeAspect="1"/>
          </p:cNvPicPr>
          <p:nvPr/>
        </p:nvPicPr>
        <p:blipFill>
          <a:blip r:embed="rId4"/>
          <a:stretch>
            <a:fillRect/>
          </a:stretch>
        </p:blipFill>
        <p:spPr>
          <a:xfrm>
            <a:off x="6419088" y="4005072"/>
            <a:ext cx="502920" cy="502920"/>
          </a:xfrm>
          <a:prstGeom prst="rect">
            <a:avLst/>
          </a:prstGeom>
        </p:spPr>
      </p:pic>
      <p:sp>
        <p:nvSpPr>
          <p:cNvPr id="24" name="Text 18"/>
          <p:cNvSpPr/>
          <p:nvPr/>
        </p:nvSpPr>
        <p:spPr>
          <a:xfrm>
            <a:off x="7022592" y="3831336"/>
            <a:ext cx="1801368" cy="850392"/>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Cloud Run
</a:t>
            </a:r>
            <a:endParaRPr lang="en-US" sz="1100" dirty="0"/>
          </a:p>
          <a:p>
            <a:pPr indent="0" marL="0">
              <a:buNone/>
            </a:pPr>
            <a:r>
              <a:rPr lang="en-US" sz="900" dirty="0">
                <a:solidFill>
                  <a:srgbClr val="5F6368"/>
                </a:solidFill>
                <a:latin typeface="Calibri" pitchFamily="34" charset="0"/>
                <a:ea typeface="Calibri" pitchFamily="34" charset="-122"/>
                <a:cs typeface="Calibri" pitchFamily="34" charset="-120"/>
              </a:rPr>
              <a:t>hébergement · port 8080</a:t>
            </a:r>
            <a:endParaRPr lang="en-US" sz="1100" dirty="0"/>
          </a:p>
        </p:txBody>
      </p:sp>
      <p:sp>
        <p:nvSpPr>
          <p:cNvPr id="25" name="Shape 19"/>
          <p:cNvSpPr/>
          <p:nvPr/>
        </p:nvSpPr>
        <p:spPr>
          <a:xfrm>
            <a:off x="9052560" y="3739896"/>
            <a:ext cx="2606040" cy="1033272"/>
          </a:xfrm>
          <a:prstGeom prst="rect">
            <a:avLst/>
          </a:prstGeom>
          <a:solidFill>
            <a:srgbClr val="FFFFFF"/>
          </a:solidFill>
          <a:ln/>
          <a:effectLst>
            <a:outerShdw sx="100000" sy="100000" kx="0" ky="0" algn="bl" rotWithShape="0" blurRad="88900" dist="38100" dir="5400000">
              <a:srgbClr val="8A94AD">
                <a:alpha val="26000"/>
              </a:srgbClr>
            </a:outerShdw>
          </a:effectLst>
        </p:spPr>
      </p:sp>
      <p:pic>
        <p:nvPicPr>
          <p:cNvPr id="26" name="Image 4" descr="logos/05_cloud_build.png">    </p:cNvPr>
          <p:cNvPicPr>
            <a:picLocks noChangeAspect="1"/>
          </p:cNvPicPr>
          <p:nvPr/>
        </p:nvPicPr>
        <p:blipFill>
          <a:blip r:embed="rId5"/>
          <a:stretch>
            <a:fillRect/>
          </a:stretch>
        </p:blipFill>
        <p:spPr>
          <a:xfrm>
            <a:off x="9162288" y="4005072"/>
            <a:ext cx="502920" cy="502920"/>
          </a:xfrm>
          <a:prstGeom prst="rect">
            <a:avLst/>
          </a:prstGeom>
        </p:spPr>
      </p:pic>
      <p:sp>
        <p:nvSpPr>
          <p:cNvPr id="27" name="Text 20"/>
          <p:cNvSpPr/>
          <p:nvPr/>
        </p:nvSpPr>
        <p:spPr>
          <a:xfrm>
            <a:off x="9765792" y="3831336"/>
            <a:ext cx="1801368" cy="850392"/>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Cloud Build
</a:t>
            </a:r>
            <a:endParaRPr lang="en-US" sz="1100" dirty="0"/>
          </a:p>
          <a:p>
            <a:pPr indent="0" marL="0">
              <a:buNone/>
            </a:pPr>
            <a:r>
              <a:rPr lang="en-US" sz="900" dirty="0">
                <a:solidFill>
                  <a:srgbClr val="5F6368"/>
                </a:solidFill>
                <a:latin typeface="Calibri" pitchFamily="34" charset="0"/>
                <a:ea typeface="Calibri" pitchFamily="34" charset="-122"/>
                <a:cs typeface="Calibri" pitchFamily="34" charset="-120"/>
              </a:rPr>
              <a:t>CI/CD</a:t>
            </a:r>
            <a:endParaRPr lang="en-US" sz="1100" dirty="0"/>
          </a:p>
        </p:txBody>
      </p:sp>
      <p:sp>
        <p:nvSpPr>
          <p:cNvPr id="28" name="Shape 21"/>
          <p:cNvSpPr/>
          <p:nvPr/>
        </p:nvSpPr>
        <p:spPr>
          <a:xfrm>
            <a:off x="6309360" y="4873752"/>
            <a:ext cx="2606040" cy="1033272"/>
          </a:xfrm>
          <a:prstGeom prst="rect">
            <a:avLst/>
          </a:prstGeom>
          <a:solidFill>
            <a:srgbClr val="FFFFFF"/>
          </a:solidFill>
          <a:ln/>
          <a:effectLst>
            <a:outerShdw sx="100000" sy="100000" kx="0" ky="0" algn="bl" rotWithShape="0" blurRad="88900" dist="38100" dir="5400000">
              <a:srgbClr val="8A94AD">
                <a:alpha val="26000"/>
              </a:srgbClr>
            </a:outerShdw>
          </a:effectLst>
        </p:spPr>
      </p:sp>
      <p:pic>
        <p:nvPicPr>
          <p:cNvPr id="29" name="Image 5" descr="logos/06_artifact_registry.png">    </p:cNvPr>
          <p:cNvPicPr>
            <a:picLocks noChangeAspect="1"/>
          </p:cNvPicPr>
          <p:nvPr/>
        </p:nvPicPr>
        <p:blipFill>
          <a:blip r:embed="rId6"/>
          <a:stretch>
            <a:fillRect/>
          </a:stretch>
        </p:blipFill>
        <p:spPr>
          <a:xfrm>
            <a:off x="6419088" y="5138928"/>
            <a:ext cx="502920" cy="502920"/>
          </a:xfrm>
          <a:prstGeom prst="rect">
            <a:avLst/>
          </a:prstGeom>
        </p:spPr>
      </p:pic>
      <p:sp>
        <p:nvSpPr>
          <p:cNvPr id="30" name="Text 22"/>
          <p:cNvSpPr/>
          <p:nvPr/>
        </p:nvSpPr>
        <p:spPr>
          <a:xfrm>
            <a:off x="7022592" y="4965192"/>
            <a:ext cx="1801368" cy="850392"/>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Artifact Registry
</a:t>
            </a:r>
            <a:endParaRPr lang="en-US" sz="1100" dirty="0"/>
          </a:p>
          <a:p>
            <a:pPr indent="0" marL="0">
              <a:buNone/>
            </a:pPr>
            <a:r>
              <a:rPr lang="en-US" sz="900" dirty="0">
                <a:solidFill>
                  <a:srgbClr val="5F6368"/>
                </a:solidFill>
                <a:latin typeface="Calibri" pitchFamily="34" charset="0"/>
                <a:ea typeface="Calibri" pitchFamily="34" charset="-122"/>
                <a:cs typeface="Calibri" pitchFamily="34" charset="-120"/>
              </a:rPr>
              <a:t>image kozy</a:t>
            </a:r>
            <a:endParaRPr lang="en-US" sz="1100" dirty="0"/>
          </a:p>
        </p:txBody>
      </p:sp>
      <p:sp>
        <p:nvSpPr>
          <p:cNvPr id="31" name="Shape 23"/>
          <p:cNvSpPr/>
          <p:nvPr/>
        </p:nvSpPr>
        <p:spPr>
          <a:xfrm>
            <a:off x="9052560" y="4873752"/>
            <a:ext cx="2606040" cy="1033272"/>
          </a:xfrm>
          <a:prstGeom prst="rect">
            <a:avLst/>
          </a:prstGeom>
          <a:solidFill>
            <a:srgbClr val="FFFFFF"/>
          </a:solidFill>
          <a:ln/>
          <a:effectLst>
            <a:outerShdw sx="100000" sy="100000" kx="0" ky="0" algn="bl" rotWithShape="0" blurRad="88900" dist="38100" dir="5400000">
              <a:srgbClr val="8A94AD">
                <a:alpha val="26000"/>
              </a:srgbClr>
            </a:outerShdw>
          </a:effectLst>
        </p:spPr>
      </p:sp>
      <p:pic>
        <p:nvPicPr>
          <p:cNvPr id="32" name="Image 6" descr="logos/12_secret_manager.png">    </p:cNvPr>
          <p:cNvPicPr>
            <a:picLocks noChangeAspect="1"/>
          </p:cNvPicPr>
          <p:nvPr/>
        </p:nvPicPr>
        <p:blipFill>
          <a:blip r:embed="rId7"/>
          <a:stretch>
            <a:fillRect/>
          </a:stretch>
        </p:blipFill>
        <p:spPr>
          <a:xfrm>
            <a:off x="9162288" y="5138928"/>
            <a:ext cx="502920" cy="502920"/>
          </a:xfrm>
          <a:prstGeom prst="rect">
            <a:avLst/>
          </a:prstGeom>
        </p:spPr>
      </p:pic>
      <p:sp>
        <p:nvSpPr>
          <p:cNvPr id="33" name="Text 24"/>
          <p:cNvSpPr/>
          <p:nvPr/>
        </p:nvSpPr>
        <p:spPr>
          <a:xfrm>
            <a:off x="9765792" y="4965192"/>
            <a:ext cx="1801368" cy="850392"/>
          </a:xfrm>
          <a:prstGeom prst="rect">
            <a:avLst/>
          </a:prstGeom>
          <a:noFill/>
          <a:ln/>
        </p:spPr>
        <p:txBody>
          <a:bodyPr wrap="square" lIns="0" tIns="0" rIns="0" bIns="0" rtlCol="0" anchor="ctr"/>
          <a:lstStyle/>
          <a:p>
            <a:pPr indent="0" marL="0">
              <a:buNone/>
            </a:pPr>
            <a:r>
              <a:rPr lang="en-US" sz="1100" b="1" dirty="0">
                <a:solidFill>
                  <a:srgbClr val="202124"/>
                </a:solidFill>
                <a:latin typeface="Calibri" pitchFamily="34" charset="0"/>
                <a:ea typeface="Calibri" pitchFamily="34" charset="-122"/>
                <a:cs typeface="Calibri" pitchFamily="34" charset="-120"/>
              </a:rPr>
              <a:t>Secret Manager
</a:t>
            </a:r>
            <a:endParaRPr lang="en-US" sz="1100" dirty="0"/>
          </a:p>
          <a:p>
            <a:pPr indent="0" marL="0">
              <a:buNone/>
            </a:pPr>
            <a:r>
              <a:rPr lang="en-US" sz="900" dirty="0">
                <a:solidFill>
                  <a:srgbClr val="5F6368"/>
                </a:solidFill>
                <a:latin typeface="Calibri" pitchFamily="34" charset="0"/>
                <a:ea typeface="Calibri" pitchFamily="34" charset="-122"/>
                <a:cs typeface="Calibri" pitchFamily="34" charset="-120"/>
              </a:rPr>
              <a:t>GOOGLE_CLIENT_ID</a:t>
            </a:r>
            <a:endParaRPr lang="en-US" sz="1100" dirty="0"/>
          </a:p>
        </p:txBody>
      </p:sp>
      <p:sp>
        <p:nvSpPr>
          <p:cNvPr id="34" name="Text 25"/>
          <p:cNvSpPr/>
          <p:nvPr/>
        </p:nvSpPr>
        <p:spPr>
          <a:xfrm>
            <a:off x="548640" y="6510528"/>
            <a:ext cx="11155680" cy="274320"/>
          </a:xfrm>
          <a:prstGeom prst="rect">
            <a:avLst/>
          </a:prstGeom>
          <a:noFill/>
          <a:ln/>
        </p:spPr>
        <p:txBody>
          <a:bodyPr wrap="square" lIns="0" tIns="0" rIns="0" bIns="0" rtlCol="0" anchor="ctr"/>
          <a:lstStyle/>
          <a:p>
            <a:pPr indent="0" marL="0">
              <a:buNone/>
            </a:pPr>
            <a:r>
              <a:rPr lang="en-US" sz="950" i="1" dirty="0">
                <a:solidFill>
                  <a:srgbClr val="5F6368"/>
                </a:solidFill>
                <a:latin typeface="Calibri" pitchFamily="34" charset="0"/>
                <a:ea typeface="Calibri" pitchFamily="34" charset="-122"/>
                <a:cs typeface="Calibri" pitchFamily="34" charset="-120"/>
              </a:rPr>
              <a:t>Source : dépôt Frontend (Kozy) — gcsService.ts · cloudbuild.yaml · Dockerfile · DEPLOY.md</a:t>
            </a:r>
            <a:endParaRPr lang="en-US" sz="950" dirty="0"/>
          </a:p>
        </p:txBody>
      </p:sp>
      <p:sp>
        <p:nvSpPr>
          <p:cNvPr id="35" name="Text 26"/>
          <p:cNvSpPr/>
          <p:nvPr/>
        </p:nvSpPr>
        <p:spPr>
          <a:xfrm>
            <a:off x="2103120" y="6167628"/>
            <a:ext cx="3200400" cy="182880"/>
          </a:xfrm>
          <a:prstGeom prst="rect">
            <a:avLst/>
          </a:prstGeom>
          <a:noFill/>
          <a:ln/>
        </p:spPr>
        <p:txBody>
          <a:bodyPr wrap="square" lIns="0" tIns="0" rIns="0" bIns="0" rtlCol="0" anchor="ctr"/>
          <a:lstStyle/>
          <a:p>
            <a:pPr indent="0" marL="0">
              <a:buNone/>
            </a:pPr>
            <a:r>
              <a:rPr lang="en-US" sz="850" b="1" dirty="0">
                <a:solidFill>
                  <a:srgbClr val="97A1B5"/>
                </a:solidFill>
                <a:latin typeface="Calibri" pitchFamily="34" charset="0"/>
                <a:ea typeface="Calibri" pitchFamily="34" charset="-122"/>
                <a:cs typeface="Calibri" pitchFamily="34" charset="-120"/>
              </a:rPr>
              <a:t>Tsantaniaina Rakotonjanahary Ambaorasoa Guillaume</a:t>
            </a:r>
            <a:endParaRPr lang="en-US" sz="850" dirty="0"/>
          </a:p>
        </p:txBody>
      </p:sp>
      <p:sp>
        <p:nvSpPr>
          <p:cNvPr id="36" name="Shape 27"/>
          <p:cNvSpPr/>
          <p:nvPr/>
        </p:nvSpPr>
        <p:spPr>
          <a:xfrm>
            <a:off x="11137392" y="5852160"/>
            <a:ext cx="914400" cy="914400"/>
          </a:xfrm>
          <a:prstGeom prst="roundRect">
            <a:avLst>
              <a:gd name="adj" fmla="val 10000"/>
            </a:avLst>
          </a:prstGeom>
          <a:solidFill>
            <a:srgbClr val="FFFFFF"/>
          </a:solidFill>
          <a:ln w="12700">
            <a:solidFill>
              <a:srgbClr val="D6DEEC"/>
            </a:solidFill>
            <a:prstDash val="solid"/>
          </a:ln>
          <a:effectLst>
            <a:outerShdw sx="100000" sy="100000" kx="0" ky="0" algn="bl" rotWithShape="0" blurRad="88900" dist="38100" dir="5400000">
              <a:srgbClr val="8A94AD">
                <a:alpha val="26000"/>
              </a:srgbClr>
            </a:outerShdw>
          </a:effectLst>
        </p:spPr>
      </p:sp>
      <p:pic>
        <p:nvPicPr>
          <p:cNvPr id="37" name="Image 7" descr="logos/logo_mdn.png">    </p:cNvPr>
          <p:cNvPicPr>
            <a:picLocks noChangeAspect="1"/>
          </p:cNvPicPr>
          <p:nvPr/>
        </p:nvPicPr>
        <p:blipFill>
          <a:blip r:embed="rId8"/>
          <a:stretch>
            <a:fillRect/>
          </a:stretch>
        </p:blipFill>
        <p:spPr>
          <a:xfrm>
            <a:off x="11237976" y="5952744"/>
            <a:ext cx="713232" cy="71323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F9AB00"/>
          </a:solidFill>
          <a:ln/>
        </p:spPr>
      </p:sp>
      <p:sp>
        <p:nvSpPr>
          <p:cNvPr id="3" name="Shape 1"/>
          <p:cNvSpPr/>
          <p:nvPr/>
        </p:nvSpPr>
        <p:spPr>
          <a:xfrm>
            <a:off x="146304" y="0"/>
            <a:ext cx="12042648" cy="1078992"/>
          </a:xfrm>
          <a:prstGeom prst="rect">
            <a:avLst/>
          </a:prstGeom>
          <a:solidFill>
            <a:srgbClr val="1B2A4A"/>
          </a:solidFill>
          <a:ln/>
        </p:spPr>
      </p:sp>
      <p:sp>
        <p:nvSpPr>
          <p:cNvPr id="4" name="Text 2"/>
          <p:cNvSpPr/>
          <p:nvPr/>
        </p:nvSpPr>
        <p:spPr>
          <a:xfrm>
            <a:off x="548640" y="182880"/>
            <a:ext cx="9601200" cy="292608"/>
          </a:xfrm>
          <a:prstGeom prst="rect">
            <a:avLst/>
          </a:prstGeom>
          <a:noFill/>
          <a:ln/>
        </p:spPr>
        <p:txBody>
          <a:bodyPr wrap="square" lIns="0" tIns="0" rIns="0" bIns="0" rtlCol="0" anchor="ctr"/>
          <a:lstStyle/>
          <a:p>
            <a:pPr indent="0" marL="0">
              <a:buNone/>
            </a:pPr>
            <a:r>
              <a:rPr lang="en-US" sz="1200" b="1" spc="150" kern="0" dirty="0">
                <a:solidFill>
                  <a:srgbClr val="FDD663"/>
                </a:solidFill>
                <a:latin typeface="Calibri" pitchFamily="34" charset="0"/>
                <a:ea typeface="Calibri" pitchFamily="34" charset="-122"/>
                <a:cs typeface="Calibri" pitchFamily="34" charset="-120"/>
              </a:rPr>
              <a:t>CLOUD BUILD · CLOUD RUN · SECRET MANAGER · OAUTH</a:t>
            </a:r>
            <a:endParaRPr lang="en-US" sz="1200" dirty="0"/>
          </a:p>
        </p:txBody>
      </p:sp>
      <p:sp>
        <p:nvSpPr>
          <p:cNvPr id="5" name="Text 3"/>
          <p:cNvSpPr/>
          <p:nvPr/>
        </p:nvSpPr>
        <p:spPr>
          <a:xfrm>
            <a:off x="530352" y="438912"/>
            <a:ext cx="9692640" cy="566928"/>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Kozy — déploiement &amp; sécurité</a:t>
            </a:r>
            <a:endParaRPr lang="en-US" sz="2700" dirty="0"/>
          </a:p>
        </p:txBody>
      </p:sp>
      <p:sp>
        <p:nvSpPr>
          <p:cNvPr id="6" name="Text 4"/>
          <p:cNvSpPr/>
          <p:nvPr/>
        </p:nvSpPr>
        <p:spPr>
          <a:xfrm>
            <a:off x="8229600" y="182880"/>
            <a:ext cx="1828800" cy="274320"/>
          </a:xfrm>
          <a:prstGeom prst="rect">
            <a:avLst/>
          </a:prstGeom>
          <a:noFill/>
          <a:ln/>
        </p:spPr>
        <p:txBody>
          <a:bodyPr wrap="square" lIns="0" tIns="0" rIns="0" bIns="0" rtlCol="0" anchor="ctr"/>
          <a:lstStyle/>
          <a:p>
            <a:pPr algn="r" indent="0" marL="0">
              <a:buNone/>
            </a:pPr>
            <a:r>
              <a:rPr lang="en-US" sz="1050" b="1" spc="100" kern="0" dirty="0">
                <a:solidFill>
                  <a:srgbClr val="8FA0C4"/>
                </a:solidFill>
                <a:latin typeface="Calibri" pitchFamily="34" charset="0"/>
                <a:ea typeface="Calibri" pitchFamily="34" charset="-122"/>
                <a:cs typeface="Calibri" pitchFamily="34" charset="-120"/>
              </a:rPr>
              <a:t>ÉCOSYSTÈME</a:t>
            </a:r>
            <a:endParaRPr lang="en-US" sz="1050" dirty="0"/>
          </a:p>
        </p:txBody>
      </p:sp>
      <p:sp>
        <p:nvSpPr>
          <p:cNvPr id="7" name="Shape 5"/>
          <p:cNvSpPr/>
          <p:nvPr/>
        </p:nvSpPr>
        <p:spPr>
          <a:xfrm>
            <a:off x="10927080" y="237744"/>
            <a:ext cx="603504" cy="603504"/>
          </a:xfrm>
          <a:prstGeom prst="roundRect">
            <a:avLst>
              <a:gd name="adj" fmla="val 12121"/>
            </a:avLst>
          </a:prstGeom>
          <a:solidFill>
            <a:srgbClr val="FFFFFF"/>
          </a:solidFill>
          <a:ln/>
        </p:spPr>
      </p:sp>
      <p:pic>
        <p:nvPicPr>
          <p:cNvPr id="8" name="Image 0" descr="logos/12_secret_manager.png">    </p:cNvPr>
          <p:cNvPicPr>
            <a:picLocks noChangeAspect="1"/>
          </p:cNvPicPr>
          <p:nvPr/>
        </p:nvPicPr>
        <p:blipFill>
          <a:blip r:embed="rId1"/>
          <a:stretch>
            <a:fillRect/>
          </a:stretch>
        </p:blipFill>
        <p:spPr>
          <a:xfrm>
            <a:off x="10991088" y="301752"/>
            <a:ext cx="475488" cy="475488"/>
          </a:xfrm>
          <a:prstGeom prst="rect">
            <a:avLst/>
          </a:prstGeom>
        </p:spPr>
      </p:pic>
      <p:sp>
        <p:nvSpPr>
          <p:cNvPr id="9" name="Text 6"/>
          <p:cNvSpPr/>
          <p:nvPr/>
        </p:nvSpPr>
        <p:spPr>
          <a:xfrm>
            <a:off x="548640" y="1325880"/>
            <a:ext cx="6400800" cy="274320"/>
          </a:xfrm>
          <a:prstGeom prst="rect">
            <a:avLst/>
          </a:prstGeom>
          <a:noFill/>
          <a:ln/>
        </p:spPr>
        <p:txBody>
          <a:bodyPr wrap="square" lIns="0" tIns="0" rIns="0" bIns="0" rtlCol="0" anchor="ctr"/>
          <a:lstStyle/>
          <a:p>
            <a:pPr indent="0" marL="0">
              <a:buNone/>
            </a:pPr>
            <a:r>
              <a:rPr lang="en-US" sz="1300" b="1" spc="100" kern="0" dirty="0">
                <a:solidFill>
                  <a:srgbClr val="B06000"/>
                </a:solidFill>
                <a:latin typeface="Calibri" pitchFamily="34" charset="0"/>
                <a:ea typeface="Calibri" pitchFamily="34" charset="-122"/>
                <a:cs typeface="Calibri" pitchFamily="34" charset="-120"/>
              </a:rPr>
              <a:t>PIPELINE CLOUD BUILD (cloudbuild.yaml)</a:t>
            </a:r>
            <a:endParaRPr lang="en-US" sz="1300" dirty="0"/>
          </a:p>
        </p:txBody>
      </p:sp>
      <p:sp>
        <p:nvSpPr>
          <p:cNvPr id="10" name="Shape 7"/>
          <p:cNvSpPr/>
          <p:nvPr/>
        </p:nvSpPr>
        <p:spPr>
          <a:xfrm>
            <a:off x="548640" y="1645920"/>
            <a:ext cx="5577840" cy="2743200"/>
          </a:xfrm>
          <a:prstGeom prst="rect">
            <a:avLst/>
          </a:prstGeom>
          <a:solidFill>
            <a:srgbClr val="0E1A33"/>
          </a:solidFill>
          <a:ln/>
          <a:effectLst>
            <a:outerShdw sx="100000" sy="100000" kx="0" ky="0" algn="bl" rotWithShape="0" blurRad="88900" dist="38100" dir="5400000">
              <a:srgbClr val="8A94AD">
                <a:alpha val="26000"/>
              </a:srgbClr>
            </a:outerShdw>
          </a:effectLst>
        </p:spPr>
      </p:sp>
      <p:sp>
        <p:nvSpPr>
          <p:cNvPr id="11" name="Text 8"/>
          <p:cNvSpPr/>
          <p:nvPr/>
        </p:nvSpPr>
        <p:spPr>
          <a:xfrm>
            <a:off x="713232" y="1755648"/>
            <a:ext cx="5248656" cy="2523744"/>
          </a:xfrm>
          <a:prstGeom prst="rect">
            <a:avLst/>
          </a:prstGeom>
          <a:noFill/>
          <a:ln/>
        </p:spPr>
        <p:txBody>
          <a:bodyPr wrap="square" lIns="0" tIns="0" rIns="0" bIns="0" rtlCol="0" anchor="t"/>
          <a:lstStyle/>
          <a:p>
            <a:pPr indent="0" marL="0">
              <a:buNone/>
            </a:pPr>
            <a:r>
              <a:rPr lang="en-US" sz="950" dirty="0">
                <a:solidFill>
                  <a:srgbClr val="7F8CA8"/>
                </a:solidFill>
                <a:latin typeface="Consolas" pitchFamily="34" charset="0"/>
                <a:ea typeface="Consolas" pitchFamily="34" charset="-122"/>
                <a:cs typeface="Consolas" pitchFamily="34" charset="-120"/>
              </a:rPr>
              <a:t># 1. build (VITE_GOOGLE_CLIENT_ID injecté)</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docker build -t .../mgvaovao/kozy .</a:t>
            </a:r>
            <a:endParaRPr lang="en-US" sz="950" dirty="0"/>
          </a:p>
          <a:p>
            <a:pPr indent="0" marL="0">
              <a:buNone/>
            </a:pPr>
            <a:r>
              <a:rPr lang="en-US" sz="950" dirty="0">
                <a:solidFill>
                  <a:srgbClr val="7F8CA8"/>
                </a:solidFill>
                <a:latin typeface="Consolas" pitchFamily="34" charset="0"/>
                <a:ea typeface="Consolas" pitchFamily="34" charset="-122"/>
                <a:cs typeface="Consolas" pitchFamily="34" charset="-120"/>
              </a:rPr>
              <a:t># 2. push -&gt; Artifact Registry</a:t>
            </a:r>
            <a:endParaRPr lang="en-US" sz="950" dirty="0"/>
          </a:p>
          <a:p>
            <a:pPr indent="0" marL="0">
              <a:buNone/>
            </a:pPr>
            <a:r>
              <a:rPr lang="en-US" sz="950" dirty="0">
                <a:solidFill>
                  <a:srgbClr val="7F8CA8"/>
                </a:solidFill>
                <a:latin typeface="Consolas" pitchFamily="34" charset="0"/>
                <a:ea typeface="Consolas" pitchFamily="34" charset="-122"/>
                <a:cs typeface="Consolas" pitchFamily="34" charset="-120"/>
              </a:rPr>
              <a:t># 3. deploy -&gt; Cloud Run</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gcloud run deploy kozy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--image .../mgvaovao/kozy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--region us-central1 --port 8080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--min-instances 0 --max-instances 5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--set-secrets=GOOGLE_CLIENT_ID=\</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GOOGLE_CLIENT_ID:latest</a:t>
            </a:r>
            <a:endParaRPr lang="en-US" sz="950" dirty="0"/>
          </a:p>
        </p:txBody>
      </p:sp>
      <p:sp>
        <p:nvSpPr>
          <p:cNvPr id="12" name="Text 9"/>
          <p:cNvSpPr/>
          <p:nvPr/>
        </p:nvSpPr>
        <p:spPr>
          <a:xfrm>
            <a:off x="548640" y="4572000"/>
            <a:ext cx="6400800" cy="274320"/>
          </a:xfrm>
          <a:prstGeom prst="rect">
            <a:avLst/>
          </a:prstGeom>
          <a:noFill/>
          <a:ln/>
        </p:spPr>
        <p:txBody>
          <a:bodyPr wrap="square" lIns="0" tIns="0" rIns="0" bIns="0" rtlCol="0" anchor="ctr"/>
          <a:lstStyle/>
          <a:p>
            <a:pPr indent="0" marL="0">
              <a:buNone/>
            </a:pPr>
            <a:r>
              <a:rPr lang="en-US" sz="1300" b="1" spc="100" kern="0" dirty="0">
                <a:solidFill>
                  <a:srgbClr val="B06000"/>
                </a:solidFill>
                <a:latin typeface="Calibri" pitchFamily="34" charset="0"/>
                <a:ea typeface="Calibri" pitchFamily="34" charset="-122"/>
                <a:cs typeface="Calibri" pitchFamily="34" charset="-120"/>
              </a:rPr>
              <a:t>COMPTE DE SERVICE DÉDIÉ (MOINDRE PRIVILÈGE)</a:t>
            </a:r>
            <a:endParaRPr lang="en-US" sz="1300" dirty="0"/>
          </a:p>
        </p:txBody>
      </p:sp>
      <p:sp>
        <p:nvSpPr>
          <p:cNvPr id="13" name="Shape 10"/>
          <p:cNvSpPr/>
          <p:nvPr/>
        </p:nvSpPr>
        <p:spPr>
          <a:xfrm>
            <a:off x="548640" y="4892040"/>
            <a:ext cx="5577840" cy="1188720"/>
          </a:xfrm>
          <a:prstGeom prst="rect">
            <a:avLst/>
          </a:prstGeom>
          <a:solidFill>
            <a:srgbClr val="0E1A33"/>
          </a:solidFill>
          <a:ln/>
          <a:effectLst>
            <a:outerShdw sx="100000" sy="100000" kx="0" ky="0" algn="bl" rotWithShape="0" blurRad="88900" dist="38100" dir="5400000">
              <a:srgbClr val="8A94AD">
                <a:alpha val="26000"/>
              </a:srgbClr>
            </a:outerShdw>
          </a:effectLst>
        </p:spPr>
      </p:sp>
      <p:sp>
        <p:nvSpPr>
          <p:cNvPr id="14" name="Text 11"/>
          <p:cNvSpPr/>
          <p:nvPr/>
        </p:nvSpPr>
        <p:spPr>
          <a:xfrm>
            <a:off x="713232" y="5001768"/>
            <a:ext cx="5248656" cy="969264"/>
          </a:xfrm>
          <a:prstGeom prst="rect">
            <a:avLst/>
          </a:prstGeom>
          <a:noFill/>
          <a:ln/>
        </p:spPr>
        <p:txBody>
          <a:bodyPr wrap="square" lIns="0" tIns="0" rIns="0" bIns="0" rtlCol="0" anchor="t"/>
          <a:lstStyle/>
          <a:p>
            <a:pPr indent="0" marL="0">
              <a:buNone/>
            </a:pPr>
            <a:r>
              <a:rPr lang="en-US" sz="950" dirty="0">
                <a:solidFill>
                  <a:srgbClr val="DCE3F2"/>
                </a:solidFill>
                <a:latin typeface="Consolas" pitchFamily="34" charset="0"/>
                <a:ea typeface="Consolas" pitchFamily="34" charset="-122"/>
                <a:cs typeface="Consolas" pitchFamily="34" charset="-120"/>
              </a:rPr>
              <a:t>storage-kozy@PROJECT.iam.gserviceaccount.com</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roles/storage.objectAdmin</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roles/secretmanager.secretAccessor</a:t>
            </a:r>
            <a:endParaRPr lang="en-US" sz="950" dirty="0"/>
          </a:p>
        </p:txBody>
      </p:sp>
      <p:sp>
        <p:nvSpPr>
          <p:cNvPr id="15" name="Text 12"/>
          <p:cNvSpPr/>
          <p:nvPr/>
        </p:nvSpPr>
        <p:spPr>
          <a:xfrm>
            <a:off x="6309360" y="1325880"/>
            <a:ext cx="5486400" cy="274320"/>
          </a:xfrm>
          <a:prstGeom prst="rect">
            <a:avLst/>
          </a:prstGeom>
          <a:noFill/>
          <a:ln/>
        </p:spPr>
        <p:txBody>
          <a:bodyPr wrap="square" lIns="0" tIns="0" rIns="0" bIns="0" rtlCol="0" anchor="ctr"/>
          <a:lstStyle/>
          <a:p>
            <a:pPr indent="0" marL="0">
              <a:buNone/>
            </a:pPr>
            <a:r>
              <a:rPr lang="en-US" sz="1300" b="1" spc="100" kern="0" dirty="0">
                <a:solidFill>
                  <a:srgbClr val="B06000"/>
                </a:solidFill>
                <a:latin typeface="Calibri" pitchFamily="34" charset="0"/>
                <a:ea typeface="Calibri" pitchFamily="34" charset="-122"/>
                <a:cs typeface="Calibri" pitchFamily="34" charset="-120"/>
              </a:rPr>
              <a:t>SECRET MANAGER</a:t>
            </a:r>
            <a:endParaRPr lang="en-US" sz="1300" dirty="0"/>
          </a:p>
        </p:txBody>
      </p:sp>
      <p:sp>
        <p:nvSpPr>
          <p:cNvPr id="16" name="Text 13"/>
          <p:cNvSpPr/>
          <p:nvPr/>
        </p:nvSpPr>
        <p:spPr>
          <a:xfrm>
            <a:off x="6309360" y="1645920"/>
            <a:ext cx="5349240" cy="1051560"/>
          </a:xfrm>
          <a:prstGeom prst="rect">
            <a:avLst/>
          </a:prstGeom>
          <a:noFill/>
          <a:ln/>
        </p:spPr>
        <p:txBody>
          <a:bodyPr wrap="square" lIns="0" tIns="0" rIns="0" bIns="0" rtlCol="0" anchor="t"/>
          <a:lstStyle/>
          <a:p>
            <a:pPr indent="0" marL="0">
              <a:buNone/>
            </a:pPr>
            <a:r>
              <a:rPr lang="en-US" sz="1250" dirty="0">
                <a:solidFill>
                  <a:srgbClr val="202124"/>
                </a:solidFill>
                <a:latin typeface="Calibri" pitchFamily="34" charset="0"/>
                <a:ea typeface="Calibri" pitchFamily="34" charset="-122"/>
                <a:cs typeface="Calibri" pitchFamily="34" charset="-120"/>
              </a:rPr>
              <a:t>Coffre-fort managé pour les secrets (clés, identifiants). Le GOOGLE_CLIENT_ID OAuth y est stocké puis injecté à l'exécution dans Cloud Run via --set-secrets — jamais en clair dans l'image ni le code.</a:t>
            </a:r>
            <a:endParaRPr lang="en-US" sz="1250" dirty="0"/>
          </a:p>
        </p:txBody>
      </p:sp>
      <p:sp>
        <p:nvSpPr>
          <p:cNvPr id="17" name="Text 14"/>
          <p:cNvSpPr/>
          <p:nvPr/>
        </p:nvSpPr>
        <p:spPr>
          <a:xfrm>
            <a:off x="6309360" y="2788920"/>
            <a:ext cx="5349240" cy="1325880"/>
          </a:xfrm>
          <a:prstGeom prst="rect">
            <a:avLst/>
          </a:prstGeom>
          <a:noFill/>
          <a:ln/>
        </p:spPr>
        <p:txBody>
          <a:bodyPr wrap="square" lIns="0" tIns="0" rIns="0" bIns="0" rtlCol="0" anchor="t"/>
          <a:lstStyle/>
          <a:p>
            <a:pPr marL="190500" indent="-190500">
              <a:spcAft>
                <a:spcPts val="600"/>
              </a:spcAft>
              <a:buSzPct val="100000"/>
              <a:buChar char="•"/>
            </a:pPr>
            <a:r>
              <a:rPr lang="en-US" sz="1200" dirty="0">
                <a:solidFill>
                  <a:srgbClr val="202124"/>
                </a:solidFill>
                <a:latin typeface="Calibri" pitchFamily="34" charset="0"/>
                <a:ea typeface="Calibri" pitchFamily="34" charset="-122"/>
                <a:cs typeface="Calibri" pitchFamily="34" charset="-120"/>
              </a:rPr>
              <a:t>Versions de secrets + rotation</a:t>
            </a:r>
            <a:endParaRPr lang="en-US" sz="1200" dirty="0"/>
          </a:p>
          <a:p>
            <a:pPr marL="190500" indent="-190500">
              <a:spcAft>
                <a:spcPts val="600"/>
              </a:spcAft>
              <a:buSzPct val="100000"/>
              <a:buChar char="•"/>
            </a:pPr>
            <a:r>
              <a:rPr lang="en-US" sz="1200" dirty="0">
                <a:solidFill>
                  <a:srgbClr val="202124"/>
                </a:solidFill>
                <a:latin typeface="Calibri" pitchFamily="34" charset="0"/>
                <a:ea typeface="Calibri" pitchFamily="34" charset="-122"/>
                <a:cs typeface="Calibri" pitchFamily="34" charset="-120"/>
              </a:rPr>
              <a:t>Accès contrôlé par IAM (secretAccessor)</a:t>
            </a:r>
            <a:endParaRPr lang="en-US" sz="1200" dirty="0"/>
          </a:p>
          <a:p>
            <a:pPr marL="190500" indent="-190500">
              <a:spcAft>
                <a:spcPts val="600"/>
              </a:spcAft>
              <a:buSzPct val="100000"/>
              <a:buChar char="•"/>
            </a:pPr>
            <a:r>
              <a:rPr lang="en-US" sz="1200" dirty="0">
                <a:solidFill>
                  <a:srgbClr val="202124"/>
                </a:solidFill>
                <a:latin typeface="Calibri" pitchFamily="34" charset="0"/>
                <a:ea typeface="Calibri" pitchFamily="34" charset="-122"/>
                <a:cs typeface="Calibri" pitchFamily="34" charset="-120"/>
              </a:rPr>
              <a:t>Injecté comme variable d'environnement au runtime</a:t>
            </a:r>
            <a:endParaRPr lang="en-US" sz="1200" dirty="0"/>
          </a:p>
        </p:txBody>
      </p:sp>
      <p:sp>
        <p:nvSpPr>
          <p:cNvPr id="18" name="Shape 15"/>
          <p:cNvSpPr/>
          <p:nvPr/>
        </p:nvSpPr>
        <p:spPr>
          <a:xfrm>
            <a:off x="6309360" y="4251960"/>
            <a:ext cx="5349240" cy="1783080"/>
          </a:xfrm>
          <a:prstGeom prst="rect">
            <a:avLst/>
          </a:prstGeom>
          <a:solidFill>
            <a:srgbClr val="EEF2FB"/>
          </a:solidFill>
          <a:ln/>
        </p:spPr>
      </p:sp>
      <p:sp>
        <p:nvSpPr>
          <p:cNvPr id="19" name="Shape 16"/>
          <p:cNvSpPr/>
          <p:nvPr/>
        </p:nvSpPr>
        <p:spPr>
          <a:xfrm>
            <a:off x="6309360" y="4251960"/>
            <a:ext cx="91440" cy="1783080"/>
          </a:xfrm>
          <a:prstGeom prst="rect">
            <a:avLst/>
          </a:prstGeom>
          <a:solidFill>
            <a:srgbClr val="F9AB00"/>
          </a:solidFill>
          <a:ln/>
        </p:spPr>
      </p:sp>
      <p:sp>
        <p:nvSpPr>
          <p:cNvPr id="20" name="Text 17"/>
          <p:cNvSpPr/>
          <p:nvPr/>
        </p:nvSpPr>
        <p:spPr>
          <a:xfrm>
            <a:off x="6547104" y="4325112"/>
            <a:ext cx="4965192" cy="1636776"/>
          </a:xfrm>
          <a:prstGeom prst="rect">
            <a:avLst/>
          </a:prstGeom>
          <a:noFill/>
          <a:ln/>
        </p:spPr>
        <p:txBody>
          <a:bodyPr wrap="square" lIns="0" tIns="0" rIns="0" bIns="0" rtlCol="0" anchor="ctr"/>
          <a:lstStyle/>
          <a:p>
            <a:pPr indent="0" marL="0">
              <a:buNone/>
            </a:pPr>
            <a:r>
              <a:rPr lang="en-US" sz="1100" b="1" dirty="0">
                <a:solidFill>
                  <a:srgbClr val="B06000"/>
                </a:solidFill>
                <a:latin typeface="Calibri" pitchFamily="34" charset="0"/>
                <a:ea typeface="Calibri" pitchFamily="34" charset="-122"/>
                <a:cs typeface="Calibri" pitchFamily="34" charset="-120"/>
              </a:rPr>
              <a:t>SÉCURITÉ — BONNES PRATIQUES   </a:t>
            </a:r>
            <a:pPr indent="0" marL="0">
              <a:buNone/>
            </a:pPr>
            <a:r>
              <a:rPr lang="en-US" sz="1200" dirty="0">
                <a:solidFill>
                  <a:srgbClr val="202124"/>
                </a:solidFill>
                <a:latin typeface="Calibri" pitchFamily="34" charset="0"/>
                <a:ea typeface="Calibri" pitchFamily="34" charset="-122"/>
                <a:cs typeface="Calibri" pitchFamily="34" charset="-120"/>
              </a:rPr>
              <a:t>Identifiants via Application Default Credentials (ADC), aucune clé de SA embarquée. OAuth 2.0 pour authentifier les utilisateurs. Secrets dans Secret Manager. Compte de service dédié au strict minimum de rôles.</a:t>
            </a:r>
            <a:endParaRPr lang="en-US" sz="1100" dirty="0"/>
          </a:p>
        </p:txBody>
      </p:sp>
      <p:sp>
        <p:nvSpPr>
          <p:cNvPr id="21" name="Text 18"/>
          <p:cNvSpPr/>
          <p:nvPr/>
        </p:nvSpPr>
        <p:spPr>
          <a:xfrm>
            <a:off x="548640" y="6510528"/>
            <a:ext cx="11155680" cy="274320"/>
          </a:xfrm>
          <a:prstGeom prst="rect">
            <a:avLst/>
          </a:prstGeom>
          <a:noFill/>
          <a:ln/>
        </p:spPr>
        <p:txBody>
          <a:bodyPr wrap="square" lIns="0" tIns="0" rIns="0" bIns="0" rtlCol="0" anchor="ctr"/>
          <a:lstStyle/>
          <a:p>
            <a:pPr indent="0" marL="0">
              <a:buNone/>
            </a:pPr>
            <a:r>
              <a:rPr lang="en-US" sz="950" i="1" dirty="0">
                <a:solidFill>
                  <a:srgbClr val="5F6368"/>
                </a:solidFill>
                <a:latin typeface="Calibri" pitchFamily="34" charset="0"/>
                <a:ea typeface="Calibri" pitchFamily="34" charset="-122"/>
                <a:cs typeface="Calibri" pitchFamily="34" charset="-120"/>
              </a:rPr>
              <a:t>Source : dépôt Frontend (Kozy) — cloudbuild.yaml (--set-secrets) · DEPLOY.md · doc : cloud.google.com/secret-manager/docs</a:t>
            </a:r>
            <a:endParaRPr lang="en-US" sz="950" dirty="0"/>
          </a:p>
        </p:txBody>
      </p:sp>
      <p:sp>
        <p:nvSpPr>
          <p:cNvPr id="22" name="Text 19"/>
          <p:cNvSpPr/>
          <p:nvPr/>
        </p:nvSpPr>
        <p:spPr>
          <a:xfrm>
            <a:off x="3657600" y="6167628"/>
            <a:ext cx="3200400" cy="182880"/>
          </a:xfrm>
          <a:prstGeom prst="rect">
            <a:avLst/>
          </a:prstGeom>
          <a:noFill/>
          <a:ln/>
        </p:spPr>
        <p:txBody>
          <a:bodyPr wrap="square" lIns="0" tIns="0" rIns="0" bIns="0" rtlCol="0" anchor="ctr"/>
          <a:lstStyle/>
          <a:p>
            <a:pPr indent="0" marL="0">
              <a:buNone/>
            </a:pPr>
            <a:r>
              <a:rPr lang="en-US" sz="850" b="1" dirty="0">
                <a:solidFill>
                  <a:srgbClr val="97A1B5"/>
                </a:solidFill>
                <a:latin typeface="Calibri" pitchFamily="34" charset="0"/>
                <a:ea typeface="Calibri" pitchFamily="34" charset="-122"/>
                <a:cs typeface="Calibri" pitchFamily="34" charset="-120"/>
              </a:rPr>
              <a:t>Tsantaniaina Rakotonjanahary Ambaorasoa Guillaume</a:t>
            </a:r>
            <a:endParaRPr lang="en-US" sz="850" dirty="0"/>
          </a:p>
        </p:txBody>
      </p:sp>
      <p:sp>
        <p:nvSpPr>
          <p:cNvPr id="23" name="Shape 20"/>
          <p:cNvSpPr/>
          <p:nvPr/>
        </p:nvSpPr>
        <p:spPr>
          <a:xfrm>
            <a:off x="11137392" y="5852160"/>
            <a:ext cx="914400" cy="914400"/>
          </a:xfrm>
          <a:prstGeom prst="roundRect">
            <a:avLst>
              <a:gd name="adj" fmla="val 10000"/>
            </a:avLst>
          </a:prstGeom>
          <a:solidFill>
            <a:srgbClr val="FFFFFF"/>
          </a:solidFill>
          <a:ln w="12700">
            <a:solidFill>
              <a:srgbClr val="D6DEEC"/>
            </a:solidFill>
            <a:prstDash val="solid"/>
          </a:ln>
          <a:effectLst>
            <a:outerShdw sx="100000" sy="100000" kx="0" ky="0" algn="bl" rotWithShape="0" blurRad="88900" dist="38100" dir="5400000">
              <a:srgbClr val="8A94AD">
                <a:alpha val="26000"/>
              </a:srgbClr>
            </a:outerShdw>
          </a:effectLst>
        </p:spPr>
      </p:sp>
      <p:pic>
        <p:nvPicPr>
          <p:cNvPr id="24" name="Image 1" descr="logos/logo_mdn.png">    </p:cNvPr>
          <p:cNvPicPr>
            <a:picLocks noChangeAspect="1"/>
          </p:cNvPicPr>
          <p:nvPr/>
        </p:nvPicPr>
        <p:blipFill>
          <a:blip r:embed="rId2"/>
          <a:stretch>
            <a:fillRect/>
          </a:stretch>
        </p:blipFill>
        <p:spPr>
          <a:xfrm>
            <a:off x="11237976" y="5952744"/>
            <a:ext cx="713232" cy="71323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4285F4"/>
          </a:solidFill>
          <a:ln/>
        </p:spPr>
      </p:sp>
      <p:sp>
        <p:nvSpPr>
          <p:cNvPr id="3" name="Text 1"/>
          <p:cNvSpPr/>
          <p:nvPr/>
        </p:nvSpPr>
        <p:spPr>
          <a:xfrm>
            <a:off x="777240" y="1417320"/>
            <a:ext cx="3657600" cy="1645920"/>
          </a:xfrm>
          <a:prstGeom prst="rect">
            <a:avLst/>
          </a:prstGeom>
          <a:noFill/>
          <a:ln/>
        </p:spPr>
        <p:txBody>
          <a:bodyPr wrap="square" lIns="0" tIns="0" rIns="0" bIns="0" rtlCol="0" anchor="ctr"/>
          <a:lstStyle/>
          <a:p>
            <a:pPr indent="0" marL="0">
              <a:buNone/>
            </a:pPr>
            <a:r>
              <a:rPr lang="en-US" sz="12000" b="1" dirty="0">
                <a:solidFill>
                  <a:srgbClr val="26365C"/>
                </a:solidFill>
                <a:latin typeface="Georgia" pitchFamily="34" charset="0"/>
                <a:ea typeface="Georgia" pitchFamily="34" charset="-122"/>
                <a:cs typeface="Georgia" pitchFamily="34" charset="-120"/>
              </a:rPr>
              <a:t>01</a:t>
            </a:r>
            <a:endParaRPr lang="en-US" sz="12000" dirty="0"/>
          </a:p>
        </p:txBody>
      </p:sp>
      <p:sp>
        <p:nvSpPr>
          <p:cNvPr id="4" name="Text 2"/>
          <p:cNvSpPr/>
          <p:nvPr/>
        </p:nvSpPr>
        <p:spPr>
          <a:xfrm>
            <a:off x="868680" y="3246120"/>
            <a:ext cx="10058400" cy="365760"/>
          </a:xfrm>
          <a:prstGeom prst="rect">
            <a:avLst/>
          </a:prstGeom>
          <a:noFill/>
          <a:ln/>
        </p:spPr>
        <p:txBody>
          <a:bodyPr wrap="square" lIns="0" tIns="0" rIns="0" bIns="0" rtlCol="0" anchor="ctr"/>
          <a:lstStyle/>
          <a:p>
            <a:pPr indent="0" marL="0">
              <a:buNone/>
            </a:pPr>
            <a:r>
              <a:rPr lang="en-US" sz="1500" b="1" spc="300" kern="0" dirty="0">
                <a:solidFill>
                  <a:srgbClr val="8AB4F8"/>
                </a:solidFill>
                <a:latin typeface="Calibri" pitchFamily="34" charset="0"/>
                <a:ea typeface="Calibri" pitchFamily="34" charset="-122"/>
                <a:cs typeface="Calibri" pitchFamily="34" charset="-120"/>
              </a:rPr>
              <a:t>PARTIE 1 — PRÉ-REQUIS &amp; CONFIGURATION DU PROJET</a:t>
            </a:r>
            <a:endParaRPr lang="en-US" sz="1500" dirty="0"/>
          </a:p>
        </p:txBody>
      </p:sp>
      <p:sp>
        <p:nvSpPr>
          <p:cNvPr id="5" name="Text 3"/>
          <p:cNvSpPr/>
          <p:nvPr/>
        </p:nvSpPr>
        <p:spPr>
          <a:xfrm>
            <a:off x="822960" y="3611880"/>
            <a:ext cx="10515600" cy="109728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Fondations GCP</a:t>
            </a:r>
            <a:endParaRPr lang="en-US" sz="4000" dirty="0"/>
          </a:p>
        </p:txBody>
      </p:sp>
      <p:sp>
        <p:nvSpPr>
          <p:cNvPr id="6" name="Shape 4"/>
          <p:cNvSpPr/>
          <p:nvPr/>
        </p:nvSpPr>
        <p:spPr>
          <a:xfrm>
            <a:off x="9418320" y="502920"/>
            <a:ext cx="2505456" cy="596646"/>
          </a:xfrm>
          <a:prstGeom prst="roundRect">
            <a:avLst>
              <a:gd name="adj" fmla="val 9195"/>
            </a:avLst>
          </a:prstGeom>
          <a:solidFill>
            <a:srgbClr val="FFFFFF"/>
          </a:solidFill>
          <a:ln/>
          <a:effectLst>
            <a:outerShdw sx="100000" sy="100000" kx="0" ky="0" algn="bl" rotWithShape="0" blurRad="88900" dist="38100" dir="5400000">
              <a:srgbClr val="8A94AD">
                <a:alpha val="26000"/>
              </a:srgbClr>
            </a:outerShdw>
          </a:effectLst>
        </p:spPr>
      </p:sp>
      <p:pic>
        <p:nvPicPr>
          <p:cNvPr id="7" name="Image 0" descr="logos/00_gcp.png">    </p:cNvPr>
          <p:cNvPicPr>
            <a:picLocks noChangeAspect="1"/>
          </p:cNvPicPr>
          <p:nvPr/>
        </p:nvPicPr>
        <p:blipFill>
          <a:blip r:embed="rId1"/>
          <a:stretch>
            <a:fillRect/>
          </a:stretch>
        </p:blipFill>
        <p:spPr>
          <a:xfrm>
            <a:off x="9573768" y="630936"/>
            <a:ext cx="2194560" cy="340614"/>
          </a:xfrm>
          <a:prstGeom prst="rect">
            <a:avLst/>
          </a:prstGeom>
        </p:spPr>
      </p:pic>
      <p:sp>
        <p:nvSpPr>
          <p:cNvPr id="8" name="Shape 5"/>
          <p:cNvSpPr/>
          <p:nvPr/>
        </p:nvSpPr>
        <p:spPr>
          <a:xfrm>
            <a:off x="868680" y="5029200"/>
            <a:ext cx="640080" cy="640080"/>
          </a:xfrm>
          <a:prstGeom prst="roundRect">
            <a:avLst>
              <a:gd name="adj" fmla="val 11429"/>
            </a:avLst>
          </a:prstGeom>
          <a:solidFill>
            <a:srgbClr val="FFFFFF"/>
          </a:solidFill>
          <a:ln/>
        </p:spPr>
      </p:sp>
      <p:pic>
        <p:nvPicPr>
          <p:cNvPr id="9" name="Image 1" descr="logos/10_iam.png">    </p:cNvPr>
          <p:cNvPicPr>
            <a:picLocks noChangeAspect="1"/>
          </p:cNvPicPr>
          <p:nvPr/>
        </p:nvPicPr>
        <p:blipFill>
          <a:blip r:embed="rId2"/>
          <a:stretch>
            <a:fillRect/>
          </a:stretch>
        </p:blipFill>
        <p:spPr>
          <a:xfrm>
            <a:off x="969264" y="5129784"/>
            <a:ext cx="438912" cy="438912"/>
          </a:xfrm>
          <a:prstGeom prst="rect">
            <a:avLst/>
          </a:prstGeom>
        </p:spPr>
      </p:pic>
      <p:sp>
        <p:nvSpPr>
          <p:cNvPr id="10" name="Shape 6"/>
          <p:cNvSpPr/>
          <p:nvPr/>
        </p:nvSpPr>
        <p:spPr>
          <a:xfrm>
            <a:off x="1737360" y="5029200"/>
            <a:ext cx="640080" cy="640080"/>
          </a:xfrm>
          <a:prstGeom prst="roundRect">
            <a:avLst>
              <a:gd name="adj" fmla="val 11429"/>
            </a:avLst>
          </a:prstGeom>
          <a:solidFill>
            <a:srgbClr val="FFFFFF"/>
          </a:solidFill>
          <a:ln/>
        </p:spPr>
      </p:sp>
      <p:pic>
        <p:nvPicPr>
          <p:cNvPr id="11" name="Image 2" descr="logos/06_artifact_registry.png">    </p:cNvPr>
          <p:cNvPicPr>
            <a:picLocks noChangeAspect="1"/>
          </p:cNvPicPr>
          <p:nvPr/>
        </p:nvPicPr>
        <p:blipFill>
          <a:blip r:embed="rId3"/>
          <a:stretch>
            <a:fillRect/>
          </a:stretch>
        </p:blipFill>
        <p:spPr>
          <a:xfrm>
            <a:off x="1837944" y="5129784"/>
            <a:ext cx="438912" cy="438912"/>
          </a:xfrm>
          <a:prstGeom prst="rect">
            <a:avLst/>
          </a:prstGeom>
        </p:spPr>
      </p:pic>
      <p:sp>
        <p:nvSpPr>
          <p:cNvPr id="12" name="Shape 7"/>
          <p:cNvSpPr/>
          <p:nvPr/>
        </p:nvSpPr>
        <p:spPr>
          <a:xfrm>
            <a:off x="2606040" y="5029200"/>
            <a:ext cx="640080" cy="640080"/>
          </a:xfrm>
          <a:prstGeom prst="roundRect">
            <a:avLst>
              <a:gd name="adj" fmla="val 11429"/>
            </a:avLst>
          </a:prstGeom>
          <a:solidFill>
            <a:srgbClr val="FFFFFF"/>
          </a:solidFill>
          <a:ln/>
        </p:spPr>
      </p:sp>
      <p:pic>
        <p:nvPicPr>
          <p:cNvPr id="13" name="Image 3" descr="logos/03_cloud_storage.png">    </p:cNvPr>
          <p:cNvPicPr>
            <a:picLocks noChangeAspect="1"/>
          </p:cNvPicPr>
          <p:nvPr/>
        </p:nvPicPr>
        <p:blipFill>
          <a:blip r:embed="rId4"/>
          <a:stretch>
            <a:fillRect/>
          </a:stretch>
        </p:blipFill>
        <p:spPr>
          <a:xfrm>
            <a:off x="2706624" y="5129784"/>
            <a:ext cx="438912" cy="438912"/>
          </a:xfrm>
          <a:prstGeom prst="rect">
            <a:avLst/>
          </a:prstGeom>
        </p:spPr>
      </p:pic>
      <p:sp>
        <p:nvSpPr>
          <p:cNvPr id="14" name="Text 8"/>
          <p:cNvSpPr/>
          <p:nvPr/>
        </p:nvSpPr>
        <p:spPr>
          <a:xfrm>
            <a:off x="5212080" y="5961888"/>
            <a:ext cx="3200400" cy="182880"/>
          </a:xfrm>
          <a:prstGeom prst="rect">
            <a:avLst/>
          </a:prstGeom>
          <a:noFill/>
          <a:ln/>
        </p:spPr>
        <p:txBody>
          <a:bodyPr wrap="square" lIns="0" tIns="0" rIns="0" bIns="0" rtlCol="0" anchor="ctr"/>
          <a:lstStyle/>
          <a:p>
            <a:pPr indent="0" marL="0">
              <a:buNone/>
            </a:pPr>
            <a:r>
              <a:rPr lang="en-US" sz="850" b="1" dirty="0">
                <a:solidFill>
                  <a:srgbClr val="8190AE"/>
                </a:solidFill>
                <a:latin typeface="Calibri" pitchFamily="34" charset="0"/>
                <a:ea typeface="Calibri" pitchFamily="34" charset="-122"/>
                <a:cs typeface="Calibri" pitchFamily="34" charset="-120"/>
              </a:rPr>
              <a:t>Tsantaniaina Rakotonjanahary Ambaorasoa Guillaume</a:t>
            </a:r>
            <a:endParaRPr lang="en-US" sz="850" dirty="0"/>
          </a:p>
        </p:txBody>
      </p:sp>
      <p:sp>
        <p:nvSpPr>
          <p:cNvPr id="15" name="Shape 9"/>
          <p:cNvSpPr/>
          <p:nvPr/>
        </p:nvSpPr>
        <p:spPr>
          <a:xfrm>
            <a:off x="11137392" y="5852160"/>
            <a:ext cx="914400" cy="914400"/>
          </a:xfrm>
          <a:prstGeom prst="roundRect">
            <a:avLst>
              <a:gd name="adj" fmla="val 10000"/>
            </a:avLst>
          </a:prstGeom>
          <a:solidFill>
            <a:srgbClr val="FFFFFF"/>
          </a:solidFill>
          <a:ln w="12700">
            <a:solidFill>
              <a:srgbClr val="D6DEEC"/>
            </a:solidFill>
            <a:prstDash val="solid"/>
          </a:ln>
          <a:effectLst>
            <a:outerShdw sx="100000" sy="100000" kx="0" ky="0" algn="bl" rotWithShape="0" blurRad="88900" dist="38100" dir="5400000">
              <a:srgbClr val="8A94AD">
                <a:alpha val="26000"/>
              </a:srgbClr>
            </a:outerShdw>
          </a:effectLst>
        </p:spPr>
      </p:sp>
      <p:pic>
        <p:nvPicPr>
          <p:cNvPr id="16" name="Image 4" descr="logos/logo_mdn.png">    </p:cNvPr>
          <p:cNvPicPr>
            <a:picLocks noChangeAspect="1"/>
          </p:cNvPicPr>
          <p:nvPr/>
        </p:nvPicPr>
        <p:blipFill>
          <a:blip r:embed="rId5"/>
          <a:stretch>
            <a:fillRect/>
          </a:stretch>
        </p:blipFill>
        <p:spPr>
          <a:xfrm>
            <a:off x="11237976" y="5952744"/>
            <a:ext cx="713232" cy="71323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4285F4"/>
          </a:solidFill>
          <a:ln/>
        </p:spPr>
      </p:sp>
      <p:sp>
        <p:nvSpPr>
          <p:cNvPr id="3" name="Shape 1"/>
          <p:cNvSpPr/>
          <p:nvPr/>
        </p:nvSpPr>
        <p:spPr>
          <a:xfrm>
            <a:off x="146304" y="0"/>
            <a:ext cx="12042648" cy="1078992"/>
          </a:xfrm>
          <a:prstGeom prst="rect">
            <a:avLst/>
          </a:prstGeom>
          <a:solidFill>
            <a:srgbClr val="1B2A4A"/>
          </a:solidFill>
          <a:ln/>
        </p:spPr>
      </p:sp>
      <p:sp>
        <p:nvSpPr>
          <p:cNvPr id="4" name="Text 2"/>
          <p:cNvSpPr/>
          <p:nvPr/>
        </p:nvSpPr>
        <p:spPr>
          <a:xfrm>
            <a:off x="548640" y="182880"/>
            <a:ext cx="9601200" cy="292608"/>
          </a:xfrm>
          <a:prstGeom prst="rect">
            <a:avLst/>
          </a:prstGeom>
          <a:noFill/>
          <a:ln/>
        </p:spPr>
        <p:txBody>
          <a:bodyPr wrap="square" lIns="0" tIns="0" rIns="0" bIns="0" rtlCol="0" anchor="ctr"/>
          <a:lstStyle/>
          <a:p>
            <a:pPr indent="0" marL="0">
              <a:buNone/>
            </a:pPr>
            <a:r>
              <a:rPr lang="en-US" sz="1200" b="1" spc="150" kern="0" dirty="0">
                <a:solidFill>
                  <a:srgbClr val="8AB4F8"/>
                </a:solidFill>
                <a:latin typeface="Calibri" pitchFamily="34" charset="0"/>
                <a:ea typeface="Calibri" pitchFamily="34" charset="-122"/>
                <a:cs typeface="Calibri" pitchFamily="34" charset="-120"/>
              </a:rPr>
              <a:t>AVANT DE COMMENCER</a:t>
            </a:r>
            <a:endParaRPr lang="en-US" sz="1200" dirty="0"/>
          </a:p>
        </p:txBody>
      </p:sp>
      <p:sp>
        <p:nvSpPr>
          <p:cNvPr id="5" name="Text 3"/>
          <p:cNvSpPr/>
          <p:nvPr/>
        </p:nvSpPr>
        <p:spPr>
          <a:xfrm>
            <a:off x="530352" y="438912"/>
            <a:ext cx="9692640" cy="566928"/>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Pré-requis</a:t>
            </a:r>
            <a:endParaRPr lang="en-US" sz="2700" dirty="0"/>
          </a:p>
        </p:txBody>
      </p:sp>
      <p:sp>
        <p:nvSpPr>
          <p:cNvPr id="6" name="Text 4"/>
          <p:cNvSpPr/>
          <p:nvPr/>
        </p:nvSpPr>
        <p:spPr>
          <a:xfrm>
            <a:off x="8229600" y="182880"/>
            <a:ext cx="1828800" cy="274320"/>
          </a:xfrm>
          <a:prstGeom prst="rect">
            <a:avLst/>
          </a:prstGeom>
          <a:noFill/>
          <a:ln/>
        </p:spPr>
        <p:txBody>
          <a:bodyPr wrap="square" lIns="0" tIns="0" rIns="0" bIns="0" rtlCol="0" anchor="ctr"/>
          <a:lstStyle/>
          <a:p>
            <a:pPr algn="r" indent="0" marL="0">
              <a:buNone/>
            </a:pPr>
            <a:r>
              <a:rPr lang="en-US" sz="1050" b="1" spc="100" kern="0" dirty="0">
                <a:solidFill>
                  <a:srgbClr val="8FA0C4"/>
                </a:solidFill>
                <a:latin typeface="Calibri" pitchFamily="34" charset="0"/>
                <a:ea typeface="Calibri" pitchFamily="34" charset="-122"/>
                <a:cs typeface="Calibri" pitchFamily="34" charset="-120"/>
              </a:rPr>
              <a:t>PARTIE 1</a:t>
            </a:r>
            <a:endParaRPr lang="en-US" sz="1050" dirty="0"/>
          </a:p>
        </p:txBody>
      </p:sp>
      <p:sp>
        <p:nvSpPr>
          <p:cNvPr id="7" name="Text 5"/>
          <p:cNvSpPr/>
          <p:nvPr/>
        </p:nvSpPr>
        <p:spPr>
          <a:xfrm>
            <a:off x="548640" y="1325880"/>
            <a:ext cx="5486400" cy="274320"/>
          </a:xfrm>
          <a:prstGeom prst="rect">
            <a:avLst/>
          </a:prstGeom>
          <a:noFill/>
          <a:ln/>
        </p:spPr>
        <p:txBody>
          <a:bodyPr wrap="square" lIns="0" tIns="0" rIns="0" bIns="0" rtlCol="0" anchor="ctr"/>
          <a:lstStyle/>
          <a:p>
            <a:pPr indent="0" marL="0">
              <a:buNone/>
            </a:pPr>
            <a:r>
              <a:rPr lang="en-US" sz="1300" b="1" spc="100" kern="0" dirty="0">
                <a:solidFill>
                  <a:srgbClr val="1A73E8"/>
                </a:solidFill>
                <a:latin typeface="Calibri" pitchFamily="34" charset="0"/>
                <a:ea typeface="Calibri" pitchFamily="34" charset="-122"/>
                <a:cs typeface="Calibri" pitchFamily="34" charset="-120"/>
              </a:rPr>
              <a:t>CÔTÉ POSTE DE TRAVAIL</a:t>
            </a:r>
            <a:endParaRPr lang="en-US" sz="1300" dirty="0"/>
          </a:p>
        </p:txBody>
      </p:sp>
      <p:sp>
        <p:nvSpPr>
          <p:cNvPr id="8" name="Text 6"/>
          <p:cNvSpPr/>
          <p:nvPr/>
        </p:nvSpPr>
        <p:spPr>
          <a:xfrm>
            <a:off x="548640" y="1645920"/>
            <a:ext cx="5394960" cy="1828800"/>
          </a:xfrm>
          <a:prstGeom prst="rect">
            <a:avLst/>
          </a:prstGeom>
          <a:noFill/>
          <a:ln/>
        </p:spPr>
        <p:txBody>
          <a:bodyPr wrap="square" lIns="0" tIns="0" rIns="0" bIns="0" rtlCol="0" anchor="t"/>
          <a:lstStyle/>
          <a:p>
            <a:pPr marL="190500" indent="-190500">
              <a:spcAft>
                <a:spcPts val="600"/>
              </a:spcAft>
              <a:buSzPct val="100000"/>
              <a:buChar char="•"/>
            </a:pPr>
            <a:r>
              <a:rPr lang="en-US" sz="1300" dirty="0">
                <a:solidFill>
                  <a:srgbClr val="202124"/>
                </a:solidFill>
                <a:latin typeface="Calibri" pitchFamily="34" charset="0"/>
                <a:ea typeface="Calibri" pitchFamily="34" charset="-122"/>
                <a:cs typeface="Calibri" pitchFamily="34" charset="-120"/>
              </a:rPr>
              <a:t>gcloud CLI installé et authentifié</a:t>
            </a:r>
            <a:endParaRPr lang="en-US" sz="1300" dirty="0"/>
          </a:p>
          <a:p>
            <a:pPr marL="190500" indent="-190500">
              <a:spcAft>
                <a:spcPts val="600"/>
              </a:spcAft>
              <a:buSzPct val="100000"/>
              <a:buChar char="•"/>
            </a:pPr>
            <a:r>
              <a:rPr lang="en-US" sz="1300" dirty="0">
                <a:solidFill>
                  <a:srgbClr val="202124"/>
                </a:solidFill>
                <a:latin typeface="Calibri" pitchFamily="34" charset="0"/>
                <a:ea typeface="Calibri" pitchFamily="34" charset="-122"/>
                <a:cs typeface="Calibri" pitchFamily="34" charset="-120"/>
              </a:rPr>
              <a:t>git</a:t>
            </a:r>
            <a:endParaRPr lang="en-US" sz="1300" dirty="0"/>
          </a:p>
          <a:p>
            <a:pPr marL="190500" indent="-190500">
              <a:spcAft>
                <a:spcPts val="600"/>
              </a:spcAft>
              <a:buSzPct val="100000"/>
              <a:buChar char="•"/>
            </a:pPr>
            <a:r>
              <a:rPr lang="en-US" sz="1300" dirty="0">
                <a:solidFill>
                  <a:srgbClr val="202124"/>
                </a:solidFill>
                <a:latin typeface="Calibri" pitchFamily="34" charset="0"/>
                <a:ea typeface="Calibri" pitchFamily="34" charset="-122"/>
                <a:cs typeface="Calibri" pitchFamily="34" charset="-120"/>
              </a:rPr>
              <a:t>Python 3.10+ (pour les scripts utilitaires)</a:t>
            </a:r>
            <a:endParaRPr lang="en-US" sz="1300" dirty="0"/>
          </a:p>
          <a:p>
            <a:pPr marL="190500" indent="-190500">
              <a:spcAft>
                <a:spcPts val="600"/>
              </a:spcAft>
              <a:buSzPct val="100000"/>
              <a:buChar char="•"/>
            </a:pPr>
            <a:r>
              <a:rPr lang="en-US" sz="1300" dirty="0">
                <a:solidFill>
                  <a:srgbClr val="202124"/>
                </a:solidFill>
                <a:latin typeface="Calibri" pitchFamily="34" charset="0"/>
                <a:ea typeface="Calibri" pitchFamily="34" charset="-122"/>
                <a:cs typeface="Calibri" pitchFamily="34" charset="-120"/>
              </a:rPr>
              <a:t>Docker (optionnel — le build se fait dans le cloud)</a:t>
            </a:r>
            <a:endParaRPr lang="en-US" sz="1300" dirty="0"/>
          </a:p>
        </p:txBody>
      </p:sp>
      <p:sp>
        <p:nvSpPr>
          <p:cNvPr id="9" name="Text 7"/>
          <p:cNvSpPr/>
          <p:nvPr/>
        </p:nvSpPr>
        <p:spPr>
          <a:xfrm>
            <a:off x="548640" y="3566160"/>
            <a:ext cx="5486400" cy="274320"/>
          </a:xfrm>
          <a:prstGeom prst="rect">
            <a:avLst/>
          </a:prstGeom>
          <a:noFill/>
          <a:ln/>
        </p:spPr>
        <p:txBody>
          <a:bodyPr wrap="square" lIns="0" tIns="0" rIns="0" bIns="0" rtlCol="0" anchor="ctr"/>
          <a:lstStyle/>
          <a:p>
            <a:pPr indent="0" marL="0">
              <a:buNone/>
            </a:pPr>
            <a:r>
              <a:rPr lang="en-US" sz="1300" b="1" spc="100" kern="0" dirty="0">
                <a:solidFill>
                  <a:srgbClr val="1A73E8"/>
                </a:solidFill>
                <a:latin typeface="Calibri" pitchFamily="34" charset="0"/>
                <a:ea typeface="Calibri" pitchFamily="34" charset="-122"/>
                <a:cs typeface="Calibri" pitchFamily="34" charset="-120"/>
              </a:rPr>
              <a:t>CÔTÉ GOOGLE CLOUD</a:t>
            </a:r>
            <a:endParaRPr lang="en-US" sz="1300" dirty="0"/>
          </a:p>
        </p:txBody>
      </p:sp>
      <p:sp>
        <p:nvSpPr>
          <p:cNvPr id="10" name="Text 8"/>
          <p:cNvSpPr/>
          <p:nvPr/>
        </p:nvSpPr>
        <p:spPr>
          <a:xfrm>
            <a:off x="548640" y="3886200"/>
            <a:ext cx="5394960" cy="2011680"/>
          </a:xfrm>
          <a:prstGeom prst="rect">
            <a:avLst/>
          </a:prstGeom>
          <a:noFill/>
          <a:ln/>
        </p:spPr>
        <p:txBody>
          <a:bodyPr wrap="square" lIns="0" tIns="0" rIns="0" bIns="0" rtlCol="0" anchor="t"/>
          <a:lstStyle/>
          <a:p>
            <a:pPr marL="190500" indent="-190500">
              <a:spcAft>
                <a:spcPts val="600"/>
              </a:spcAft>
              <a:buSzPct val="100000"/>
              <a:buChar char="•"/>
            </a:pPr>
            <a:r>
              <a:rPr lang="en-US" sz="1300" dirty="0">
                <a:solidFill>
                  <a:srgbClr val="202124"/>
                </a:solidFill>
                <a:latin typeface="Calibri" pitchFamily="34" charset="0"/>
                <a:ea typeface="Calibri" pitchFamily="34" charset="-122"/>
                <a:cs typeface="Calibri" pitchFamily="34" charset="-120"/>
              </a:rPr>
              <a:t>Un projet GCP avec la facturation activée</a:t>
            </a:r>
            <a:endParaRPr lang="en-US" sz="1300" dirty="0"/>
          </a:p>
          <a:p>
            <a:pPr marL="190500" indent="-190500">
              <a:spcAft>
                <a:spcPts val="600"/>
              </a:spcAft>
              <a:buSzPct val="100000"/>
              <a:buChar char="•"/>
            </a:pPr>
            <a:r>
              <a:rPr lang="en-US" sz="1300" dirty="0">
                <a:solidFill>
                  <a:srgbClr val="202124"/>
                </a:solidFill>
                <a:latin typeface="Calibri" pitchFamily="34" charset="0"/>
                <a:ea typeface="Calibri" pitchFamily="34" charset="-122"/>
                <a:cs typeface="Calibri" pitchFamily="34" charset="-120"/>
              </a:rPr>
              <a:t>Quota GPU L4 approuvé (Cloud Run + Vertex)</a:t>
            </a:r>
            <a:endParaRPr lang="en-US" sz="1300" dirty="0"/>
          </a:p>
          <a:p>
            <a:pPr marL="190500" indent="-190500">
              <a:spcAft>
                <a:spcPts val="600"/>
              </a:spcAft>
              <a:buSzPct val="100000"/>
              <a:buChar char="•"/>
            </a:pPr>
            <a:r>
              <a:rPr lang="en-US" sz="1300" dirty="0">
                <a:solidFill>
                  <a:srgbClr val="202124"/>
                </a:solidFill>
                <a:latin typeface="Calibri" pitchFamily="34" charset="0"/>
                <a:ea typeface="Calibri" pitchFamily="34" charset="-122"/>
                <a:cs typeface="Calibri" pitchFamily="34" charset="-120"/>
              </a:rPr>
              <a:t>10 APIs à activer (slide suivante)</a:t>
            </a:r>
            <a:endParaRPr lang="en-US" sz="1300" dirty="0"/>
          </a:p>
          <a:p>
            <a:pPr marL="190500" indent="-190500">
              <a:spcAft>
                <a:spcPts val="600"/>
              </a:spcAft>
              <a:buSzPct val="100000"/>
              <a:buChar char="•"/>
            </a:pPr>
            <a:r>
              <a:rPr lang="en-US" sz="1300" dirty="0">
                <a:solidFill>
                  <a:srgbClr val="202124"/>
                </a:solidFill>
                <a:latin typeface="Calibri" pitchFamily="34" charset="0"/>
                <a:ea typeface="Calibri" pitchFamily="34" charset="-122"/>
                <a:cs typeface="Calibri" pitchFamily="34" charset="-120"/>
              </a:rPr>
              <a:t>Droits IAM pour créer des comptes de service</a:t>
            </a:r>
            <a:endParaRPr lang="en-US" sz="1300" dirty="0"/>
          </a:p>
        </p:txBody>
      </p:sp>
      <p:sp>
        <p:nvSpPr>
          <p:cNvPr id="11" name="Text 9"/>
          <p:cNvSpPr/>
          <p:nvPr/>
        </p:nvSpPr>
        <p:spPr>
          <a:xfrm>
            <a:off x="6309360" y="1325880"/>
            <a:ext cx="5486400" cy="274320"/>
          </a:xfrm>
          <a:prstGeom prst="rect">
            <a:avLst/>
          </a:prstGeom>
          <a:noFill/>
          <a:ln/>
        </p:spPr>
        <p:txBody>
          <a:bodyPr wrap="square" lIns="0" tIns="0" rIns="0" bIns="0" rtlCol="0" anchor="ctr"/>
          <a:lstStyle/>
          <a:p>
            <a:pPr indent="0" marL="0">
              <a:buNone/>
            </a:pPr>
            <a:r>
              <a:rPr lang="en-US" sz="1300" b="1" spc="100" kern="0" dirty="0">
                <a:solidFill>
                  <a:srgbClr val="1A73E8"/>
                </a:solidFill>
                <a:latin typeface="Calibri" pitchFamily="34" charset="0"/>
                <a:ea typeface="Calibri" pitchFamily="34" charset="-122"/>
                <a:cs typeface="Calibri" pitchFamily="34" charset="-120"/>
              </a:rPr>
              <a:t>LES 10 APIs REQUISES</a:t>
            </a:r>
            <a:endParaRPr lang="en-US" sz="1300" dirty="0"/>
          </a:p>
        </p:txBody>
      </p:sp>
      <p:sp>
        <p:nvSpPr>
          <p:cNvPr id="12" name="Shape 10"/>
          <p:cNvSpPr/>
          <p:nvPr/>
        </p:nvSpPr>
        <p:spPr>
          <a:xfrm>
            <a:off x="6309360" y="1645920"/>
            <a:ext cx="5349240" cy="4251960"/>
          </a:xfrm>
          <a:prstGeom prst="rect">
            <a:avLst/>
          </a:prstGeom>
          <a:solidFill>
            <a:srgbClr val="0E1A33"/>
          </a:solidFill>
          <a:ln/>
          <a:effectLst>
            <a:outerShdw sx="100000" sy="100000" kx="0" ky="0" algn="bl" rotWithShape="0" blurRad="88900" dist="38100" dir="5400000">
              <a:srgbClr val="8A94AD">
                <a:alpha val="26000"/>
              </a:srgbClr>
            </a:outerShdw>
          </a:effectLst>
        </p:spPr>
      </p:sp>
      <p:sp>
        <p:nvSpPr>
          <p:cNvPr id="13" name="Text 11"/>
          <p:cNvSpPr/>
          <p:nvPr/>
        </p:nvSpPr>
        <p:spPr>
          <a:xfrm>
            <a:off x="6473952" y="1755648"/>
            <a:ext cx="5020056" cy="4032504"/>
          </a:xfrm>
          <a:prstGeom prst="rect">
            <a:avLst/>
          </a:prstGeom>
          <a:noFill/>
          <a:ln/>
        </p:spPr>
        <p:txBody>
          <a:bodyPr wrap="square" lIns="0" tIns="0" rIns="0" bIns="0" rtlCol="0" anchor="t"/>
          <a:lstStyle/>
          <a:p>
            <a:pPr indent="0" marL="0">
              <a:buNone/>
            </a:pPr>
            <a:r>
              <a:rPr lang="en-US" sz="1100" dirty="0">
                <a:solidFill>
                  <a:srgbClr val="DCE3F2"/>
                </a:solidFill>
                <a:latin typeface="Consolas" pitchFamily="34" charset="0"/>
                <a:ea typeface="Consolas" pitchFamily="34" charset="-122"/>
                <a:cs typeface="Consolas" pitchFamily="34" charset="-120"/>
              </a:rPr>
              <a:t>run.googleapis.com            # Cloud Run</a:t>
            </a:r>
            <a:endParaRPr lang="en-US" sz="1100" dirty="0"/>
          </a:p>
          <a:p>
            <a:pPr indent="0" marL="0">
              <a:buNone/>
            </a:pPr>
            <a:r>
              <a:rPr lang="en-US" sz="1100" dirty="0">
                <a:solidFill>
                  <a:srgbClr val="DCE3F2"/>
                </a:solidFill>
                <a:latin typeface="Consolas" pitchFamily="34" charset="0"/>
                <a:ea typeface="Consolas" pitchFamily="34" charset="-122"/>
                <a:cs typeface="Consolas" pitchFamily="34" charset="-120"/>
              </a:rPr>
              <a:t>artifactregistry.googleapis.com  # Artifact Reg.</a:t>
            </a:r>
            <a:endParaRPr lang="en-US" sz="1100" dirty="0"/>
          </a:p>
          <a:p>
            <a:pPr indent="0" marL="0">
              <a:buNone/>
            </a:pPr>
            <a:r>
              <a:rPr lang="en-US" sz="1100" dirty="0">
                <a:solidFill>
                  <a:srgbClr val="DCE3F2"/>
                </a:solidFill>
                <a:latin typeface="Consolas" pitchFamily="34" charset="0"/>
                <a:ea typeface="Consolas" pitchFamily="34" charset="-122"/>
                <a:cs typeface="Consolas" pitchFamily="34" charset="-120"/>
              </a:rPr>
              <a:t>cloudbuild.googleapis.com     # Cloud Build</a:t>
            </a:r>
            <a:endParaRPr lang="en-US" sz="1100" dirty="0"/>
          </a:p>
          <a:p>
            <a:pPr indent="0" marL="0">
              <a:buNone/>
            </a:pPr>
            <a:r>
              <a:rPr lang="en-US" sz="1100" dirty="0">
                <a:solidFill>
                  <a:srgbClr val="DCE3F2"/>
                </a:solidFill>
                <a:latin typeface="Consolas" pitchFamily="34" charset="0"/>
                <a:ea typeface="Consolas" pitchFamily="34" charset="-122"/>
                <a:cs typeface="Consolas" pitchFamily="34" charset="-120"/>
              </a:rPr>
              <a:t>storage.googleapis.com        # Cloud Storage</a:t>
            </a:r>
            <a:endParaRPr lang="en-US" sz="1100" dirty="0"/>
          </a:p>
          <a:p>
            <a:pPr indent="0" marL="0">
              <a:buNone/>
            </a:pPr>
            <a:r>
              <a:rPr lang="en-US" sz="1100" dirty="0">
                <a:solidFill>
                  <a:srgbClr val="DCE3F2"/>
                </a:solidFill>
                <a:latin typeface="Consolas" pitchFamily="34" charset="0"/>
                <a:ea typeface="Consolas" pitchFamily="34" charset="-122"/>
                <a:cs typeface="Consolas" pitchFamily="34" charset="-120"/>
              </a:rPr>
              <a:t>aiplatform.googleapis.com     # Vertex AI</a:t>
            </a:r>
            <a:endParaRPr lang="en-US" sz="1100" dirty="0"/>
          </a:p>
          <a:p>
            <a:pPr indent="0" marL="0">
              <a:buNone/>
            </a:pPr>
            <a:r>
              <a:rPr lang="en-US" sz="1100" dirty="0">
                <a:solidFill>
                  <a:srgbClr val="DCE3F2"/>
                </a:solidFill>
                <a:latin typeface="Consolas" pitchFamily="34" charset="0"/>
                <a:ea typeface="Consolas" pitchFamily="34" charset="-122"/>
                <a:cs typeface="Consolas" pitchFamily="34" charset="-120"/>
              </a:rPr>
              <a:t>pubsub.googleapis.com         # Pub/Sub</a:t>
            </a:r>
            <a:endParaRPr lang="en-US" sz="1100" dirty="0"/>
          </a:p>
          <a:p>
            <a:pPr indent="0" marL="0">
              <a:buNone/>
            </a:pPr>
            <a:r>
              <a:rPr lang="en-US" sz="1100" dirty="0">
                <a:solidFill>
                  <a:srgbClr val="DCE3F2"/>
                </a:solidFill>
                <a:latin typeface="Consolas" pitchFamily="34" charset="0"/>
                <a:ea typeface="Consolas" pitchFamily="34" charset="-122"/>
                <a:cs typeface="Consolas" pitchFamily="34" charset="-120"/>
              </a:rPr>
              <a:t>cloudscheduler.googleapis.com # Scheduler</a:t>
            </a:r>
            <a:endParaRPr lang="en-US" sz="1100" dirty="0"/>
          </a:p>
          <a:p>
            <a:pPr indent="0" marL="0">
              <a:buNone/>
            </a:pPr>
            <a:r>
              <a:rPr lang="en-US" sz="1100" dirty="0">
                <a:solidFill>
                  <a:srgbClr val="DCE3F2"/>
                </a:solidFill>
                <a:latin typeface="Consolas" pitchFamily="34" charset="0"/>
                <a:ea typeface="Consolas" pitchFamily="34" charset="-122"/>
                <a:cs typeface="Consolas" pitchFamily="34" charset="-120"/>
              </a:rPr>
              <a:t>logging.googleapis.com        # Cloud Logging</a:t>
            </a:r>
            <a:endParaRPr lang="en-US" sz="1100" dirty="0"/>
          </a:p>
          <a:p>
            <a:pPr indent="0" marL="0">
              <a:buNone/>
            </a:pPr>
            <a:r>
              <a:rPr lang="en-US" sz="1100" dirty="0">
                <a:solidFill>
                  <a:srgbClr val="DCE3F2"/>
                </a:solidFill>
                <a:latin typeface="Consolas" pitchFamily="34" charset="0"/>
                <a:ea typeface="Consolas" pitchFamily="34" charset="-122"/>
                <a:cs typeface="Consolas" pitchFamily="34" charset="-120"/>
              </a:rPr>
              <a:t>monitoring.googleapis.com     # Cloud Monitoring</a:t>
            </a:r>
            <a:endParaRPr lang="en-US" sz="1100" dirty="0"/>
          </a:p>
          <a:p>
            <a:pPr indent="0" marL="0">
              <a:buNone/>
            </a:pPr>
            <a:r>
              <a:rPr lang="en-US" sz="1100" dirty="0">
                <a:solidFill>
                  <a:srgbClr val="DCE3F2"/>
                </a:solidFill>
                <a:latin typeface="Consolas" pitchFamily="34" charset="0"/>
                <a:ea typeface="Consolas" pitchFamily="34" charset="-122"/>
                <a:cs typeface="Consolas" pitchFamily="34" charset="-120"/>
              </a:rPr>
              <a:t>iam.googleapis.com            # IAM</a:t>
            </a:r>
            <a:endParaRPr lang="en-US" sz="1100" dirty="0"/>
          </a:p>
        </p:txBody>
      </p:sp>
      <p:sp>
        <p:nvSpPr>
          <p:cNvPr id="14" name="Text 12"/>
          <p:cNvSpPr/>
          <p:nvPr/>
        </p:nvSpPr>
        <p:spPr>
          <a:xfrm>
            <a:off x="548640" y="6510528"/>
            <a:ext cx="11155680" cy="274320"/>
          </a:xfrm>
          <a:prstGeom prst="rect">
            <a:avLst/>
          </a:prstGeom>
          <a:noFill/>
          <a:ln/>
        </p:spPr>
        <p:txBody>
          <a:bodyPr wrap="square" lIns="0" tIns="0" rIns="0" bIns="0" rtlCol="0" anchor="ctr"/>
          <a:lstStyle/>
          <a:p>
            <a:pPr indent="0" marL="0">
              <a:buNone/>
            </a:pPr>
            <a:r>
              <a:rPr lang="en-US" sz="950" i="1" dirty="0">
                <a:solidFill>
                  <a:srgbClr val="5F6368"/>
                </a:solidFill>
                <a:latin typeface="Calibri" pitchFamily="34" charset="0"/>
                <a:ea typeface="Calibri" pitchFamily="34" charset="-122"/>
                <a:cs typeface="Calibri" pitchFamily="34" charset="-120"/>
              </a:rPr>
              <a:t>Source : README §9, §18.1 — pré-requis et liste des APIs</a:t>
            </a:r>
            <a:endParaRPr lang="en-US" sz="950" dirty="0"/>
          </a:p>
        </p:txBody>
      </p:sp>
      <p:sp>
        <p:nvSpPr>
          <p:cNvPr id="15" name="Text 13"/>
          <p:cNvSpPr/>
          <p:nvPr/>
        </p:nvSpPr>
        <p:spPr>
          <a:xfrm>
            <a:off x="548640" y="6076188"/>
            <a:ext cx="3200400" cy="182880"/>
          </a:xfrm>
          <a:prstGeom prst="rect">
            <a:avLst/>
          </a:prstGeom>
          <a:noFill/>
          <a:ln/>
        </p:spPr>
        <p:txBody>
          <a:bodyPr wrap="square" lIns="0" tIns="0" rIns="0" bIns="0" rtlCol="0" anchor="ctr"/>
          <a:lstStyle/>
          <a:p>
            <a:pPr indent="0" marL="0">
              <a:buNone/>
            </a:pPr>
            <a:r>
              <a:rPr lang="en-US" sz="850" b="1" dirty="0">
                <a:solidFill>
                  <a:srgbClr val="97A1B5"/>
                </a:solidFill>
                <a:latin typeface="Calibri" pitchFamily="34" charset="0"/>
                <a:ea typeface="Calibri" pitchFamily="34" charset="-122"/>
                <a:cs typeface="Calibri" pitchFamily="34" charset="-120"/>
              </a:rPr>
              <a:t>Tsantaniaina Rakotonjanahary Ambaorasoa Guillaume</a:t>
            </a:r>
            <a:endParaRPr lang="en-US" sz="850" dirty="0"/>
          </a:p>
        </p:txBody>
      </p:sp>
      <p:sp>
        <p:nvSpPr>
          <p:cNvPr id="16" name="Shape 14"/>
          <p:cNvSpPr/>
          <p:nvPr/>
        </p:nvSpPr>
        <p:spPr>
          <a:xfrm>
            <a:off x="11137392" y="5852160"/>
            <a:ext cx="914400" cy="914400"/>
          </a:xfrm>
          <a:prstGeom prst="roundRect">
            <a:avLst>
              <a:gd name="adj" fmla="val 10000"/>
            </a:avLst>
          </a:prstGeom>
          <a:solidFill>
            <a:srgbClr val="FFFFFF"/>
          </a:solidFill>
          <a:ln w="12700">
            <a:solidFill>
              <a:srgbClr val="D6DEEC"/>
            </a:solidFill>
            <a:prstDash val="solid"/>
          </a:ln>
          <a:effectLst>
            <a:outerShdw sx="100000" sy="100000" kx="0" ky="0" algn="bl" rotWithShape="0" blurRad="88900" dist="38100" dir="5400000">
              <a:srgbClr val="8A94AD">
                <a:alpha val="26000"/>
              </a:srgbClr>
            </a:outerShdw>
          </a:effectLst>
        </p:spPr>
      </p:sp>
      <p:pic>
        <p:nvPicPr>
          <p:cNvPr id="17" name="Image 0" descr="logos/logo_mdn.png">    </p:cNvPr>
          <p:cNvPicPr>
            <a:picLocks noChangeAspect="1"/>
          </p:cNvPicPr>
          <p:nvPr/>
        </p:nvPicPr>
        <p:blipFill>
          <a:blip r:embed="rId1"/>
          <a:stretch>
            <a:fillRect/>
          </a:stretch>
        </p:blipFill>
        <p:spPr>
          <a:xfrm>
            <a:off x="11237976" y="5952744"/>
            <a:ext cx="713232" cy="71323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4285F4"/>
          </a:solidFill>
          <a:ln/>
        </p:spPr>
      </p:sp>
      <p:sp>
        <p:nvSpPr>
          <p:cNvPr id="3" name="Shape 1"/>
          <p:cNvSpPr/>
          <p:nvPr/>
        </p:nvSpPr>
        <p:spPr>
          <a:xfrm>
            <a:off x="146304" y="0"/>
            <a:ext cx="12042648" cy="1078992"/>
          </a:xfrm>
          <a:prstGeom prst="rect">
            <a:avLst/>
          </a:prstGeom>
          <a:solidFill>
            <a:srgbClr val="1B2A4A"/>
          </a:solidFill>
          <a:ln/>
        </p:spPr>
      </p:sp>
      <p:sp>
        <p:nvSpPr>
          <p:cNvPr id="4" name="Text 2"/>
          <p:cNvSpPr/>
          <p:nvPr/>
        </p:nvSpPr>
        <p:spPr>
          <a:xfrm>
            <a:off x="548640" y="182880"/>
            <a:ext cx="9601200" cy="292608"/>
          </a:xfrm>
          <a:prstGeom prst="rect">
            <a:avLst/>
          </a:prstGeom>
          <a:noFill/>
          <a:ln/>
        </p:spPr>
        <p:txBody>
          <a:bodyPr wrap="square" lIns="0" tIns="0" rIns="0" bIns="0" rtlCol="0" anchor="ctr"/>
          <a:lstStyle/>
          <a:p>
            <a:pPr indent="0" marL="0">
              <a:buNone/>
            </a:pPr>
            <a:r>
              <a:rPr lang="en-US" sz="1200" b="1" spc="150" kern="0" dirty="0">
                <a:solidFill>
                  <a:srgbClr val="8AB4F8"/>
                </a:solidFill>
                <a:latin typeface="Calibri" pitchFamily="34" charset="0"/>
                <a:ea typeface="Calibri" pitchFamily="34" charset="-122"/>
                <a:cs typeface="Calibri" pitchFamily="34" charset="-120"/>
              </a:rPr>
              <a:t>CONFIGURATION UNIQUE DU PROJET</a:t>
            </a:r>
            <a:endParaRPr lang="en-US" sz="1200" dirty="0"/>
          </a:p>
        </p:txBody>
      </p:sp>
      <p:sp>
        <p:nvSpPr>
          <p:cNvPr id="5" name="Text 3"/>
          <p:cNvSpPr/>
          <p:nvPr/>
        </p:nvSpPr>
        <p:spPr>
          <a:xfrm>
            <a:off x="530352" y="438912"/>
            <a:ext cx="9692640" cy="566928"/>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Installer &amp; configurer gcloud</a:t>
            </a:r>
            <a:endParaRPr lang="en-US" sz="2700" dirty="0"/>
          </a:p>
        </p:txBody>
      </p:sp>
      <p:sp>
        <p:nvSpPr>
          <p:cNvPr id="6" name="Text 4"/>
          <p:cNvSpPr/>
          <p:nvPr/>
        </p:nvSpPr>
        <p:spPr>
          <a:xfrm>
            <a:off x="8229600" y="182880"/>
            <a:ext cx="1828800" cy="274320"/>
          </a:xfrm>
          <a:prstGeom prst="rect">
            <a:avLst/>
          </a:prstGeom>
          <a:noFill/>
          <a:ln/>
        </p:spPr>
        <p:txBody>
          <a:bodyPr wrap="square" lIns="0" tIns="0" rIns="0" bIns="0" rtlCol="0" anchor="ctr"/>
          <a:lstStyle/>
          <a:p>
            <a:pPr algn="r" indent="0" marL="0">
              <a:buNone/>
            </a:pPr>
            <a:r>
              <a:rPr lang="en-US" sz="1050" b="1" spc="100" kern="0" dirty="0">
                <a:solidFill>
                  <a:srgbClr val="8FA0C4"/>
                </a:solidFill>
                <a:latin typeface="Calibri" pitchFamily="34" charset="0"/>
                <a:ea typeface="Calibri" pitchFamily="34" charset="-122"/>
                <a:cs typeface="Calibri" pitchFamily="34" charset="-120"/>
              </a:rPr>
              <a:t>PARTIE 1</a:t>
            </a:r>
            <a:endParaRPr lang="en-US" sz="1050" dirty="0"/>
          </a:p>
        </p:txBody>
      </p:sp>
      <p:sp>
        <p:nvSpPr>
          <p:cNvPr id="7" name="Shape 5"/>
          <p:cNvSpPr/>
          <p:nvPr/>
        </p:nvSpPr>
        <p:spPr>
          <a:xfrm>
            <a:off x="548640" y="1371600"/>
            <a:ext cx="384048" cy="384048"/>
          </a:xfrm>
          <a:prstGeom prst="ellipse">
            <a:avLst/>
          </a:prstGeom>
          <a:solidFill>
            <a:srgbClr val="4285F4"/>
          </a:solidFill>
          <a:ln/>
        </p:spPr>
      </p:sp>
      <p:sp>
        <p:nvSpPr>
          <p:cNvPr id="8" name="Text 6"/>
          <p:cNvSpPr/>
          <p:nvPr/>
        </p:nvSpPr>
        <p:spPr>
          <a:xfrm>
            <a:off x="548640" y="13716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078992" y="1316736"/>
            <a:ext cx="4956048" cy="914400"/>
          </a:xfrm>
          <a:prstGeom prst="rect">
            <a:avLst/>
          </a:prstGeom>
          <a:noFill/>
          <a:ln/>
        </p:spPr>
        <p:txBody>
          <a:bodyPr wrap="square" lIns="0" tIns="0" rIns="0" bIns="0" rtlCol="0" anchor="t"/>
          <a:lstStyle/>
          <a:p>
            <a:pPr indent="0" marL="0">
              <a:buNone/>
            </a:pPr>
            <a:r>
              <a:rPr lang="en-US" sz="1350" b="1" dirty="0">
                <a:solidFill>
                  <a:srgbClr val="202124"/>
                </a:solidFill>
                <a:latin typeface="Calibri" pitchFamily="34" charset="0"/>
                <a:ea typeface="Calibri" pitchFamily="34" charset="-122"/>
                <a:cs typeface="Calibri" pitchFamily="34" charset="-120"/>
              </a:rPr>
              <a:t>Installer &amp; s'authentifier
</a:t>
            </a:r>
            <a:endParaRPr lang="en-US" sz="1350" dirty="0"/>
          </a:p>
          <a:p>
            <a:pPr indent="0" marL="0">
              <a:buNone/>
            </a:pPr>
            <a:r>
              <a:rPr lang="en-US" sz="1150" dirty="0">
                <a:solidFill>
                  <a:srgbClr val="5F6368"/>
                </a:solidFill>
                <a:latin typeface="Calibri" pitchFamily="34" charset="0"/>
                <a:ea typeface="Calibri" pitchFamily="34" charset="-122"/>
                <a:cs typeface="Calibri" pitchFamily="34" charset="-120"/>
              </a:rPr>
              <a:t>gcloud auth login + application-default login</a:t>
            </a:r>
            <a:endParaRPr lang="en-US" sz="1350" dirty="0"/>
          </a:p>
        </p:txBody>
      </p:sp>
      <p:sp>
        <p:nvSpPr>
          <p:cNvPr id="10" name="Shape 8"/>
          <p:cNvSpPr/>
          <p:nvPr/>
        </p:nvSpPr>
        <p:spPr>
          <a:xfrm>
            <a:off x="548640" y="2286000"/>
            <a:ext cx="384048" cy="384048"/>
          </a:xfrm>
          <a:prstGeom prst="ellipse">
            <a:avLst/>
          </a:prstGeom>
          <a:solidFill>
            <a:srgbClr val="4285F4"/>
          </a:solidFill>
          <a:ln/>
        </p:spPr>
      </p:sp>
      <p:sp>
        <p:nvSpPr>
          <p:cNvPr id="11" name="Text 9"/>
          <p:cNvSpPr/>
          <p:nvPr/>
        </p:nvSpPr>
        <p:spPr>
          <a:xfrm>
            <a:off x="548640" y="22860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078992" y="2231136"/>
            <a:ext cx="4956048" cy="914400"/>
          </a:xfrm>
          <a:prstGeom prst="rect">
            <a:avLst/>
          </a:prstGeom>
          <a:noFill/>
          <a:ln/>
        </p:spPr>
        <p:txBody>
          <a:bodyPr wrap="square" lIns="0" tIns="0" rIns="0" bIns="0" rtlCol="0" anchor="t"/>
          <a:lstStyle/>
          <a:p>
            <a:pPr indent="0" marL="0">
              <a:buNone/>
            </a:pPr>
            <a:r>
              <a:rPr lang="en-US" sz="1350" b="1" dirty="0">
                <a:solidFill>
                  <a:srgbClr val="202124"/>
                </a:solidFill>
                <a:latin typeface="Calibri" pitchFamily="34" charset="0"/>
                <a:ea typeface="Calibri" pitchFamily="34" charset="-122"/>
                <a:cs typeface="Calibri" pitchFamily="34" charset="-120"/>
              </a:rPr>
              <a:t>Créer ou sélectionner le projet
</a:t>
            </a:r>
            <a:endParaRPr lang="en-US" sz="1350" dirty="0"/>
          </a:p>
          <a:p>
            <a:pPr indent="0" marL="0">
              <a:buNone/>
            </a:pPr>
            <a:r>
              <a:rPr lang="en-US" sz="1150" dirty="0">
                <a:solidFill>
                  <a:srgbClr val="5F6368"/>
                </a:solidFill>
                <a:latin typeface="Calibri" pitchFamily="34" charset="0"/>
                <a:ea typeface="Calibri" pitchFamily="34" charset="-122"/>
                <a:cs typeface="Calibri" pitchFamily="34" charset="-120"/>
              </a:rPr>
              <a:t>projet mgvaovao-ia</a:t>
            </a:r>
            <a:endParaRPr lang="en-US" sz="1350" dirty="0"/>
          </a:p>
        </p:txBody>
      </p:sp>
      <p:sp>
        <p:nvSpPr>
          <p:cNvPr id="13" name="Shape 11"/>
          <p:cNvSpPr/>
          <p:nvPr/>
        </p:nvSpPr>
        <p:spPr>
          <a:xfrm>
            <a:off x="548640" y="3200400"/>
            <a:ext cx="384048" cy="384048"/>
          </a:xfrm>
          <a:prstGeom prst="ellipse">
            <a:avLst/>
          </a:prstGeom>
          <a:solidFill>
            <a:srgbClr val="4285F4"/>
          </a:solidFill>
          <a:ln/>
        </p:spPr>
      </p:sp>
      <p:sp>
        <p:nvSpPr>
          <p:cNvPr id="14" name="Text 12"/>
          <p:cNvSpPr/>
          <p:nvPr/>
        </p:nvSpPr>
        <p:spPr>
          <a:xfrm>
            <a:off x="548640" y="32004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078992" y="3145536"/>
            <a:ext cx="4956048" cy="914400"/>
          </a:xfrm>
          <a:prstGeom prst="rect">
            <a:avLst/>
          </a:prstGeom>
          <a:noFill/>
          <a:ln/>
        </p:spPr>
        <p:txBody>
          <a:bodyPr wrap="square" lIns="0" tIns="0" rIns="0" bIns="0" rtlCol="0" anchor="t"/>
          <a:lstStyle/>
          <a:p>
            <a:pPr indent="0" marL="0">
              <a:buNone/>
            </a:pPr>
            <a:r>
              <a:rPr lang="en-US" sz="1350" b="1" dirty="0">
                <a:solidFill>
                  <a:srgbClr val="202124"/>
                </a:solidFill>
                <a:latin typeface="Calibri" pitchFamily="34" charset="0"/>
                <a:ea typeface="Calibri" pitchFamily="34" charset="-122"/>
                <a:cs typeface="Calibri" pitchFamily="34" charset="-120"/>
              </a:rPr>
              <a:t>Activer la facturation
</a:t>
            </a:r>
            <a:endParaRPr lang="en-US" sz="1350" dirty="0"/>
          </a:p>
          <a:p>
            <a:pPr indent="0" marL="0">
              <a:buNone/>
            </a:pPr>
            <a:r>
              <a:rPr lang="en-US" sz="1150" dirty="0">
                <a:solidFill>
                  <a:srgbClr val="5F6368"/>
                </a:solidFill>
                <a:latin typeface="Calibri" pitchFamily="34" charset="0"/>
                <a:ea typeface="Calibri" pitchFamily="34" charset="-122"/>
                <a:cs typeface="Calibri" pitchFamily="34" charset="-120"/>
              </a:rPr>
              <a:t>Console → Billing → lier un compte</a:t>
            </a:r>
            <a:endParaRPr lang="en-US" sz="1350" dirty="0"/>
          </a:p>
        </p:txBody>
      </p:sp>
      <p:sp>
        <p:nvSpPr>
          <p:cNvPr id="16" name="Shape 14"/>
          <p:cNvSpPr/>
          <p:nvPr/>
        </p:nvSpPr>
        <p:spPr>
          <a:xfrm>
            <a:off x="548640" y="4114800"/>
            <a:ext cx="384048" cy="384048"/>
          </a:xfrm>
          <a:prstGeom prst="ellipse">
            <a:avLst/>
          </a:prstGeom>
          <a:solidFill>
            <a:srgbClr val="4285F4"/>
          </a:solidFill>
          <a:ln/>
        </p:spPr>
      </p:sp>
      <p:sp>
        <p:nvSpPr>
          <p:cNvPr id="17" name="Text 15"/>
          <p:cNvSpPr/>
          <p:nvPr/>
        </p:nvSpPr>
        <p:spPr>
          <a:xfrm>
            <a:off x="548640" y="41148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1078992" y="4059936"/>
            <a:ext cx="4956048" cy="914400"/>
          </a:xfrm>
          <a:prstGeom prst="rect">
            <a:avLst/>
          </a:prstGeom>
          <a:noFill/>
          <a:ln/>
        </p:spPr>
        <p:txBody>
          <a:bodyPr wrap="square" lIns="0" tIns="0" rIns="0" bIns="0" rtlCol="0" anchor="t"/>
          <a:lstStyle/>
          <a:p>
            <a:pPr indent="0" marL="0">
              <a:buNone/>
            </a:pPr>
            <a:r>
              <a:rPr lang="en-US" sz="1350" b="1" dirty="0">
                <a:solidFill>
                  <a:srgbClr val="202124"/>
                </a:solidFill>
                <a:latin typeface="Calibri" pitchFamily="34" charset="0"/>
                <a:ea typeface="Calibri" pitchFamily="34" charset="-122"/>
                <a:cs typeface="Calibri" pitchFamily="34" charset="-120"/>
              </a:rPr>
              <a:t>Noter le numéro de projet
</a:t>
            </a:r>
            <a:endParaRPr lang="en-US" sz="1350" dirty="0"/>
          </a:p>
          <a:p>
            <a:pPr indent="0" marL="0">
              <a:buNone/>
            </a:pPr>
            <a:r>
              <a:rPr lang="en-US" sz="1150" dirty="0">
                <a:solidFill>
                  <a:srgbClr val="5F6368"/>
                </a:solidFill>
                <a:latin typeface="Calibri" pitchFamily="34" charset="0"/>
                <a:ea typeface="Calibri" pitchFamily="34" charset="-122"/>
                <a:cs typeface="Calibri" pitchFamily="34" charset="-120"/>
              </a:rPr>
              <a:t>nécessaire pour les bindings IAM</a:t>
            </a:r>
            <a:endParaRPr lang="en-US" sz="1350" dirty="0"/>
          </a:p>
        </p:txBody>
      </p:sp>
      <p:sp>
        <p:nvSpPr>
          <p:cNvPr id="19" name="Shape 17"/>
          <p:cNvSpPr/>
          <p:nvPr/>
        </p:nvSpPr>
        <p:spPr>
          <a:xfrm>
            <a:off x="548640" y="5029200"/>
            <a:ext cx="384048" cy="384048"/>
          </a:xfrm>
          <a:prstGeom prst="ellipse">
            <a:avLst/>
          </a:prstGeom>
          <a:solidFill>
            <a:srgbClr val="4285F4"/>
          </a:solidFill>
          <a:ln/>
        </p:spPr>
      </p:sp>
      <p:sp>
        <p:nvSpPr>
          <p:cNvPr id="20" name="Text 18"/>
          <p:cNvSpPr/>
          <p:nvPr/>
        </p:nvSpPr>
        <p:spPr>
          <a:xfrm>
            <a:off x="548640" y="50292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1" name="Text 19"/>
          <p:cNvSpPr/>
          <p:nvPr/>
        </p:nvSpPr>
        <p:spPr>
          <a:xfrm>
            <a:off x="1078992" y="4974336"/>
            <a:ext cx="4956048" cy="914400"/>
          </a:xfrm>
          <a:prstGeom prst="rect">
            <a:avLst/>
          </a:prstGeom>
          <a:noFill/>
          <a:ln/>
        </p:spPr>
        <p:txBody>
          <a:bodyPr wrap="square" lIns="0" tIns="0" rIns="0" bIns="0" rtlCol="0" anchor="t"/>
          <a:lstStyle/>
          <a:p>
            <a:pPr indent="0" marL="0">
              <a:buNone/>
            </a:pPr>
            <a:r>
              <a:rPr lang="en-US" sz="1350" b="1" dirty="0">
                <a:solidFill>
                  <a:srgbClr val="202124"/>
                </a:solidFill>
                <a:latin typeface="Calibri" pitchFamily="34" charset="0"/>
                <a:ea typeface="Calibri" pitchFamily="34" charset="-122"/>
                <a:cs typeface="Calibri" pitchFamily="34" charset="-120"/>
              </a:rPr>
              <a:t>Enregistrer un profil gcloud nommé
</a:t>
            </a:r>
            <a:endParaRPr lang="en-US" sz="1350" dirty="0"/>
          </a:p>
          <a:p>
            <a:pPr indent="0" marL="0">
              <a:buNone/>
            </a:pPr>
            <a:r>
              <a:rPr lang="en-US" sz="1150" dirty="0">
                <a:solidFill>
                  <a:srgbClr val="5F6368"/>
                </a:solidFill>
                <a:latin typeface="Calibri" pitchFamily="34" charset="0"/>
                <a:ea typeface="Calibri" pitchFamily="34" charset="-122"/>
                <a:cs typeface="Calibri" pitchFamily="34" charset="-120"/>
              </a:rPr>
              <a:t>évite de retaper projet/région</a:t>
            </a:r>
            <a:endParaRPr lang="en-US" sz="1350" dirty="0"/>
          </a:p>
        </p:txBody>
      </p:sp>
      <p:sp>
        <p:nvSpPr>
          <p:cNvPr id="22" name="Shape 20"/>
          <p:cNvSpPr/>
          <p:nvPr/>
        </p:nvSpPr>
        <p:spPr>
          <a:xfrm>
            <a:off x="6309360" y="1371600"/>
            <a:ext cx="5349240" cy="4572000"/>
          </a:xfrm>
          <a:prstGeom prst="rect">
            <a:avLst/>
          </a:prstGeom>
          <a:solidFill>
            <a:srgbClr val="0E1A33"/>
          </a:solidFill>
          <a:ln/>
          <a:effectLst>
            <a:outerShdw sx="100000" sy="100000" kx="0" ky="0" algn="bl" rotWithShape="0" blurRad="88900" dist="38100" dir="5400000">
              <a:srgbClr val="8A94AD">
                <a:alpha val="26000"/>
              </a:srgbClr>
            </a:outerShdw>
          </a:effectLst>
        </p:spPr>
      </p:sp>
      <p:sp>
        <p:nvSpPr>
          <p:cNvPr id="23" name="Text 21"/>
          <p:cNvSpPr/>
          <p:nvPr/>
        </p:nvSpPr>
        <p:spPr>
          <a:xfrm>
            <a:off x="6473952" y="1481328"/>
            <a:ext cx="5020056" cy="4352544"/>
          </a:xfrm>
          <a:prstGeom prst="rect">
            <a:avLst/>
          </a:prstGeom>
          <a:noFill/>
          <a:ln/>
        </p:spPr>
        <p:txBody>
          <a:bodyPr wrap="square" lIns="0" tIns="0" rIns="0" bIns="0" rtlCol="0" anchor="t"/>
          <a:lstStyle/>
          <a:p>
            <a:pPr indent="0" marL="0">
              <a:buNone/>
            </a:pPr>
            <a:r>
              <a:rPr lang="en-US" sz="950" dirty="0">
                <a:solidFill>
                  <a:srgbClr val="7F8CA8"/>
                </a:solidFill>
                <a:latin typeface="Consolas" pitchFamily="34" charset="0"/>
                <a:ea typeface="Consolas" pitchFamily="34" charset="-122"/>
                <a:cs typeface="Consolas" pitchFamily="34" charset="-120"/>
              </a:rPr>
              <a:t># 1. Authentification</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gcloud auth login</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gcloud auth application-default login</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a:t>
            </a:r>
            <a:endParaRPr lang="en-US" sz="950" dirty="0"/>
          </a:p>
          <a:p>
            <a:pPr indent="0" marL="0">
              <a:buNone/>
            </a:pPr>
            <a:r>
              <a:rPr lang="en-US" sz="950" dirty="0">
                <a:solidFill>
                  <a:srgbClr val="7F8CA8"/>
                </a:solidFill>
                <a:latin typeface="Consolas" pitchFamily="34" charset="0"/>
                <a:ea typeface="Consolas" pitchFamily="34" charset="-122"/>
                <a:cs typeface="Consolas" pitchFamily="34" charset="-120"/>
              </a:rPr>
              <a:t># 2-3. Projet + facturation (Console)</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gcloud projects create mgvaovao-ia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--name="MGVaovao IA"</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gcloud config set project mgvaovao-ia</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a:t>
            </a:r>
            <a:endParaRPr lang="en-US" sz="950" dirty="0"/>
          </a:p>
          <a:p>
            <a:pPr indent="0" marL="0">
              <a:buNone/>
            </a:pPr>
            <a:r>
              <a:rPr lang="en-US" sz="950" dirty="0">
                <a:solidFill>
                  <a:srgbClr val="7F8CA8"/>
                </a:solidFill>
                <a:latin typeface="Consolas" pitchFamily="34" charset="0"/>
                <a:ea typeface="Consolas" pitchFamily="34" charset="-122"/>
                <a:cs typeface="Consolas" pitchFamily="34" charset="-120"/>
              </a:rPr>
              <a:t># 4. Numéro de projet</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gcloud projects describe mgvaovao-ia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--format="value(projectNumber)"</a:t>
            </a:r>
            <a:endParaRPr lang="en-US" sz="950" dirty="0"/>
          </a:p>
          <a:p>
            <a:pPr indent="0" marL="0">
              <a:buNone/>
            </a:pPr>
            <a:r>
              <a:rPr lang="en-US" sz="950" dirty="0">
                <a:solidFill>
                  <a:srgbClr val="7F8CA8"/>
                </a:solidFill>
                <a:latin typeface="Consolas" pitchFamily="34" charset="0"/>
                <a:ea typeface="Consolas" pitchFamily="34" charset="-122"/>
                <a:cs typeface="Consolas" pitchFamily="34" charset="-120"/>
              </a:rPr>
              <a:t># -&gt; 97374817504</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a:t>
            </a:r>
            <a:endParaRPr lang="en-US" sz="950" dirty="0"/>
          </a:p>
          <a:p>
            <a:pPr indent="0" marL="0">
              <a:buNone/>
            </a:pPr>
            <a:r>
              <a:rPr lang="en-US" sz="950" dirty="0">
                <a:solidFill>
                  <a:srgbClr val="7F8CA8"/>
                </a:solidFill>
                <a:latin typeface="Consolas" pitchFamily="34" charset="0"/>
                <a:ea typeface="Consolas" pitchFamily="34" charset="-122"/>
                <a:cs typeface="Consolas" pitchFamily="34" charset="-120"/>
              </a:rPr>
              <a:t># 5. Profil nommé</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gcloud config configurations create mgvaovao</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gcloud config set compute/region us-central1</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gcloud config set compute/zone us-central1-a</a:t>
            </a:r>
            <a:endParaRPr lang="en-US" sz="950" dirty="0"/>
          </a:p>
        </p:txBody>
      </p:sp>
      <p:sp>
        <p:nvSpPr>
          <p:cNvPr id="24" name="Text 22"/>
          <p:cNvSpPr/>
          <p:nvPr/>
        </p:nvSpPr>
        <p:spPr>
          <a:xfrm>
            <a:off x="548640" y="6510528"/>
            <a:ext cx="11155680" cy="274320"/>
          </a:xfrm>
          <a:prstGeom prst="rect">
            <a:avLst/>
          </a:prstGeom>
          <a:noFill/>
          <a:ln/>
        </p:spPr>
        <p:txBody>
          <a:bodyPr wrap="square" lIns="0" tIns="0" rIns="0" bIns="0" rtlCol="0" anchor="ctr"/>
          <a:lstStyle/>
          <a:p>
            <a:pPr indent="0" marL="0">
              <a:buNone/>
            </a:pPr>
            <a:r>
              <a:rPr lang="en-US" sz="950" i="1" dirty="0">
                <a:solidFill>
                  <a:srgbClr val="5F6368"/>
                </a:solidFill>
                <a:latin typeface="Calibri" pitchFamily="34" charset="0"/>
                <a:ea typeface="Calibri" pitchFamily="34" charset="-122"/>
                <a:cs typeface="Calibri" pitchFamily="34" charset="-120"/>
              </a:rPr>
              <a:t>Source : README §18.1 — Steps 1, 2, 3, 8</a:t>
            </a:r>
            <a:endParaRPr lang="en-US" sz="950" dirty="0"/>
          </a:p>
        </p:txBody>
      </p:sp>
      <p:sp>
        <p:nvSpPr>
          <p:cNvPr id="25" name="Text 23"/>
          <p:cNvSpPr/>
          <p:nvPr/>
        </p:nvSpPr>
        <p:spPr>
          <a:xfrm>
            <a:off x="2103120" y="6099048"/>
            <a:ext cx="3200400" cy="182880"/>
          </a:xfrm>
          <a:prstGeom prst="rect">
            <a:avLst/>
          </a:prstGeom>
          <a:noFill/>
          <a:ln/>
        </p:spPr>
        <p:txBody>
          <a:bodyPr wrap="square" lIns="0" tIns="0" rIns="0" bIns="0" rtlCol="0" anchor="ctr"/>
          <a:lstStyle/>
          <a:p>
            <a:pPr indent="0" marL="0">
              <a:buNone/>
            </a:pPr>
            <a:r>
              <a:rPr lang="en-US" sz="850" b="1" dirty="0">
                <a:solidFill>
                  <a:srgbClr val="97A1B5"/>
                </a:solidFill>
                <a:latin typeface="Calibri" pitchFamily="34" charset="0"/>
                <a:ea typeface="Calibri" pitchFamily="34" charset="-122"/>
                <a:cs typeface="Calibri" pitchFamily="34" charset="-120"/>
              </a:rPr>
              <a:t>Tsantaniaina Rakotonjanahary Ambaorasoa Guillaume</a:t>
            </a:r>
            <a:endParaRPr lang="en-US" sz="850" dirty="0"/>
          </a:p>
        </p:txBody>
      </p:sp>
      <p:sp>
        <p:nvSpPr>
          <p:cNvPr id="26" name="Shape 24"/>
          <p:cNvSpPr/>
          <p:nvPr/>
        </p:nvSpPr>
        <p:spPr>
          <a:xfrm>
            <a:off x="11137392" y="5852160"/>
            <a:ext cx="914400" cy="914400"/>
          </a:xfrm>
          <a:prstGeom prst="roundRect">
            <a:avLst>
              <a:gd name="adj" fmla="val 10000"/>
            </a:avLst>
          </a:prstGeom>
          <a:solidFill>
            <a:srgbClr val="FFFFFF"/>
          </a:solidFill>
          <a:ln w="12700">
            <a:solidFill>
              <a:srgbClr val="D6DEEC"/>
            </a:solidFill>
            <a:prstDash val="solid"/>
          </a:ln>
          <a:effectLst>
            <a:outerShdw sx="100000" sy="100000" kx="0" ky="0" algn="bl" rotWithShape="0" blurRad="88900" dist="38100" dir="5400000">
              <a:srgbClr val="8A94AD">
                <a:alpha val="26000"/>
              </a:srgbClr>
            </a:outerShdw>
          </a:effectLst>
        </p:spPr>
      </p:sp>
      <p:pic>
        <p:nvPicPr>
          <p:cNvPr id="27" name="Image 0" descr="logos/logo_mdn.png">    </p:cNvPr>
          <p:cNvPicPr>
            <a:picLocks noChangeAspect="1"/>
          </p:cNvPicPr>
          <p:nvPr/>
        </p:nvPicPr>
        <p:blipFill>
          <a:blip r:embed="rId1"/>
          <a:stretch>
            <a:fillRect/>
          </a:stretch>
        </p:blipFill>
        <p:spPr>
          <a:xfrm>
            <a:off x="11237976" y="5952744"/>
            <a:ext cx="713232" cy="71323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4285F4"/>
          </a:solidFill>
          <a:ln/>
        </p:spPr>
      </p:sp>
      <p:sp>
        <p:nvSpPr>
          <p:cNvPr id="3" name="Shape 1"/>
          <p:cNvSpPr/>
          <p:nvPr/>
        </p:nvSpPr>
        <p:spPr>
          <a:xfrm>
            <a:off x="146304" y="0"/>
            <a:ext cx="12042648" cy="1078992"/>
          </a:xfrm>
          <a:prstGeom prst="rect">
            <a:avLst/>
          </a:prstGeom>
          <a:solidFill>
            <a:srgbClr val="1B2A4A"/>
          </a:solidFill>
          <a:ln/>
        </p:spPr>
      </p:sp>
      <p:sp>
        <p:nvSpPr>
          <p:cNvPr id="4" name="Text 2"/>
          <p:cNvSpPr/>
          <p:nvPr/>
        </p:nvSpPr>
        <p:spPr>
          <a:xfrm>
            <a:off x="548640" y="182880"/>
            <a:ext cx="9601200" cy="292608"/>
          </a:xfrm>
          <a:prstGeom prst="rect">
            <a:avLst/>
          </a:prstGeom>
          <a:noFill/>
          <a:ln/>
        </p:spPr>
        <p:txBody>
          <a:bodyPr wrap="square" lIns="0" tIns="0" rIns="0" bIns="0" rtlCol="0" anchor="ctr"/>
          <a:lstStyle/>
          <a:p>
            <a:pPr indent="0" marL="0">
              <a:buNone/>
            </a:pPr>
            <a:r>
              <a:rPr lang="en-US" sz="1200" b="1" spc="150" kern="0" dirty="0">
                <a:solidFill>
                  <a:srgbClr val="8AB4F8"/>
                </a:solidFill>
                <a:latin typeface="Calibri" pitchFamily="34" charset="0"/>
                <a:ea typeface="Calibri" pitchFamily="34" charset="-122"/>
                <a:cs typeface="Calibri" pitchFamily="34" charset="-120"/>
              </a:rPr>
              <a:t>UNE SEULE COMMANDE</a:t>
            </a:r>
            <a:endParaRPr lang="en-US" sz="1200" dirty="0"/>
          </a:p>
        </p:txBody>
      </p:sp>
      <p:sp>
        <p:nvSpPr>
          <p:cNvPr id="5" name="Text 3"/>
          <p:cNvSpPr/>
          <p:nvPr/>
        </p:nvSpPr>
        <p:spPr>
          <a:xfrm>
            <a:off x="530352" y="438912"/>
            <a:ext cx="9692640" cy="566928"/>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Activer les APIs</a:t>
            </a:r>
            <a:endParaRPr lang="en-US" sz="2700" dirty="0"/>
          </a:p>
        </p:txBody>
      </p:sp>
      <p:sp>
        <p:nvSpPr>
          <p:cNvPr id="6" name="Text 4"/>
          <p:cNvSpPr/>
          <p:nvPr/>
        </p:nvSpPr>
        <p:spPr>
          <a:xfrm>
            <a:off x="8229600" y="182880"/>
            <a:ext cx="1828800" cy="274320"/>
          </a:xfrm>
          <a:prstGeom prst="rect">
            <a:avLst/>
          </a:prstGeom>
          <a:noFill/>
          <a:ln/>
        </p:spPr>
        <p:txBody>
          <a:bodyPr wrap="square" lIns="0" tIns="0" rIns="0" bIns="0" rtlCol="0" anchor="ctr"/>
          <a:lstStyle/>
          <a:p>
            <a:pPr algn="r" indent="0" marL="0">
              <a:buNone/>
            </a:pPr>
            <a:r>
              <a:rPr lang="en-US" sz="1050" b="1" spc="100" kern="0" dirty="0">
                <a:solidFill>
                  <a:srgbClr val="8FA0C4"/>
                </a:solidFill>
                <a:latin typeface="Calibri" pitchFamily="34" charset="0"/>
                <a:ea typeface="Calibri" pitchFamily="34" charset="-122"/>
                <a:cs typeface="Calibri" pitchFamily="34" charset="-120"/>
              </a:rPr>
              <a:t>PARTIE 1</a:t>
            </a:r>
            <a:endParaRPr lang="en-US" sz="1050" dirty="0"/>
          </a:p>
        </p:txBody>
      </p:sp>
      <p:sp>
        <p:nvSpPr>
          <p:cNvPr id="7" name="Text 5"/>
          <p:cNvSpPr/>
          <p:nvPr/>
        </p:nvSpPr>
        <p:spPr>
          <a:xfrm>
            <a:off x="548640" y="1325880"/>
            <a:ext cx="11064240" cy="548640"/>
          </a:xfrm>
          <a:prstGeom prst="rect">
            <a:avLst/>
          </a:prstGeom>
          <a:noFill/>
          <a:ln/>
        </p:spPr>
        <p:txBody>
          <a:bodyPr wrap="square" lIns="0" tIns="0" rIns="0" bIns="0" rtlCol="0" anchor="t"/>
          <a:lstStyle/>
          <a:p>
            <a:pPr indent="0" marL="0">
              <a:buNone/>
            </a:pPr>
            <a:r>
              <a:rPr lang="en-US" sz="1350" dirty="0">
                <a:solidFill>
                  <a:srgbClr val="202124"/>
                </a:solidFill>
                <a:latin typeface="Calibri" pitchFamily="34" charset="0"/>
                <a:ea typeface="Calibri" pitchFamily="34" charset="-122"/>
                <a:cs typeface="Calibri" pitchFamily="34" charset="-120"/>
              </a:rPr>
              <a:t>Activez les 10 services en une commande. L'opération prend 1 à 3 minutes. Chaque API doit être active avant d'utiliser le service correspondant.</a:t>
            </a:r>
            <a:endParaRPr lang="en-US" sz="1350" dirty="0"/>
          </a:p>
        </p:txBody>
      </p:sp>
      <p:sp>
        <p:nvSpPr>
          <p:cNvPr id="8" name="Shape 6"/>
          <p:cNvSpPr/>
          <p:nvPr/>
        </p:nvSpPr>
        <p:spPr>
          <a:xfrm>
            <a:off x="548640" y="2011680"/>
            <a:ext cx="6949440" cy="2743200"/>
          </a:xfrm>
          <a:prstGeom prst="rect">
            <a:avLst/>
          </a:prstGeom>
          <a:solidFill>
            <a:srgbClr val="0E1A33"/>
          </a:solidFill>
          <a:ln/>
          <a:effectLst>
            <a:outerShdw sx="100000" sy="100000" kx="0" ky="0" algn="bl" rotWithShape="0" blurRad="88900" dist="38100" dir="5400000">
              <a:srgbClr val="8A94AD">
                <a:alpha val="26000"/>
              </a:srgbClr>
            </a:outerShdw>
          </a:effectLst>
        </p:spPr>
      </p:sp>
      <p:sp>
        <p:nvSpPr>
          <p:cNvPr id="9" name="Text 7"/>
          <p:cNvSpPr/>
          <p:nvPr/>
        </p:nvSpPr>
        <p:spPr>
          <a:xfrm>
            <a:off x="713232" y="2121408"/>
            <a:ext cx="6620256" cy="2523744"/>
          </a:xfrm>
          <a:prstGeom prst="rect">
            <a:avLst/>
          </a:prstGeom>
          <a:noFill/>
          <a:ln/>
        </p:spPr>
        <p:txBody>
          <a:bodyPr wrap="square" lIns="0" tIns="0" rIns="0" bIns="0" rtlCol="0" anchor="t"/>
          <a:lstStyle/>
          <a:p>
            <a:pPr indent="0" marL="0">
              <a:buNone/>
            </a:pPr>
            <a:r>
              <a:rPr lang="en-US" sz="1100" dirty="0">
                <a:solidFill>
                  <a:srgbClr val="DCE3F2"/>
                </a:solidFill>
                <a:latin typeface="Consolas" pitchFamily="34" charset="0"/>
                <a:ea typeface="Consolas" pitchFamily="34" charset="-122"/>
                <a:cs typeface="Consolas" pitchFamily="34" charset="-120"/>
              </a:rPr>
              <a:t>gcloud services enable \</a:t>
            </a:r>
            <a:endParaRPr lang="en-US" sz="1100" dirty="0"/>
          </a:p>
          <a:p>
            <a:pPr indent="0" marL="0">
              <a:buNone/>
            </a:pPr>
            <a:r>
              <a:rPr lang="en-US" sz="1100" dirty="0">
                <a:solidFill>
                  <a:srgbClr val="DCE3F2"/>
                </a:solidFill>
                <a:latin typeface="Consolas" pitchFamily="34" charset="0"/>
                <a:ea typeface="Consolas" pitchFamily="34" charset="-122"/>
                <a:cs typeface="Consolas" pitchFamily="34" charset="-120"/>
              </a:rPr>
              <a:t>  run.googleapis.com \</a:t>
            </a:r>
            <a:endParaRPr lang="en-US" sz="1100" dirty="0"/>
          </a:p>
          <a:p>
            <a:pPr indent="0" marL="0">
              <a:buNone/>
            </a:pPr>
            <a:r>
              <a:rPr lang="en-US" sz="1100" dirty="0">
                <a:solidFill>
                  <a:srgbClr val="DCE3F2"/>
                </a:solidFill>
                <a:latin typeface="Consolas" pitchFamily="34" charset="0"/>
                <a:ea typeface="Consolas" pitchFamily="34" charset="-122"/>
                <a:cs typeface="Consolas" pitchFamily="34" charset="-120"/>
              </a:rPr>
              <a:t>  artifactregistry.googleapis.com \</a:t>
            </a:r>
            <a:endParaRPr lang="en-US" sz="1100" dirty="0"/>
          </a:p>
          <a:p>
            <a:pPr indent="0" marL="0">
              <a:buNone/>
            </a:pPr>
            <a:r>
              <a:rPr lang="en-US" sz="1100" dirty="0">
                <a:solidFill>
                  <a:srgbClr val="DCE3F2"/>
                </a:solidFill>
                <a:latin typeface="Consolas" pitchFamily="34" charset="0"/>
                <a:ea typeface="Consolas" pitchFamily="34" charset="-122"/>
                <a:cs typeface="Consolas" pitchFamily="34" charset="-120"/>
              </a:rPr>
              <a:t>  cloudbuild.googleapis.com \</a:t>
            </a:r>
            <a:endParaRPr lang="en-US" sz="1100" dirty="0"/>
          </a:p>
          <a:p>
            <a:pPr indent="0" marL="0">
              <a:buNone/>
            </a:pPr>
            <a:r>
              <a:rPr lang="en-US" sz="1100" dirty="0">
                <a:solidFill>
                  <a:srgbClr val="DCE3F2"/>
                </a:solidFill>
                <a:latin typeface="Consolas" pitchFamily="34" charset="0"/>
                <a:ea typeface="Consolas" pitchFamily="34" charset="-122"/>
                <a:cs typeface="Consolas" pitchFamily="34" charset="-120"/>
              </a:rPr>
              <a:t>  storage.googleapis.com \</a:t>
            </a:r>
            <a:endParaRPr lang="en-US" sz="1100" dirty="0"/>
          </a:p>
          <a:p>
            <a:pPr indent="0" marL="0">
              <a:buNone/>
            </a:pPr>
            <a:r>
              <a:rPr lang="en-US" sz="1100" dirty="0">
                <a:solidFill>
                  <a:srgbClr val="DCE3F2"/>
                </a:solidFill>
                <a:latin typeface="Consolas" pitchFamily="34" charset="0"/>
                <a:ea typeface="Consolas" pitchFamily="34" charset="-122"/>
                <a:cs typeface="Consolas" pitchFamily="34" charset="-120"/>
              </a:rPr>
              <a:t>  aiplatform.googleapis.com \</a:t>
            </a:r>
            <a:endParaRPr lang="en-US" sz="1100" dirty="0"/>
          </a:p>
          <a:p>
            <a:pPr indent="0" marL="0">
              <a:buNone/>
            </a:pPr>
            <a:r>
              <a:rPr lang="en-US" sz="1100" dirty="0">
                <a:solidFill>
                  <a:srgbClr val="DCE3F2"/>
                </a:solidFill>
                <a:latin typeface="Consolas" pitchFamily="34" charset="0"/>
                <a:ea typeface="Consolas" pitchFamily="34" charset="-122"/>
                <a:cs typeface="Consolas" pitchFamily="34" charset="-120"/>
              </a:rPr>
              <a:t>  pubsub.googleapis.com \</a:t>
            </a:r>
            <a:endParaRPr lang="en-US" sz="1100" dirty="0"/>
          </a:p>
          <a:p>
            <a:pPr indent="0" marL="0">
              <a:buNone/>
            </a:pPr>
            <a:r>
              <a:rPr lang="en-US" sz="1100" dirty="0">
                <a:solidFill>
                  <a:srgbClr val="DCE3F2"/>
                </a:solidFill>
                <a:latin typeface="Consolas" pitchFamily="34" charset="0"/>
                <a:ea typeface="Consolas" pitchFamily="34" charset="-122"/>
                <a:cs typeface="Consolas" pitchFamily="34" charset="-120"/>
              </a:rPr>
              <a:t>  cloudscheduler.googleapis.com \</a:t>
            </a:r>
            <a:endParaRPr lang="en-US" sz="1100" dirty="0"/>
          </a:p>
          <a:p>
            <a:pPr indent="0" marL="0">
              <a:buNone/>
            </a:pPr>
            <a:r>
              <a:rPr lang="en-US" sz="1100" dirty="0">
                <a:solidFill>
                  <a:srgbClr val="DCE3F2"/>
                </a:solidFill>
                <a:latin typeface="Consolas" pitchFamily="34" charset="0"/>
                <a:ea typeface="Consolas" pitchFamily="34" charset="-122"/>
                <a:cs typeface="Consolas" pitchFamily="34" charset="-120"/>
              </a:rPr>
              <a:t>  logging.googleapis.com \</a:t>
            </a:r>
            <a:endParaRPr lang="en-US" sz="1100" dirty="0"/>
          </a:p>
          <a:p>
            <a:pPr indent="0" marL="0">
              <a:buNone/>
            </a:pPr>
            <a:r>
              <a:rPr lang="en-US" sz="1100" dirty="0">
                <a:solidFill>
                  <a:srgbClr val="DCE3F2"/>
                </a:solidFill>
                <a:latin typeface="Consolas" pitchFamily="34" charset="0"/>
                <a:ea typeface="Consolas" pitchFamily="34" charset="-122"/>
                <a:cs typeface="Consolas" pitchFamily="34" charset="-120"/>
              </a:rPr>
              <a:t>  monitoring.googleapis.com \</a:t>
            </a:r>
            <a:endParaRPr lang="en-US" sz="1100" dirty="0"/>
          </a:p>
          <a:p>
            <a:pPr indent="0" marL="0">
              <a:buNone/>
            </a:pPr>
            <a:r>
              <a:rPr lang="en-US" sz="1100" dirty="0">
                <a:solidFill>
                  <a:srgbClr val="DCE3F2"/>
                </a:solidFill>
                <a:latin typeface="Consolas" pitchFamily="34" charset="0"/>
                <a:ea typeface="Consolas" pitchFamily="34" charset="-122"/>
                <a:cs typeface="Consolas" pitchFamily="34" charset="-120"/>
              </a:rPr>
              <a:t>  iam.googleapis.com \</a:t>
            </a:r>
            <a:endParaRPr lang="en-US" sz="1100" dirty="0"/>
          </a:p>
          <a:p>
            <a:pPr indent="0" marL="0">
              <a:buNone/>
            </a:pPr>
            <a:r>
              <a:rPr lang="en-US" sz="1100" dirty="0">
                <a:solidFill>
                  <a:srgbClr val="DCE3F2"/>
                </a:solidFill>
                <a:latin typeface="Consolas" pitchFamily="34" charset="0"/>
                <a:ea typeface="Consolas" pitchFamily="34" charset="-122"/>
                <a:cs typeface="Consolas" pitchFamily="34" charset="-120"/>
              </a:rPr>
              <a:t>  --project=mgvaovao-ia</a:t>
            </a:r>
            <a:endParaRPr lang="en-US" sz="1100" dirty="0"/>
          </a:p>
        </p:txBody>
      </p:sp>
      <p:sp>
        <p:nvSpPr>
          <p:cNvPr id="10" name="Text 8"/>
          <p:cNvSpPr/>
          <p:nvPr/>
        </p:nvSpPr>
        <p:spPr>
          <a:xfrm>
            <a:off x="7680960" y="2011680"/>
            <a:ext cx="3657600" cy="274320"/>
          </a:xfrm>
          <a:prstGeom prst="rect">
            <a:avLst/>
          </a:prstGeom>
          <a:noFill/>
          <a:ln/>
        </p:spPr>
        <p:txBody>
          <a:bodyPr wrap="square" lIns="0" tIns="0" rIns="0" bIns="0" rtlCol="0" anchor="ctr"/>
          <a:lstStyle/>
          <a:p>
            <a:pPr indent="0" marL="0">
              <a:buNone/>
            </a:pPr>
            <a:r>
              <a:rPr lang="en-US" sz="1300" b="1" spc="100" kern="0" dirty="0">
                <a:solidFill>
                  <a:srgbClr val="1A73E8"/>
                </a:solidFill>
                <a:latin typeface="Calibri" pitchFamily="34" charset="0"/>
                <a:ea typeface="Calibri" pitchFamily="34" charset="-122"/>
                <a:cs typeface="Calibri" pitchFamily="34" charset="-120"/>
              </a:rPr>
              <a:t>VÉRIFIER</a:t>
            </a:r>
            <a:endParaRPr lang="en-US" sz="1300" dirty="0"/>
          </a:p>
        </p:txBody>
      </p:sp>
      <p:sp>
        <p:nvSpPr>
          <p:cNvPr id="11" name="Shape 9"/>
          <p:cNvSpPr/>
          <p:nvPr/>
        </p:nvSpPr>
        <p:spPr>
          <a:xfrm>
            <a:off x="7680960" y="2331720"/>
            <a:ext cx="3977640" cy="1554480"/>
          </a:xfrm>
          <a:prstGeom prst="rect">
            <a:avLst/>
          </a:prstGeom>
          <a:solidFill>
            <a:srgbClr val="0E1A33"/>
          </a:solidFill>
          <a:ln/>
          <a:effectLst>
            <a:outerShdw sx="100000" sy="100000" kx="0" ky="0" algn="bl" rotWithShape="0" blurRad="88900" dist="38100" dir="5400000">
              <a:srgbClr val="8A94AD">
                <a:alpha val="26000"/>
              </a:srgbClr>
            </a:outerShdw>
          </a:effectLst>
        </p:spPr>
      </p:sp>
      <p:sp>
        <p:nvSpPr>
          <p:cNvPr id="12" name="Text 10"/>
          <p:cNvSpPr/>
          <p:nvPr/>
        </p:nvSpPr>
        <p:spPr>
          <a:xfrm>
            <a:off x="7845552" y="2441448"/>
            <a:ext cx="3648456" cy="1335024"/>
          </a:xfrm>
          <a:prstGeom prst="rect">
            <a:avLst/>
          </a:prstGeom>
          <a:noFill/>
          <a:ln/>
        </p:spPr>
        <p:txBody>
          <a:bodyPr wrap="square" lIns="0" tIns="0" rIns="0" bIns="0" rtlCol="0" anchor="t"/>
          <a:lstStyle/>
          <a:p>
            <a:pPr indent="0" marL="0">
              <a:buNone/>
            </a:pPr>
            <a:r>
              <a:rPr lang="en-US" sz="950" dirty="0">
                <a:solidFill>
                  <a:srgbClr val="DCE3F2"/>
                </a:solidFill>
                <a:latin typeface="Consolas" pitchFamily="34" charset="0"/>
                <a:ea typeface="Consolas" pitchFamily="34" charset="-122"/>
                <a:cs typeface="Consolas" pitchFamily="34" charset="-120"/>
              </a:rPr>
              <a:t>gcloud services list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--enabled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--project=mgvaovao-ia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 grep -E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"run|build|aiplatform"</a:t>
            </a:r>
            <a:endParaRPr lang="en-US" sz="950" dirty="0"/>
          </a:p>
        </p:txBody>
      </p:sp>
      <p:sp>
        <p:nvSpPr>
          <p:cNvPr id="13" name="Shape 11"/>
          <p:cNvSpPr/>
          <p:nvPr/>
        </p:nvSpPr>
        <p:spPr>
          <a:xfrm>
            <a:off x="7680960" y="4114800"/>
            <a:ext cx="3977640" cy="1554480"/>
          </a:xfrm>
          <a:prstGeom prst="rect">
            <a:avLst/>
          </a:prstGeom>
          <a:solidFill>
            <a:srgbClr val="EEF2FB"/>
          </a:solidFill>
          <a:ln/>
        </p:spPr>
      </p:sp>
      <p:sp>
        <p:nvSpPr>
          <p:cNvPr id="14" name="Shape 12"/>
          <p:cNvSpPr/>
          <p:nvPr/>
        </p:nvSpPr>
        <p:spPr>
          <a:xfrm>
            <a:off x="7680960" y="4114800"/>
            <a:ext cx="91440" cy="1554480"/>
          </a:xfrm>
          <a:prstGeom prst="rect">
            <a:avLst/>
          </a:prstGeom>
          <a:solidFill>
            <a:srgbClr val="4285F4"/>
          </a:solidFill>
          <a:ln/>
        </p:spPr>
      </p:sp>
      <p:sp>
        <p:nvSpPr>
          <p:cNvPr id="15" name="Text 13"/>
          <p:cNvSpPr/>
          <p:nvPr/>
        </p:nvSpPr>
        <p:spPr>
          <a:xfrm>
            <a:off x="7918704" y="4187952"/>
            <a:ext cx="3593592" cy="1408176"/>
          </a:xfrm>
          <a:prstGeom prst="rect">
            <a:avLst/>
          </a:prstGeom>
          <a:noFill/>
          <a:ln/>
        </p:spPr>
        <p:txBody>
          <a:bodyPr wrap="square" lIns="0" tIns="0" rIns="0" bIns="0" rtlCol="0" anchor="ctr"/>
          <a:lstStyle/>
          <a:p>
            <a:pPr indent="0" marL="0">
              <a:buNone/>
            </a:pPr>
            <a:r>
              <a:rPr lang="en-US" sz="1100" b="1" dirty="0">
                <a:solidFill>
                  <a:srgbClr val="1A73E8"/>
                </a:solidFill>
                <a:latin typeface="Calibri" pitchFamily="34" charset="0"/>
                <a:ea typeface="Calibri" pitchFamily="34" charset="-122"/>
                <a:cs typeface="Calibri" pitchFamily="34" charset="-120"/>
              </a:rPr>
              <a:t>ASTUCE   </a:t>
            </a:r>
            <a:pPr indent="0" marL="0">
              <a:buNone/>
            </a:pPr>
            <a:r>
              <a:rPr lang="en-US" sz="1200" dirty="0">
                <a:solidFill>
                  <a:srgbClr val="202124"/>
                </a:solidFill>
                <a:latin typeface="Calibri" pitchFamily="34" charset="0"/>
                <a:ea typeface="Calibri" pitchFamily="34" charset="-122"/>
                <a:cs typeface="Calibri" pitchFamily="34" charset="-120"/>
              </a:rPr>
              <a:t>Réactiver une API déjà active est sans effet (idempotent). Sautez les étapes déjà faites lors d'une migration.</a:t>
            </a:r>
            <a:endParaRPr lang="en-US" sz="1100" dirty="0"/>
          </a:p>
        </p:txBody>
      </p:sp>
      <p:sp>
        <p:nvSpPr>
          <p:cNvPr id="16" name="Text 14"/>
          <p:cNvSpPr/>
          <p:nvPr/>
        </p:nvSpPr>
        <p:spPr>
          <a:xfrm>
            <a:off x="548640" y="6510528"/>
            <a:ext cx="11155680" cy="274320"/>
          </a:xfrm>
          <a:prstGeom prst="rect">
            <a:avLst/>
          </a:prstGeom>
          <a:noFill/>
          <a:ln/>
        </p:spPr>
        <p:txBody>
          <a:bodyPr wrap="square" lIns="0" tIns="0" rIns="0" bIns="0" rtlCol="0" anchor="ctr"/>
          <a:lstStyle/>
          <a:p>
            <a:pPr indent="0" marL="0">
              <a:buNone/>
            </a:pPr>
            <a:r>
              <a:rPr lang="en-US" sz="950" i="1" dirty="0">
                <a:solidFill>
                  <a:srgbClr val="5F6368"/>
                </a:solidFill>
                <a:latin typeface="Calibri" pitchFamily="34" charset="0"/>
                <a:ea typeface="Calibri" pitchFamily="34" charset="-122"/>
                <a:cs typeface="Calibri" pitchFamily="34" charset="-120"/>
              </a:rPr>
              <a:t>Source : README §18.1 — Step 4</a:t>
            </a:r>
            <a:endParaRPr lang="en-US" sz="950" dirty="0"/>
          </a:p>
        </p:txBody>
      </p:sp>
      <p:sp>
        <p:nvSpPr>
          <p:cNvPr id="17" name="Text 15"/>
          <p:cNvSpPr/>
          <p:nvPr/>
        </p:nvSpPr>
        <p:spPr>
          <a:xfrm>
            <a:off x="3657600" y="5961888"/>
            <a:ext cx="3200400" cy="182880"/>
          </a:xfrm>
          <a:prstGeom prst="rect">
            <a:avLst/>
          </a:prstGeom>
          <a:noFill/>
          <a:ln/>
        </p:spPr>
        <p:txBody>
          <a:bodyPr wrap="square" lIns="0" tIns="0" rIns="0" bIns="0" rtlCol="0" anchor="ctr"/>
          <a:lstStyle/>
          <a:p>
            <a:pPr indent="0" marL="0">
              <a:buNone/>
            </a:pPr>
            <a:r>
              <a:rPr lang="en-US" sz="850" b="1" dirty="0">
                <a:solidFill>
                  <a:srgbClr val="97A1B5"/>
                </a:solidFill>
                <a:latin typeface="Calibri" pitchFamily="34" charset="0"/>
                <a:ea typeface="Calibri" pitchFamily="34" charset="-122"/>
                <a:cs typeface="Calibri" pitchFamily="34" charset="-120"/>
              </a:rPr>
              <a:t>Tsantaniaina Rakotonjanahary Ambaorasoa Guillaume</a:t>
            </a:r>
            <a:endParaRPr lang="en-US" sz="850" dirty="0"/>
          </a:p>
        </p:txBody>
      </p:sp>
      <p:sp>
        <p:nvSpPr>
          <p:cNvPr id="18" name="Shape 16"/>
          <p:cNvSpPr/>
          <p:nvPr/>
        </p:nvSpPr>
        <p:spPr>
          <a:xfrm>
            <a:off x="11137392" y="5852160"/>
            <a:ext cx="914400" cy="914400"/>
          </a:xfrm>
          <a:prstGeom prst="roundRect">
            <a:avLst>
              <a:gd name="adj" fmla="val 10000"/>
            </a:avLst>
          </a:prstGeom>
          <a:solidFill>
            <a:srgbClr val="FFFFFF"/>
          </a:solidFill>
          <a:ln w="12700">
            <a:solidFill>
              <a:srgbClr val="D6DEEC"/>
            </a:solidFill>
            <a:prstDash val="solid"/>
          </a:ln>
          <a:effectLst>
            <a:outerShdw sx="100000" sy="100000" kx="0" ky="0" algn="bl" rotWithShape="0" blurRad="88900" dist="38100" dir="5400000">
              <a:srgbClr val="8A94AD">
                <a:alpha val="26000"/>
              </a:srgbClr>
            </a:outerShdw>
          </a:effectLst>
        </p:spPr>
      </p:sp>
      <p:pic>
        <p:nvPicPr>
          <p:cNvPr id="19" name="Image 0" descr="logos/logo_mdn.png">    </p:cNvPr>
          <p:cNvPicPr>
            <a:picLocks noChangeAspect="1"/>
          </p:cNvPicPr>
          <p:nvPr/>
        </p:nvPicPr>
        <p:blipFill>
          <a:blip r:embed="rId1"/>
          <a:stretch>
            <a:fillRect/>
          </a:stretch>
        </p:blipFill>
        <p:spPr>
          <a:xfrm>
            <a:off x="11237976" y="5952744"/>
            <a:ext cx="713232" cy="71323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F9AB00"/>
          </a:solidFill>
          <a:ln/>
        </p:spPr>
      </p:sp>
      <p:sp>
        <p:nvSpPr>
          <p:cNvPr id="3" name="Text 1"/>
          <p:cNvSpPr/>
          <p:nvPr/>
        </p:nvSpPr>
        <p:spPr>
          <a:xfrm>
            <a:off x="777240" y="1417320"/>
            <a:ext cx="3657600" cy="1645920"/>
          </a:xfrm>
          <a:prstGeom prst="rect">
            <a:avLst/>
          </a:prstGeom>
          <a:noFill/>
          <a:ln/>
        </p:spPr>
        <p:txBody>
          <a:bodyPr wrap="square" lIns="0" tIns="0" rIns="0" bIns="0" rtlCol="0" anchor="ctr"/>
          <a:lstStyle/>
          <a:p>
            <a:pPr indent="0" marL="0">
              <a:buNone/>
            </a:pPr>
            <a:r>
              <a:rPr lang="en-US" sz="12000" b="1" dirty="0">
                <a:solidFill>
                  <a:srgbClr val="26365C"/>
                </a:solidFill>
                <a:latin typeface="Georgia" pitchFamily="34" charset="0"/>
                <a:ea typeface="Georgia" pitchFamily="34" charset="-122"/>
                <a:cs typeface="Georgia" pitchFamily="34" charset="-120"/>
              </a:rPr>
              <a:t>02</a:t>
            </a:r>
            <a:endParaRPr lang="en-US" sz="12000" dirty="0"/>
          </a:p>
        </p:txBody>
      </p:sp>
      <p:sp>
        <p:nvSpPr>
          <p:cNvPr id="4" name="Text 2"/>
          <p:cNvSpPr/>
          <p:nvPr/>
        </p:nvSpPr>
        <p:spPr>
          <a:xfrm>
            <a:off x="868680" y="3246120"/>
            <a:ext cx="10058400" cy="365760"/>
          </a:xfrm>
          <a:prstGeom prst="rect">
            <a:avLst/>
          </a:prstGeom>
          <a:noFill/>
          <a:ln/>
        </p:spPr>
        <p:txBody>
          <a:bodyPr wrap="square" lIns="0" tIns="0" rIns="0" bIns="0" rtlCol="0" anchor="ctr"/>
          <a:lstStyle/>
          <a:p>
            <a:pPr indent="0" marL="0">
              <a:buNone/>
            </a:pPr>
            <a:r>
              <a:rPr lang="en-US" sz="1500" b="1" spc="300" kern="0" dirty="0">
                <a:solidFill>
                  <a:srgbClr val="FDD663"/>
                </a:solidFill>
                <a:latin typeface="Calibri" pitchFamily="34" charset="0"/>
                <a:ea typeface="Calibri" pitchFamily="34" charset="-122"/>
                <a:cs typeface="Calibri" pitchFamily="34" charset="-120"/>
              </a:rPr>
              <a:t>PARTIE 2 — CONCEPTS + CONFIGURATION PAS-À-PAS</a:t>
            </a:r>
            <a:endParaRPr lang="en-US" sz="1500" dirty="0"/>
          </a:p>
        </p:txBody>
      </p:sp>
      <p:sp>
        <p:nvSpPr>
          <p:cNvPr id="5" name="Text 3"/>
          <p:cNvSpPr/>
          <p:nvPr/>
        </p:nvSpPr>
        <p:spPr>
          <a:xfrm>
            <a:off x="822960" y="3611880"/>
            <a:ext cx="10515600" cy="109728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Les services, un par un</a:t>
            </a:r>
            <a:endParaRPr lang="en-US" sz="4000" dirty="0"/>
          </a:p>
        </p:txBody>
      </p:sp>
      <p:sp>
        <p:nvSpPr>
          <p:cNvPr id="6" name="Shape 4"/>
          <p:cNvSpPr/>
          <p:nvPr/>
        </p:nvSpPr>
        <p:spPr>
          <a:xfrm>
            <a:off x="9418320" y="502920"/>
            <a:ext cx="2505456" cy="596646"/>
          </a:xfrm>
          <a:prstGeom prst="roundRect">
            <a:avLst>
              <a:gd name="adj" fmla="val 9195"/>
            </a:avLst>
          </a:prstGeom>
          <a:solidFill>
            <a:srgbClr val="FFFFFF"/>
          </a:solidFill>
          <a:ln/>
          <a:effectLst>
            <a:outerShdw sx="100000" sy="100000" kx="0" ky="0" algn="bl" rotWithShape="0" blurRad="88900" dist="38100" dir="5400000">
              <a:srgbClr val="8A94AD">
                <a:alpha val="26000"/>
              </a:srgbClr>
            </a:outerShdw>
          </a:effectLst>
        </p:spPr>
      </p:sp>
      <p:pic>
        <p:nvPicPr>
          <p:cNvPr id="7" name="Image 0" descr="logos/00_gcp.png">    </p:cNvPr>
          <p:cNvPicPr>
            <a:picLocks noChangeAspect="1"/>
          </p:cNvPicPr>
          <p:nvPr/>
        </p:nvPicPr>
        <p:blipFill>
          <a:blip r:embed="rId1"/>
          <a:stretch>
            <a:fillRect/>
          </a:stretch>
        </p:blipFill>
        <p:spPr>
          <a:xfrm>
            <a:off x="9573768" y="630936"/>
            <a:ext cx="2194560" cy="340614"/>
          </a:xfrm>
          <a:prstGeom prst="rect">
            <a:avLst/>
          </a:prstGeom>
        </p:spPr>
      </p:pic>
      <p:sp>
        <p:nvSpPr>
          <p:cNvPr id="8" name="Shape 5"/>
          <p:cNvSpPr/>
          <p:nvPr/>
        </p:nvSpPr>
        <p:spPr>
          <a:xfrm>
            <a:off x="868680" y="5029200"/>
            <a:ext cx="640080" cy="640080"/>
          </a:xfrm>
          <a:prstGeom prst="roundRect">
            <a:avLst>
              <a:gd name="adj" fmla="val 11429"/>
            </a:avLst>
          </a:prstGeom>
          <a:solidFill>
            <a:srgbClr val="FFFFFF"/>
          </a:solidFill>
          <a:ln/>
        </p:spPr>
      </p:sp>
      <p:pic>
        <p:nvPicPr>
          <p:cNvPr id="9" name="Image 1" descr="logos/10_iam.png">    </p:cNvPr>
          <p:cNvPicPr>
            <a:picLocks noChangeAspect="1"/>
          </p:cNvPicPr>
          <p:nvPr/>
        </p:nvPicPr>
        <p:blipFill>
          <a:blip r:embed="rId2"/>
          <a:stretch>
            <a:fillRect/>
          </a:stretch>
        </p:blipFill>
        <p:spPr>
          <a:xfrm>
            <a:off x="969264" y="5129784"/>
            <a:ext cx="438912" cy="438912"/>
          </a:xfrm>
          <a:prstGeom prst="rect">
            <a:avLst/>
          </a:prstGeom>
        </p:spPr>
      </p:pic>
      <p:sp>
        <p:nvSpPr>
          <p:cNvPr id="10" name="Shape 6"/>
          <p:cNvSpPr/>
          <p:nvPr/>
        </p:nvSpPr>
        <p:spPr>
          <a:xfrm>
            <a:off x="1737360" y="5029200"/>
            <a:ext cx="640080" cy="640080"/>
          </a:xfrm>
          <a:prstGeom prst="roundRect">
            <a:avLst>
              <a:gd name="adj" fmla="val 11429"/>
            </a:avLst>
          </a:prstGeom>
          <a:solidFill>
            <a:srgbClr val="FFFFFF"/>
          </a:solidFill>
          <a:ln/>
        </p:spPr>
      </p:sp>
      <p:pic>
        <p:nvPicPr>
          <p:cNvPr id="11" name="Image 2" descr="logos/06_artifact_registry.png">    </p:cNvPr>
          <p:cNvPicPr>
            <a:picLocks noChangeAspect="1"/>
          </p:cNvPicPr>
          <p:nvPr/>
        </p:nvPicPr>
        <p:blipFill>
          <a:blip r:embed="rId3"/>
          <a:stretch>
            <a:fillRect/>
          </a:stretch>
        </p:blipFill>
        <p:spPr>
          <a:xfrm>
            <a:off x="1837944" y="5129784"/>
            <a:ext cx="438912" cy="438912"/>
          </a:xfrm>
          <a:prstGeom prst="rect">
            <a:avLst/>
          </a:prstGeom>
        </p:spPr>
      </p:pic>
      <p:sp>
        <p:nvSpPr>
          <p:cNvPr id="12" name="Shape 7"/>
          <p:cNvSpPr/>
          <p:nvPr/>
        </p:nvSpPr>
        <p:spPr>
          <a:xfrm>
            <a:off x="2606040" y="5029200"/>
            <a:ext cx="640080" cy="640080"/>
          </a:xfrm>
          <a:prstGeom prst="roundRect">
            <a:avLst>
              <a:gd name="adj" fmla="val 11429"/>
            </a:avLst>
          </a:prstGeom>
          <a:solidFill>
            <a:srgbClr val="FFFFFF"/>
          </a:solidFill>
          <a:ln/>
        </p:spPr>
      </p:sp>
      <p:pic>
        <p:nvPicPr>
          <p:cNvPr id="13" name="Image 3" descr="logos/03_cloud_storage.png">    </p:cNvPr>
          <p:cNvPicPr>
            <a:picLocks noChangeAspect="1"/>
          </p:cNvPicPr>
          <p:nvPr/>
        </p:nvPicPr>
        <p:blipFill>
          <a:blip r:embed="rId4"/>
          <a:stretch>
            <a:fillRect/>
          </a:stretch>
        </p:blipFill>
        <p:spPr>
          <a:xfrm>
            <a:off x="2706624" y="5129784"/>
            <a:ext cx="438912" cy="438912"/>
          </a:xfrm>
          <a:prstGeom prst="rect">
            <a:avLst/>
          </a:prstGeom>
        </p:spPr>
      </p:pic>
      <p:sp>
        <p:nvSpPr>
          <p:cNvPr id="14" name="Shape 8"/>
          <p:cNvSpPr/>
          <p:nvPr/>
        </p:nvSpPr>
        <p:spPr>
          <a:xfrm>
            <a:off x="3474720" y="5029200"/>
            <a:ext cx="640080" cy="640080"/>
          </a:xfrm>
          <a:prstGeom prst="roundRect">
            <a:avLst>
              <a:gd name="adj" fmla="val 11429"/>
            </a:avLst>
          </a:prstGeom>
          <a:solidFill>
            <a:srgbClr val="FFFFFF"/>
          </a:solidFill>
          <a:ln/>
        </p:spPr>
      </p:sp>
      <p:pic>
        <p:nvPicPr>
          <p:cNvPr id="15" name="Image 4" descr="logos/11_compute_engine.png">    </p:cNvPr>
          <p:cNvPicPr>
            <a:picLocks noChangeAspect="1"/>
          </p:cNvPicPr>
          <p:nvPr/>
        </p:nvPicPr>
        <p:blipFill>
          <a:blip r:embed="rId5"/>
          <a:stretch>
            <a:fillRect/>
          </a:stretch>
        </p:blipFill>
        <p:spPr>
          <a:xfrm>
            <a:off x="3575304" y="5129784"/>
            <a:ext cx="438912" cy="438912"/>
          </a:xfrm>
          <a:prstGeom prst="rect">
            <a:avLst/>
          </a:prstGeom>
        </p:spPr>
      </p:pic>
      <p:sp>
        <p:nvSpPr>
          <p:cNvPr id="16" name="Shape 9"/>
          <p:cNvSpPr/>
          <p:nvPr/>
        </p:nvSpPr>
        <p:spPr>
          <a:xfrm>
            <a:off x="4343400" y="5029200"/>
            <a:ext cx="640080" cy="640080"/>
          </a:xfrm>
          <a:prstGeom prst="roundRect">
            <a:avLst>
              <a:gd name="adj" fmla="val 11429"/>
            </a:avLst>
          </a:prstGeom>
          <a:solidFill>
            <a:srgbClr val="FFFFFF"/>
          </a:solidFill>
          <a:ln/>
        </p:spPr>
      </p:sp>
      <p:pic>
        <p:nvPicPr>
          <p:cNvPr id="17" name="Image 5" descr="logos/05_cloud_build.png">    </p:cNvPr>
          <p:cNvPicPr>
            <a:picLocks noChangeAspect="1"/>
          </p:cNvPicPr>
          <p:nvPr/>
        </p:nvPicPr>
        <p:blipFill>
          <a:blip r:embed="rId6"/>
          <a:stretch>
            <a:fillRect/>
          </a:stretch>
        </p:blipFill>
        <p:spPr>
          <a:xfrm>
            <a:off x="4443984" y="5129784"/>
            <a:ext cx="438912" cy="438912"/>
          </a:xfrm>
          <a:prstGeom prst="rect">
            <a:avLst/>
          </a:prstGeom>
        </p:spPr>
      </p:pic>
      <p:sp>
        <p:nvSpPr>
          <p:cNvPr id="18" name="Shape 10"/>
          <p:cNvSpPr/>
          <p:nvPr/>
        </p:nvSpPr>
        <p:spPr>
          <a:xfrm>
            <a:off x="5212080" y="5029200"/>
            <a:ext cx="640080" cy="640080"/>
          </a:xfrm>
          <a:prstGeom prst="roundRect">
            <a:avLst>
              <a:gd name="adj" fmla="val 11429"/>
            </a:avLst>
          </a:prstGeom>
          <a:solidFill>
            <a:srgbClr val="FFFFFF"/>
          </a:solidFill>
          <a:ln/>
        </p:spPr>
      </p:sp>
      <p:pic>
        <p:nvPicPr>
          <p:cNvPr id="19" name="Image 6" descr="logos/01_cloud_run.png">    </p:cNvPr>
          <p:cNvPicPr>
            <a:picLocks noChangeAspect="1"/>
          </p:cNvPicPr>
          <p:nvPr/>
        </p:nvPicPr>
        <p:blipFill>
          <a:blip r:embed="rId7"/>
          <a:stretch>
            <a:fillRect/>
          </a:stretch>
        </p:blipFill>
        <p:spPr>
          <a:xfrm>
            <a:off x="5312664" y="5129784"/>
            <a:ext cx="438912" cy="438912"/>
          </a:xfrm>
          <a:prstGeom prst="rect">
            <a:avLst/>
          </a:prstGeom>
        </p:spPr>
      </p:pic>
      <p:sp>
        <p:nvSpPr>
          <p:cNvPr id="20" name="Shape 11"/>
          <p:cNvSpPr/>
          <p:nvPr/>
        </p:nvSpPr>
        <p:spPr>
          <a:xfrm>
            <a:off x="6080760" y="5029200"/>
            <a:ext cx="640080" cy="640080"/>
          </a:xfrm>
          <a:prstGeom prst="roundRect">
            <a:avLst>
              <a:gd name="adj" fmla="val 11429"/>
            </a:avLst>
          </a:prstGeom>
          <a:solidFill>
            <a:srgbClr val="FFFFFF"/>
          </a:solidFill>
          <a:ln/>
        </p:spPr>
      </p:sp>
      <p:pic>
        <p:nvPicPr>
          <p:cNvPr id="21" name="Image 7" descr="logos/02_cloud_run_gpu.png">    </p:cNvPr>
          <p:cNvPicPr>
            <a:picLocks noChangeAspect="1"/>
          </p:cNvPicPr>
          <p:nvPr/>
        </p:nvPicPr>
        <p:blipFill>
          <a:blip r:embed="rId8"/>
          <a:stretch>
            <a:fillRect/>
          </a:stretch>
        </p:blipFill>
        <p:spPr>
          <a:xfrm>
            <a:off x="6181344" y="5129784"/>
            <a:ext cx="438912" cy="438912"/>
          </a:xfrm>
          <a:prstGeom prst="rect">
            <a:avLst/>
          </a:prstGeom>
        </p:spPr>
      </p:pic>
      <p:sp>
        <p:nvSpPr>
          <p:cNvPr id="22" name="Shape 12"/>
          <p:cNvSpPr/>
          <p:nvPr/>
        </p:nvSpPr>
        <p:spPr>
          <a:xfrm>
            <a:off x="6949440" y="5029200"/>
            <a:ext cx="640080" cy="640080"/>
          </a:xfrm>
          <a:prstGeom prst="roundRect">
            <a:avLst>
              <a:gd name="adj" fmla="val 11429"/>
            </a:avLst>
          </a:prstGeom>
          <a:solidFill>
            <a:srgbClr val="FFFFFF"/>
          </a:solidFill>
          <a:ln/>
        </p:spPr>
      </p:sp>
      <p:pic>
        <p:nvPicPr>
          <p:cNvPr id="23" name="Image 8" descr="logos/04_vertex_ai.png">    </p:cNvPr>
          <p:cNvPicPr>
            <a:picLocks noChangeAspect="1"/>
          </p:cNvPicPr>
          <p:nvPr/>
        </p:nvPicPr>
        <p:blipFill>
          <a:blip r:embed="rId9"/>
          <a:stretch>
            <a:fillRect/>
          </a:stretch>
        </p:blipFill>
        <p:spPr>
          <a:xfrm>
            <a:off x="7050024" y="5129784"/>
            <a:ext cx="438912" cy="438912"/>
          </a:xfrm>
          <a:prstGeom prst="rect">
            <a:avLst/>
          </a:prstGeom>
        </p:spPr>
      </p:pic>
      <p:sp>
        <p:nvSpPr>
          <p:cNvPr id="24" name="Shape 13"/>
          <p:cNvSpPr/>
          <p:nvPr/>
        </p:nvSpPr>
        <p:spPr>
          <a:xfrm>
            <a:off x="7818120" y="5029200"/>
            <a:ext cx="640080" cy="640080"/>
          </a:xfrm>
          <a:prstGeom prst="roundRect">
            <a:avLst>
              <a:gd name="adj" fmla="val 11429"/>
            </a:avLst>
          </a:prstGeom>
          <a:solidFill>
            <a:srgbClr val="FFFFFF"/>
          </a:solidFill>
          <a:ln/>
        </p:spPr>
      </p:sp>
      <p:pic>
        <p:nvPicPr>
          <p:cNvPr id="25" name="Image 9" descr="logos/07_pubsub.png">    </p:cNvPr>
          <p:cNvPicPr>
            <a:picLocks noChangeAspect="1"/>
          </p:cNvPicPr>
          <p:nvPr/>
        </p:nvPicPr>
        <p:blipFill>
          <a:blip r:embed="rId10"/>
          <a:stretch>
            <a:fillRect/>
          </a:stretch>
        </p:blipFill>
        <p:spPr>
          <a:xfrm>
            <a:off x="7918704" y="5129784"/>
            <a:ext cx="438912" cy="438912"/>
          </a:xfrm>
          <a:prstGeom prst="rect">
            <a:avLst/>
          </a:prstGeom>
        </p:spPr>
      </p:pic>
      <p:sp>
        <p:nvSpPr>
          <p:cNvPr id="26" name="Shape 14"/>
          <p:cNvSpPr/>
          <p:nvPr/>
        </p:nvSpPr>
        <p:spPr>
          <a:xfrm>
            <a:off x="8686800" y="5029200"/>
            <a:ext cx="640080" cy="640080"/>
          </a:xfrm>
          <a:prstGeom prst="roundRect">
            <a:avLst>
              <a:gd name="adj" fmla="val 11429"/>
            </a:avLst>
          </a:prstGeom>
          <a:solidFill>
            <a:srgbClr val="FFFFFF"/>
          </a:solidFill>
          <a:ln/>
        </p:spPr>
      </p:sp>
      <p:pic>
        <p:nvPicPr>
          <p:cNvPr id="27" name="Image 10" descr="logos/08_cloud_logging.png">    </p:cNvPr>
          <p:cNvPicPr>
            <a:picLocks noChangeAspect="1"/>
          </p:cNvPicPr>
          <p:nvPr/>
        </p:nvPicPr>
        <p:blipFill>
          <a:blip r:embed="rId11"/>
          <a:stretch>
            <a:fillRect/>
          </a:stretch>
        </p:blipFill>
        <p:spPr>
          <a:xfrm>
            <a:off x="8787384" y="5129784"/>
            <a:ext cx="438912" cy="438912"/>
          </a:xfrm>
          <a:prstGeom prst="rect">
            <a:avLst/>
          </a:prstGeom>
        </p:spPr>
      </p:pic>
      <p:sp>
        <p:nvSpPr>
          <p:cNvPr id="28" name="Text 15"/>
          <p:cNvSpPr/>
          <p:nvPr/>
        </p:nvSpPr>
        <p:spPr>
          <a:xfrm>
            <a:off x="5212080" y="5961888"/>
            <a:ext cx="3200400" cy="182880"/>
          </a:xfrm>
          <a:prstGeom prst="rect">
            <a:avLst/>
          </a:prstGeom>
          <a:noFill/>
          <a:ln/>
        </p:spPr>
        <p:txBody>
          <a:bodyPr wrap="square" lIns="0" tIns="0" rIns="0" bIns="0" rtlCol="0" anchor="ctr"/>
          <a:lstStyle/>
          <a:p>
            <a:pPr indent="0" marL="0">
              <a:buNone/>
            </a:pPr>
            <a:r>
              <a:rPr lang="en-US" sz="850" b="1" dirty="0">
                <a:solidFill>
                  <a:srgbClr val="8190AE"/>
                </a:solidFill>
                <a:latin typeface="Calibri" pitchFamily="34" charset="0"/>
                <a:ea typeface="Calibri" pitchFamily="34" charset="-122"/>
                <a:cs typeface="Calibri" pitchFamily="34" charset="-120"/>
              </a:rPr>
              <a:t>Tsantaniaina Rakotonjanahary Ambaorasoa Guillaume</a:t>
            </a:r>
            <a:endParaRPr lang="en-US" sz="850" dirty="0"/>
          </a:p>
        </p:txBody>
      </p:sp>
      <p:sp>
        <p:nvSpPr>
          <p:cNvPr id="29" name="Shape 16"/>
          <p:cNvSpPr/>
          <p:nvPr/>
        </p:nvSpPr>
        <p:spPr>
          <a:xfrm>
            <a:off x="11137392" y="5852160"/>
            <a:ext cx="914400" cy="914400"/>
          </a:xfrm>
          <a:prstGeom prst="roundRect">
            <a:avLst>
              <a:gd name="adj" fmla="val 10000"/>
            </a:avLst>
          </a:prstGeom>
          <a:solidFill>
            <a:srgbClr val="FFFFFF"/>
          </a:solidFill>
          <a:ln w="12700">
            <a:solidFill>
              <a:srgbClr val="D6DEEC"/>
            </a:solidFill>
            <a:prstDash val="solid"/>
          </a:ln>
          <a:effectLst>
            <a:outerShdw sx="100000" sy="100000" kx="0" ky="0" algn="bl" rotWithShape="0" blurRad="88900" dist="38100" dir="5400000">
              <a:srgbClr val="8A94AD">
                <a:alpha val="26000"/>
              </a:srgbClr>
            </a:outerShdw>
          </a:effectLst>
        </p:spPr>
      </p:sp>
      <p:pic>
        <p:nvPicPr>
          <p:cNvPr id="30" name="Image 11" descr="logos/logo_mdn.png">    </p:cNvPr>
          <p:cNvPicPr>
            <a:picLocks noChangeAspect="1"/>
          </p:cNvPicPr>
          <p:nvPr/>
        </p:nvPicPr>
        <p:blipFill>
          <a:blip r:embed="rId12"/>
          <a:stretch>
            <a:fillRect/>
          </a:stretch>
        </p:blipFill>
        <p:spPr>
          <a:xfrm>
            <a:off x="11237976" y="5952744"/>
            <a:ext cx="713232" cy="71323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F9AB00"/>
          </a:solidFill>
          <a:ln/>
        </p:spPr>
      </p:sp>
      <p:sp>
        <p:nvSpPr>
          <p:cNvPr id="3" name="Shape 1"/>
          <p:cNvSpPr/>
          <p:nvPr/>
        </p:nvSpPr>
        <p:spPr>
          <a:xfrm>
            <a:off x="146304" y="0"/>
            <a:ext cx="12042648" cy="1078992"/>
          </a:xfrm>
          <a:prstGeom prst="rect">
            <a:avLst/>
          </a:prstGeom>
          <a:solidFill>
            <a:srgbClr val="1B2A4A"/>
          </a:solidFill>
          <a:ln/>
        </p:spPr>
      </p:sp>
      <p:sp>
        <p:nvSpPr>
          <p:cNvPr id="4" name="Text 2"/>
          <p:cNvSpPr/>
          <p:nvPr/>
        </p:nvSpPr>
        <p:spPr>
          <a:xfrm>
            <a:off x="548640" y="182880"/>
            <a:ext cx="9601200" cy="292608"/>
          </a:xfrm>
          <a:prstGeom prst="rect">
            <a:avLst/>
          </a:prstGeom>
          <a:noFill/>
          <a:ln/>
        </p:spPr>
        <p:txBody>
          <a:bodyPr wrap="square" lIns="0" tIns="0" rIns="0" bIns="0" rtlCol="0" anchor="ctr"/>
          <a:lstStyle/>
          <a:p>
            <a:pPr indent="0" marL="0">
              <a:buNone/>
            </a:pPr>
            <a:r>
              <a:rPr lang="en-US" sz="1200" b="1" spc="150" kern="0" dirty="0">
                <a:solidFill>
                  <a:srgbClr val="FDD663"/>
                </a:solidFill>
                <a:latin typeface="Calibri" pitchFamily="34" charset="0"/>
                <a:ea typeface="Calibri" pitchFamily="34" charset="-122"/>
                <a:cs typeface="Calibri" pitchFamily="34" charset="-120"/>
              </a:rPr>
              <a:t>SÉCURITÉ · GESTION DES ACCÈS</a:t>
            </a:r>
            <a:endParaRPr lang="en-US" sz="1200" dirty="0"/>
          </a:p>
        </p:txBody>
      </p:sp>
      <p:sp>
        <p:nvSpPr>
          <p:cNvPr id="5" name="Text 3"/>
          <p:cNvSpPr/>
          <p:nvPr/>
        </p:nvSpPr>
        <p:spPr>
          <a:xfrm>
            <a:off x="530352" y="438912"/>
            <a:ext cx="9692640" cy="566928"/>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IAM — concepts</a:t>
            </a:r>
            <a:endParaRPr lang="en-US" sz="2700" dirty="0"/>
          </a:p>
        </p:txBody>
      </p:sp>
      <p:sp>
        <p:nvSpPr>
          <p:cNvPr id="6" name="Text 4"/>
          <p:cNvSpPr/>
          <p:nvPr/>
        </p:nvSpPr>
        <p:spPr>
          <a:xfrm>
            <a:off x="8229600" y="182880"/>
            <a:ext cx="1828800" cy="274320"/>
          </a:xfrm>
          <a:prstGeom prst="rect">
            <a:avLst/>
          </a:prstGeom>
          <a:noFill/>
          <a:ln/>
        </p:spPr>
        <p:txBody>
          <a:bodyPr wrap="square" lIns="0" tIns="0" rIns="0" bIns="0" rtlCol="0" anchor="ctr"/>
          <a:lstStyle/>
          <a:p>
            <a:pPr algn="r" indent="0" marL="0">
              <a:buNone/>
            </a:pPr>
            <a:r>
              <a:rPr lang="en-US" sz="1050" b="1" spc="100" kern="0" dirty="0">
                <a:solidFill>
                  <a:srgbClr val="8FA0C4"/>
                </a:solidFill>
                <a:latin typeface="Calibri" pitchFamily="34" charset="0"/>
                <a:ea typeface="Calibri" pitchFamily="34" charset="-122"/>
                <a:cs typeface="Calibri" pitchFamily="34" charset="-120"/>
              </a:rPr>
              <a:t>PARTIE 2</a:t>
            </a:r>
            <a:endParaRPr lang="en-US" sz="1050" dirty="0"/>
          </a:p>
        </p:txBody>
      </p:sp>
      <p:sp>
        <p:nvSpPr>
          <p:cNvPr id="7" name="Shape 5"/>
          <p:cNvSpPr/>
          <p:nvPr/>
        </p:nvSpPr>
        <p:spPr>
          <a:xfrm>
            <a:off x="10927080" y="237744"/>
            <a:ext cx="603504" cy="603504"/>
          </a:xfrm>
          <a:prstGeom prst="roundRect">
            <a:avLst>
              <a:gd name="adj" fmla="val 12121"/>
            </a:avLst>
          </a:prstGeom>
          <a:solidFill>
            <a:srgbClr val="FFFFFF"/>
          </a:solidFill>
          <a:ln/>
        </p:spPr>
      </p:sp>
      <p:pic>
        <p:nvPicPr>
          <p:cNvPr id="8" name="Image 0" descr="logos/10_iam.png">    </p:cNvPr>
          <p:cNvPicPr>
            <a:picLocks noChangeAspect="1"/>
          </p:cNvPicPr>
          <p:nvPr/>
        </p:nvPicPr>
        <p:blipFill>
          <a:blip r:embed="rId1"/>
          <a:stretch>
            <a:fillRect/>
          </a:stretch>
        </p:blipFill>
        <p:spPr>
          <a:xfrm>
            <a:off x="10991088" y="301752"/>
            <a:ext cx="475488" cy="475488"/>
          </a:xfrm>
          <a:prstGeom prst="rect">
            <a:avLst/>
          </a:prstGeom>
        </p:spPr>
      </p:pic>
      <p:sp>
        <p:nvSpPr>
          <p:cNvPr id="9" name="Text 6"/>
          <p:cNvSpPr/>
          <p:nvPr/>
        </p:nvSpPr>
        <p:spPr>
          <a:xfrm>
            <a:off x="548640" y="1325880"/>
            <a:ext cx="11064240" cy="777240"/>
          </a:xfrm>
          <a:prstGeom prst="rect">
            <a:avLst/>
          </a:prstGeom>
          <a:noFill/>
          <a:ln/>
        </p:spPr>
        <p:txBody>
          <a:bodyPr wrap="square" lIns="0" tIns="0" rIns="0" bIns="0" rtlCol="0" anchor="t"/>
          <a:lstStyle/>
          <a:p>
            <a:pPr indent="0" marL="0">
              <a:buNone/>
            </a:pPr>
            <a:r>
              <a:rPr lang="en-US" sz="1350" dirty="0">
                <a:solidFill>
                  <a:srgbClr val="202124"/>
                </a:solidFill>
                <a:latin typeface="Calibri" pitchFamily="34" charset="0"/>
                <a:ea typeface="Calibri" pitchFamily="34" charset="-122"/>
                <a:cs typeface="Calibri" pitchFamily="34" charset="-120"/>
              </a:rPr>
              <a:t>Identity and Access Management contrôle « qui peut faire quoi, sur quelle ressource ». On accorde des RÔLES (ensembles de permissions) à des PRINCIPALS (utilisateurs ou comptes de service) via des bindings sur une ressource.</a:t>
            </a:r>
            <a:endParaRPr lang="en-US" sz="1350" dirty="0"/>
          </a:p>
        </p:txBody>
      </p:sp>
      <p:sp>
        <p:nvSpPr>
          <p:cNvPr id="10" name="Text 7"/>
          <p:cNvSpPr/>
          <p:nvPr/>
        </p:nvSpPr>
        <p:spPr>
          <a:xfrm>
            <a:off x="548640" y="2286000"/>
            <a:ext cx="5486400" cy="274320"/>
          </a:xfrm>
          <a:prstGeom prst="rect">
            <a:avLst/>
          </a:prstGeom>
          <a:noFill/>
          <a:ln/>
        </p:spPr>
        <p:txBody>
          <a:bodyPr wrap="square" lIns="0" tIns="0" rIns="0" bIns="0" rtlCol="0" anchor="ctr"/>
          <a:lstStyle/>
          <a:p>
            <a:pPr indent="0" marL="0">
              <a:buNone/>
            </a:pPr>
            <a:r>
              <a:rPr lang="en-US" sz="1300" b="1" spc="100" kern="0" dirty="0">
                <a:solidFill>
                  <a:srgbClr val="B06000"/>
                </a:solidFill>
                <a:latin typeface="Calibri" pitchFamily="34" charset="0"/>
                <a:ea typeface="Calibri" pitchFamily="34" charset="-122"/>
                <a:cs typeface="Calibri" pitchFamily="34" charset="-120"/>
              </a:rPr>
              <a:t>CONCEPTS CLÉS</a:t>
            </a:r>
            <a:endParaRPr lang="en-US" sz="1300" dirty="0"/>
          </a:p>
        </p:txBody>
      </p:sp>
      <p:sp>
        <p:nvSpPr>
          <p:cNvPr id="11" name="Text 8"/>
          <p:cNvSpPr/>
          <p:nvPr/>
        </p:nvSpPr>
        <p:spPr>
          <a:xfrm>
            <a:off x="548640" y="2606040"/>
            <a:ext cx="5486400" cy="2194560"/>
          </a:xfrm>
          <a:prstGeom prst="rect">
            <a:avLst/>
          </a:prstGeom>
          <a:noFill/>
          <a:ln/>
        </p:spPr>
        <p:txBody>
          <a:bodyPr wrap="square" lIns="0" tIns="0" rIns="0" bIns="0" rtlCol="0" anchor="t"/>
          <a:lstStyle/>
          <a:p>
            <a:pPr marL="190500" indent="-190500">
              <a:spcAft>
                <a:spcPts val="600"/>
              </a:spcAft>
              <a:buSzPct val="100000"/>
              <a:buChar char="•"/>
            </a:pPr>
            <a:r>
              <a:rPr lang="en-US" sz="1250" dirty="0">
                <a:solidFill>
                  <a:srgbClr val="202124"/>
                </a:solidFill>
                <a:latin typeface="Calibri" pitchFamily="34" charset="0"/>
                <a:ea typeface="Calibri" pitchFamily="34" charset="-122"/>
                <a:cs typeface="Calibri" pitchFamily="34" charset="-120"/>
              </a:rPr>
              <a:t>Principals : utilisateurs, groupes, comptes de service</a:t>
            </a:r>
            <a:endParaRPr lang="en-US" sz="1250" dirty="0"/>
          </a:p>
          <a:p>
            <a:pPr marL="190500" indent="-190500">
              <a:spcAft>
                <a:spcPts val="600"/>
              </a:spcAft>
              <a:buSzPct val="100000"/>
              <a:buChar char="•"/>
            </a:pPr>
            <a:r>
              <a:rPr lang="en-US" sz="1250" dirty="0">
                <a:solidFill>
                  <a:srgbClr val="202124"/>
                </a:solidFill>
                <a:latin typeface="Calibri" pitchFamily="34" charset="0"/>
                <a:ea typeface="Calibri" pitchFamily="34" charset="-122"/>
                <a:cs typeface="Calibri" pitchFamily="34" charset="-120"/>
              </a:rPr>
              <a:t>Rôles : prédéfinis, personnalisés, ou basiques</a:t>
            </a:r>
            <a:endParaRPr lang="en-US" sz="1250" dirty="0"/>
          </a:p>
          <a:p>
            <a:pPr marL="190500" indent="-190500">
              <a:spcAft>
                <a:spcPts val="600"/>
              </a:spcAft>
              <a:buSzPct val="100000"/>
              <a:buChar char="•"/>
            </a:pPr>
            <a:r>
              <a:rPr lang="en-US" sz="1250" dirty="0">
                <a:solidFill>
                  <a:srgbClr val="202124"/>
                </a:solidFill>
                <a:latin typeface="Calibri" pitchFamily="34" charset="0"/>
                <a:ea typeface="Calibri" pitchFamily="34" charset="-122"/>
                <a:cs typeface="Calibri" pitchFamily="34" charset="-120"/>
              </a:rPr>
              <a:t>Permission = service.resource.verb (ex. run.services.create)</a:t>
            </a:r>
            <a:endParaRPr lang="en-US" sz="1250" dirty="0"/>
          </a:p>
          <a:p>
            <a:pPr marL="190500" indent="-190500">
              <a:spcAft>
                <a:spcPts val="600"/>
              </a:spcAft>
              <a:buSzPct val="100000"/>
              <a:buChar char="•"/>
            </a:pPr>
            <a:r>
              <a:rPr lang="en-US" sz="1250" dirty="0">
                <a:solidFill>
                  <a:srgbClr val="202124"/>
                </a:solidFill>
                <a:latin typeface="Calibri" pitchFamily="34" charset="0"/>
                <a:ea typeface="Calibri" pitchFamily="34" charset="-122"/>
                <a:cs typeface="Calibri" pitchFamily="34" charset="-120"/>
              </a:rPr>
              <a:t>Binding = (principal + rôle) sur une ressource</a:t>
            </a:r>
            <a:endParaRPr lang="en-US" sz="1250" dirty="0"/>
          </a:p>
          <a:p>
            <a:pPr marL="190500" indent="-190500">
              <a:spcAft>
                <a:spcPts val="600"/>
              </a:spcAft>
              <a:buSzPct val="100000"/>
              <a:buChar char="•"/>
            </a:pPr>
            <a:r>
              <a:rPr lang="en-US" sz="1250" dirty="0">
                <a:solidFill>
                  <a:srgbClr val="202124"/>
                </a:solidFill>
                <a:latin typeface="Calibri" pitchFamily="34" charset="0"/>
                <a:ea typeface="Calibri" pitchFamily="34" charset="-122"/>
                <a:cs typeface="Calibri" pitchFamily="34" charset="-120"/>
              </a:rPr>
              <a:t>Moindre privilège + héritage par la hiérarchie</a:t>
            </a:r>
            <a:endParaRPr lang="en-US" sz="1250" dirty="0"/>
          </a:p>
        </p:txBody>
      </p:sp>
      <p:sp>
        <p:nvSpPr>
          <p:cNvPr id="12" name="Text 9"/>
          <p:cNvSpPr/>
          <p:nvPr/>
        </p:nvSpPr>
        <p:spPr>
          <a:xfrm>
            <a:off x="6309360" y="2286000"/>
            <a:ext cx="5486400" cy="274320"/>
          </a:xfrm>
          <a:prstGeom prst="rect">
            <a:avLst/>
          </a:prstGeom>
          <a:noFill/>
          <a:ln/>
        </p:spPr>
        <p:txBody>
          <a:bodyPr wrap="square" lIns="0" tIns="0" rIns="0" bIns="0" rtlCol="0" anchor="ctr"/>
          <a:lstStyle/>
          <a:p>
            <a:pPr indent="0" marL="0">
              <a:buNone/>
            </a:pPr>
            <a:r>
              <a:rPr lang="en-US" sz="1300" b="1" spc="100" kern="0" dirty="0">
                <a:solidFill>
                  <a:srgbClr val="B06000"/>
                </a:solidFill>
                <a:latin typeface="Calibri" pitchFamily="34" charset="0"/>
                <a:ea typeface="Calibri" pitchFamily="34" charset="-122"/>
                <a:cs typeface="Calibri" pitchFamily="34" charset="-120"/>
              </a:rPr>
              <a:t>LES 2 COMPTES DE SERVICE DU PROJET</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309360" y="2606040"/>
          <a:ext cx="5349240" cy="914400"/>
        </p:xfrm>
        <a:graphic>
          <a:graphicData uri="http://schemas.openxmlformats.org/drawingml/2006/table">
            <a:tbl>
              <a:tblPr/>
              <a:tblGrid>
                <a:gridCol w="2194560"/>
                <a:gridCol w="3154680"/>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Compte de service</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B06000"/>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Rôles</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B06000"/>
                    </a:solidFill>
                  </a:tcPr>
                </a:tc>
              </a:tr>
              <a:tr h="0">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cloudbuild-runner</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run.admin · iam.serviceAccountUser · artifactregistry.writer · storage.objectAdmin</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r>
              <a:tr h="0">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N-compute@developer (défaut)</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storage.objectAdmin · artifactregistry.reader</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r>
            </a:tbl>
          </a:graphicData>
        </a:graphic>
      </p:graphicFrame>
      <p:sp>
        <p:nvSpPr>
          <p:cNvPr id="14" name="Shape 10"/>
          <p:cNvSpPr/>
          <p:nvPr/>
        </p:nvSpPr>
        <p:spPr>
          <a:xfrm>
            <a:off x="548640" y="5029200"/>
            <a:ext cx="11064240" cy="1143000"/>
          </a:xfrm>
          <a:prstGeom prst="rect">
            <a:avLst/>
          </a:prstGeom>
          <a:solidFill>
            <a:srgbClr val="EEF2FB"/>
          </a:solidFill>
          <a:ln/>
        </p:spPr>
      </p:sp>
      <p:sp>
        <p:nvSpPr>
          <p:cNvPr id="15" name="Shape 11"/>
          <p:cNvSpPr/>
          <p:nvPr/>
        </p:nvSpPr>
        <p:spPr>
          <a:xfrm>
            <a:off x="548640" y="5029200"/>
            <a:ext cx="91440" cy="1143000"/>
          </a:xfrm>
          <a:prstGeom prst="rect">
            <a:avLst/>
          </a:prstGeom>
          <a:solidFill>
            <a:srgbClr val="F9AB00"/>
          </a:solidFill>
          <a:ln/>
        </p:spPr>
      </p:sp>
      <p:sp>
        <p:nvSpPr>
          <p:cNvPr id="16" name="Text 12"/>
          <p:cNvSpPr/>
          <p:nvPr/>
        </p:nvSpPr>
        <p:spPr>
          <a:xfrm>
            <a:off x="786384" y="5102352"/>
            <a:ext cx="10680192" cy="996696"/>
          </a:xfrm>
          <a:prstGeom prst="rect">
            <a:avLst/>
          </a:prstGeom>
          <a:noFill/>
          <a:ln/>
        </p:spPr>
        <p:txBody>
          <a:bodyPr wrap="square" lIns="0" tIns="0" rIns="0" bIns="0" rtlCol="0" anchor="ctr"/>
          <a:lstStyle/>
          <a:p>
            <a:pPr indent="0" marL="0">
              <a:buNone/>
            </a:pPr>
            <a:r>
              <a:rPr lang="en-US" sz="1100" b="1" dirty="0">
                <a:solidFill>
                  <a:srgbClr val="B06000"/>
                </a:solidFill>
                <a:latin typeface="Calibri" pitchFamily="34" charset="0"/>
                <a:ea typeface="Calibri" pitchFamily="34" charset="-122"/>
                <a:cs typeface="Calibri" pitchFamily="34" charset="-120"/>
              </a:rPr>
              <a:t>POURQUOI UN COMPTE DÉDIÉ ?   </a:t>
            </a:r>
            <a:pPr indent="0" marL="0">
              <a:buNone/>
            </a:pPr>
            <a:r>
              <a:rPr lang="en-US" sz="1200" dirty="0">
                <a:solidFill>
                  <a:srgbClr val="202124"/>
                </a:solidFill>
                <a:latin typeface="Calibri" pitchFamily="34" charset="0"/>
                <a:ea typeface="Calibri" pitchFamily="34" charset="-122"/>
                <a:cs typeface="Calibri" pitchFamily="34" charset="-120"/>
              </a:rPr>
              <a:t>Cloud Build doit déployer sur Cloud Run et pousser des images : on lui crée un compte de service dédié avec le strict minimum de rôles, plutôt que d'utiliser un compte trop permissif. C'est l'application du principe de moindre privilège.</a:t>
            </a:r>
            <a:endParaRPr lang="en-US" sz="1100" dirty="0"/>
          </a:p>
        </p:txBody>
      </p:sp>
      <p:sp>
        <p:nvSpPr>
          <p:cNvPr id="17" name="Text 13"/>
          <p:cNvSpPr/>
          <p:nvPr/>
        </p:nvSpPr>
        <p:spPr>
          <a:xfrm>
            <a:off x="548640" y="6510528"/>
            <a:ext cx="11155680" cy="274320"/>
          </a:xfrm>
          <a:prstGeom prst="rect">
            <a:avLst/>
          </a:prstGeom>
          <a:noFill/>
          <a:ln/>
        </p:spPr>
        <p:txBody>
          <a:bodyPr wrap="square" lIns="0" tIns="0" rIns="0" bIns="0" rtlCol="0" anchor="ctr"/>
          <a:lstStyle/>
          <a:p>
            <a:pPr indent="0" marL="0">
              <a:buNone/>
            </a:pPr>
            <a:r>
              <a:rPr lang="en-US" sz="950" i="1" dirty="0">
                <a:solidFill>
                  <a:srgbClr val="5F6368"/>
                </a:solidFill>
                <a:latin typeface="Calibri" pitchFamily="34" charset="0"/>
                <a:ea typeface="Calibri" pitchFamily="34" charset="-122"/>
                <a:cs typeface="Calibri" pitchFamily="34" charset="-120"/>
              </a:rPr>
              <a:t>Source : README §18.1 Step 7, §18.10 — doc : cloud.google.com/iam/docs</a:t>
            </a:r>
            <a:endParaRPr lang="en-US" sz="950" dirty="0"/>
          </a:p>
        </p:txBody>
      </p:sp>
      <p:sp>
        <p:nvSpPr>
          <p:cNvPr id="18" name="Text 14"/>
          <p:cNvSpPr/>
          <p:nvPr/>
        </p:nvSpPr>
        <p:spPr>
          <a:xfrm>
            <a:off x="548640" y="4552188"/>
            <a:ext cx="3200400" cy="182880"/>
          </a:xfrm>
          <a:prstGeom prst="rect">
            <a:avLst/>
          </a:prstGeom>
          <a:noFill/>
          <a:ln/>
        </p:spPr>
        <p:txBody>
          <a:bodyPr wrap="square" lIns="0" tIns="0" rIns="0" bIns="0" rtlCol="0" anchor="ctr"/>
          <a:lstStyle/>
          <a:p>
            <a:pPr indent="0" marL="0">
              <a:buNone/>
            </a:pPr>
            <a:r>
              <a:rPr lang="en-US" sz="850" b="1" dirty="0">
                <a:solidFill>
                  <a:srgbClr val="97A1B5"/>
                </a:solidFill>
                <a:latin typeface="Calibri" pitchFamily="34" charset="0"/>
                <a:ea typeface="Calibri" pitchFamily="34" charset="-122"/>
                <a:cs typeface="Calibri" pitchFamily="34" charset="-120"/>
              </a:rPr>
              <a:t>Tsantaniaina Rakotonjanahary Ambaorasoa Guillaume</a:t>
            </a:r>
            <a:endParaRPr lang="en-US" sz="850" dirty="0"/>
          </a:p>
        </p:txBody>
      </p:sp>
      <p:sp>
        <p:nvSpPr>
          <p:cNvPr id="19" name="Shape 15"/>
          <p:cNvSpPr/>
          <p:nvPr/>
        </p:nvSpPr>
        <p:spPr>
          <a:xfrm>
            <a:off x="11137392" y="5852160"/>
            <a:ext cx="914400" cy="914400"/>
          </a:xfrm>
          <a:prstGeom prst="roundRect">
            <a:avLst>
              <a:gd name="adj" fmla="val 10000"/>
            </a:avLst>
          </a:prstGeom>
          <a:solidFill>
            <a:srgbClr val="FFFFFF"/>
          </a:solidFill>
          <a:ln w="12700">
            <a:solidFill>
              <a:srgbClr val="D6DEEC"/>
            </a:solidFill>
            <a:prstDash val="solid"/>
          </a:ln>
          <a:effectLst>
            <a:outerShdw sx="100000" sy="100000" kx="0" ky="0" algn="bl" rotWithShape="0" blurRad="88900" dist="38100" dir="5400000">
              <a:srgbClr val="8A94AD">
                <a:alpha val="26000"/>
              </a:srgbClr>
            </a:outerShdw>
          </a:effectLst>
        </p:spPr>
      </p:sp>
      <p:pic>
        <p:nvPicPr>
          <p:cNvPr id="20" name="Image 1" descr="logos/logo_mdn.png">    </p:cNvPr>
          <p:cNvPicPr>
            <a:picLocks noChangeAspect="1"/>
          </p:cNvPicPr>
          <p:nvPr/>
        </p:nvPicPr>
        <p:blipFill>
          <a:blip r:embed="rId2"/>
          <a:stretch>
            <a:fillRect/>
          </a:stretch>
        </p:blipFill>
        <p:spPr>
          <a:xfrm>
            <a:off x="11237976" y="5952744"/>
            <a:ext cx="713232" cy="71323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F9AB00"/>
          </a:solidFill>
          <a:ln/>
        </p:spPr>
      </p:sp>
      <p:sp>
        <p:nvSpPr>
          <p:cNvPr id="3" name="Shape 1"/>
          <p:cNvSpPr/>
          <p:nvPr/>
        </p:nvSpPr>
        <p:spPr>
          <a:xfrm>
            <a:off x="146304" y="0"/>
            <a:ext cx="12042648" cy="1078992"/>
          </a:xfrm>
          <a:prstGeom prst="rect">
            <a:avLst/>
          </a:prstGeom>
          <a:solidFill>
            <a:srgbClr val="1B2A4A"/>
          </a:solidFill>
          <a:ln/>
        </p:spPr>
      </p:sp>
      <p:sp>
        <p:nvSpPr>
          <p:cNvPr id="4" name="Text 2"/>
          <p:cNvSpPr/>
          <p:nvPr/>
        </p:nvSpPr>
        <p:spPr>
          <a:xfrm>
            <a:off x="548640" y="182880"/>
            <a:ext cx="9601200" cy="292608"/>
          </a:xfrm>
          <a:prstGeom prst="rect">
            <a:avLst/>
          </a:prstGeom>
          <a:noFill/>
          <a:ln/>
        </p:spPr>
        <p:txBody>
          <a:bodyPr wrap="square" lIns="0" tIns="0" rIns="0" bIns="0" rtlCol="0" anchor="ctr"/>
          <a:lstStyle/>
          <a:p>
            <a:pPr indent="0" marL="0">
              <a:buNone/>
            </a:pPr>
            <a:r>
              <a:rPr lang="en-US" sz="1200" b="1" spc="150" kern="0" dirty="0">
                <a:solidFill>
                  <a:srgbClr val="FDD663"/>
                </a:solidFill>
                <a:latin typeface="Calibri" pitchFamily="34" charset="0"/>
                <a:ea typeface="Calibri" pitchFamily="34" charset="-122"/>
                <a:cs typeface="Calibri" pitchFamily="34" charset="-120"/>
              </a:rPr>
              <a:t>GÉNÉRATION DU COMPTE CLOUD BUILD (PAS-À-PAS)</a:t>
            </a:r>
            <a:endParaRPr lang="en-US" sz="1200" dirty="0"/>
          </a:p>
        </p:txBody>
      </p:sp>
      <p:sp>
        <p:nvSpPr>
          <p:cNvPr id="5" name="Text 3"/>
          <p:cNvSpPr/>
          <p:nvPr/>
        </p:nvSpPr>
        <p:spPr>
          <a:xfrm>
            <a:off x="530352" y="438912"/>
            <a:ext cx="9692640" cy="566928"/>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IAM — créer le service account</a:t>
            </a:r>
            <a:endParaRPr lang="en-US" sz="2700" dirty="0"/>
          </a:p>
        </p:txBody>
      </p:sp>
      <p:sp>
        <p:nvSpPr>
          <p:cNvPr id="6" name="Text 4"/>
          <p:cNvSpPr/>
          <p:nvPr/>
        </p:nvSpPr>
        <p:spPr>
          <a:xfrm>
            <a:off x="8229600" y="182880"/>
            <a:ext cx="1828800" cy="274320"/>
          </a:xfrm>
          <a:prstGeom prst="rect">
            <a:avLst/>
          </a:prstGeom>
          <a:noFill/>
          <a:ln/>
        </p:spPr>
        <p:txBody>
          <a:bodyPr wrap="square" lIns="0" tIns="0" rIns="0" bIns="0" rtlCol="0" anchor="ctr"/>
          <a:lstStyle/>
          <a:p>
            <a:pPr algn="r" indent="0" marL="0">
              <a:buNone/>
            </a:pPr>
            <a:r>
              <a:rPr lang="en-US" sz="1050" b="1" spc="100" kern="0" dirty="0">
                <a:solidFill>
                  <a:srgbClr val="8FA0C4"/>
                </a:solidFill>
                <a:latin typeface="Calibri" pitchFamily="34" charset="0"/>
                <a:ea typeface="Calibri" pitchFamily="34" charset="-122"/>
                <a:cs typeface="Calibri" pitchFamily="34" charset="-120"/>
              </a:rPr>
              <a:t>PARTIE 2</a:t>
            </a:r>
            <a:endParaRPr lang="en-US" sz="1050" dirty="0"/>
          </a:p>
        </p:txBody>
      </p:sp>
      <p:sp>
        <p:nvSpPr>
          <p:cNvPr id="7" name="Shape 5"/>
          <p:cNvSpPr/>
          <p:nvPr/>
        </p:nvSpPr>
        <p:spPr>
          <a:xfrm>
            <a:off x="10927080" y="237744"/>
            <a:ext cx="603504" cy="603504"/>
          </a:xfrm>
          <a:prstGeom prst="roundRect">
            <a:avLst>
              <a:gd name="adj" fmla="val 12121"/>
            </a:avLst>
          </a:prstGeom>
          <a:solidFill>
            <a:srgbClr val="FFFFFF"/>
          </a:solidFill>
          <a:ln/>
        </p:spPr>
      </p:sp>
      <p:pic>
        <p:nvPicPr>
          <p:cNvPr id="8" name="Image 0" descr="logos/10_iam.png">    </p:cNvPr>
          <p:cNvPicPr>
            <a:picLocks noChangeAspect="1"/>
          </p:cNvPicPr>
          <p:nvPr/>
        </p:nvPicPr>
        <p:blipFill>
          <a:blip r:embed="rId1"/>
          <a:stretch>
            <a:fillRect/>
          </a:stretch>
        </p:blipFill>
        <p:spPr>
          <a:xfrm>
            <a:off x="10991088" y="301752"/>
            <a:ext cx="475488" cy="475488"/>
          </a:xfrm>
          <a:prstGeom prst="rect">
            <a:avLst/>
          </a:prstGeom>
        </p:spPr>
      </p:pic>
      <p:sp>
        <p:nvSpPr>
          <p:cNvPr id="9" name="Shape 6"/>
          <p:cNvSpPr/>
          <p:nvPr/>
        </p:nvSpPr>
        <p:spPr>
          <a:xfrm>
            <a:off x="548640" y="1371600"/>
            <a:ext cx="384048" cy="384048"/>
          </a:xfrm>
          <a:prstGeom prst="ellipse">
            <a:avLst/>
          </a:prstGeom>
          <a:solidFill>
            <a:srgbClr val="F9AB00"/>
          </a:solidFill>
          <a:ln/>
        </p:spPr>
      </p:sp>
      <p:sp>
        <p:nvSpPr>
          <p:cNvPr id="10" name="Text 7"/>
          <p:cNvSpPr/>
          <p:nvPr/>
        </p:nvSpPr>
        <p:spPr>
          <a:xfrm>
            <a:off x="548640" y="13716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1" name="Text 8"/>
          <p:cNvSpPr/>
          <p:nvPr/>
        </p:nvSpPr>
        <p:spPr>
          <a:xfrm>
            <a:off x="1078992" y="1316736"/>
            <a:ext cx="4956048" cy="914400"/>
          </a:xfrm>
          <a:prstGeom prst="rect">
            <a:avLst/>
          </a:prstGeom>
          <a:noFill/>
          <a:ln/>
        </p:spPr>
        <p:txBody>
          <a:bodyPr wrap="square" lIns="0" tIns="0" rIns="0" bIns="0" rtlCol="0" anchor="t"/>
          <a:lstStyle/>
          <a:p>
            <a:pPr indent="0" marL="0">
              <a:buNone/>
            </a:pPr>
            <a:r>
              <a:rPr lang="en-US" sz="1350" b="1" dirty="0">
                <a:solidFill>
                  <a:srgbClr val="202124"/>
                </a:solidFill>
                <a:latin typeface="Calibri" pitchFamily="34" charset="0"/>
                <a:ea typeface="Calibri" pitchFamily="34" charset="-122"/>
                <a:cs typeface="Calibri" pitchFamily="34" charset="-120"/>
              </a:rPr>
              <a:t>Créer le compte de service
</a:t>
            </a:r>
            <a:endParaRPr lang="en-US" sz="1350" dirty="0"/>
          </a:p>
          <a:p>
            <a:pPr indent="0" marL="0">
              <a:buNone/>
            </a:pPr>
            <a:r>
              <a:rPr lang="en-US" sz="1150" dirty="0">
                <a:solidFill>
                  <a:srgbClr val="5F6368"/>
                </a:solidFill>
                <a:latin typeface="Calibri" pitchFamily="34" charset="0"/>
                <a:ea typeface="Calibri" pitchFamily="34" charset="-122"/>
                <a:cs typeface="Calibri" pitchFamily="34" charset="-120"/>
              </a:rPr>
              <a:t>cloudbuild-runner</a:t>
            </a:r>
            <a:endParaRPr lang="en-US" sz="1350" dirty="0"/>
          </a:p>
        </p:txBody>
      </p:sp>
      <p:sp>
        <p:nvSpPr>
          <p:cNvPr id="12" name="Shape 9"/>
          <p:cNvSpPr/>
          <p:nvPr/>
        </p:nvSpPr>
        <p:spPr>
          <a:xfrm>
            <a:off x="548640" y="2286000"/>
            <a:ext cx="384048" cy="384048"/>
          </a:xfrm>
          <a:prstGeom prst="ellipse">
            <a:avLst/>
          </a:prstGeom>
          <a:solidFill>
            <a:srgbClr val="F9AB00"/>
          </a:solidFill>
          <a:ln/>
        </p:spPr>
      </p:sp>
      <p:sp>
        <p:nvSpPr>
          <p:cNvPr id="13" name="Text 10"/>
          <p:cNvSpPr/>
          <p:nvPr/>
        </p:nvSpPr>
        <p:spPr>
          <a:xfrm>
            <a:off x="548640" y="22860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1"/>
          <p:cNvSpPr/>
          <p:nvPr/>
        </p:nvSpPr>
        <p:spPr>
          <a:xfrm>
            <a:off x="1078992" y="2231136"/>
            <a:ext cx="4956048" cy="914400"/>
          </a:xfrm>
          <a:prstGeom prst="rect">
            <a:avLst/>
          </a:prstGeom>
          <a:noFill/>
          <a:ln/>
        </p:spPr>
        <p:txBody>
          <a:bodyPr wrap="square" lIns="0" tIns="0" rIns="0" bIns="0" rtlCol="0" anchor="t"/>
          <a:lstStyle/>
          <a:p>
            <a:pPr indent="0" marL="0">
              <a:buNone/>
            </a:pPr>
            <a:r>
              <a:rPr lang="en-US" sz="1350" b="1" dirty="0">
                <a:solidFill>
                  <a:srgbClr val="202124"/>
                </a:solidFill>
                <a:latin typeface="Calibri" pitchFamily="34" charset="0"/>
                <a:ea typeface="Calibri" pitchFamily="34" charset="-122"/>
                <a:cs typeface="Calibri" pitchFamily="34" charset="-120"/>
              </a:rPr>
              <a:t>Cloud Run Admin
</a:t>
            </a:r>
            <a:endParaRPr lang="en-US" sz="1350" dirty="0"/>
          </a:p>
          <a:p>
            <a:pPr indent="0" marL="0">
              <a:buNone/>
            </a:pPr>
            <a:r>
              <a:rPr lang="en-US" sz="1150" dirty="0">
                <a:solidFill>
                  <a:srgbClr val="5F6368"/>
                </a:solidFill>
                <a:latin typeface="Calibri" pitchFamily="34" charset="0"/>
                <a:ea typeface="Calibri" pitchFamily="34" charset="-122"/>
                <a:cs typeface="Calibri" pitchFamily="34" charset="-120"/>
              </a:rPr>
              <a:t>créer / mettre à jour les services</a:t>
            </a:r>
            <a:endParaRPr lang="en-US" sz="1350" dirty="0"/>
          </a:p>
        </p:txBody>
      </p:sp>
      <p:sp>
        <p:nvSpPr>
          <p:cNvPr id="15" name="Shape 12"/>
          <p:cNvSpPr/>
          <p:nvPr/>
        </p:nvSpPr>
        <p:spPr>
          <a:xfrm>
            <a:off x="548640" y="3200400"/>
            <a:ext cx="384048" cy="384048"/>
          </a:xfrm>
          <a:prstGeom prst="ellipse">
            <a:avLst/>
          </a:prstGeom>
          <a:solidFill>
            <a:srgbClr val="F9AB00"/>
          </a:solidFill>
          <a:ln/>
        </p:spPr>
      </p:sp>
      <p:sp>
        <p:nvSpPr>
          <p:cNvPr id="16" name="Text 13"/>
          <p:cNvSpPr/>
          <p:nvPr/>
        </p:nvSpPr>
        <p:spPr>
          <a:xfrm>
            <a:off x="548640" y="32004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4"/>
          <p:cNvSpPr/>
          <p:nvPr/>
        </p:nvSpPr>
        <p:spPr>
          <a:xfrm>
            <a:off x="1078992" y="3145536"/>
            <a:ext cx="4956048" cy="914400"/>
          </a:xfrm>
          <a:prstGeom prst="rect">
            <a:avLst/>
          </a:prstGeom>
          <a:noFill/>
          <a:ln/>
        </p:spPr>
        <p:txBody>
          <a:bodyPr wrap="square" lIns="0" tIns="0" rIns="0" bIns="0" rtlCol="0" anchor="t"/>
          <a:lstStyle/>
          <a:p>
            <a:pPr indent="0" marL="0">
              <a:buNone/>
            </a:pPr>
            <a:r>
              <a:rPr lang="en-US" sz="1350" b="1" dirty="0">
                <a:solidFill>
                  <a:srgbClr val="202124"/>
                </a:solidFill>
                <a:latin typeface="Calibri" pitchFamily="34" charset="0"/>
                <a:ea typeface="Calibri" pitchFamily="34" charset="-122"/>
                <a:cs typeface="Calibri" pitchFamily="34" charset="-120"/>
              </a:rPr>
              <a:t>Service Account User
</a:t>
            </a:r>
            <a:endParaRPr lang="en-US" sz="1350" dirty="0"/>
          </a:p>
          <a:p>
            <a:pPr indent="0" marL="0">
              <a:buNone/>
            </a:pPr>
            <a:r>
              <a:rPr lang="en-US" sz="1150" dirty="0">
                <a:solidFill>
                  <a:srgbClr val="5F6368"/>
                </a:solidFill>
                <a:latin typeface="Calibri" pitchFamily="34" charset="0"/>
                <a:ea typeface="Calibri" pitchFamily="34" charset="-122"/>
                <a:cs typeface="Calibri" pitchFamily="34" charset="-120"/>
              </a:rPr>
              <a:t>exécuter Cloud Run en tant que SA</a:t>
            </a:r>
            <a:endParaRPr lang="en-US" sz="1350" dirty="0"/>
          </a:p>
        </p:txBody>
      </p:sp>
      <p:sp>
        <p:nvSpPr>
          <p:cNvPr id="18" name="Shape 15"/>
          <p:cNvSpPr/>
          <p:nvPr/>
        </p:nvSpPr>
        <p:spPr>
          <a:xfrm>
            <a:off x="548640" y="4114800"/>
            <a:ext cx="384048" cy="384048"/>
          </a:xfrm>
          <a:prstGeom prst="ellipse">
            <a:avLst/>
          </a:prstGeom>
          <a:solidFill>
            <a:srgbClr val="F9AB00"/>
          </a:solidFill>
          <a:ln/>
        </p:spPr>
      </p:sp>
      <p:sp>
        <p:nvSpPr>
          <p:cNvPr id="19" name="Text 16"/>
          <p:cNvSpPr/>
          <p:nvPr/>
        </p:nvSpPr>
        <p:spPr>
          <a:xfrm>
            <a:off x="548640" y="41148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0" name="Text 17"/>
          <p:cNvSpPr/>
          <p:nvPr/>
        </p:nvSpPr>
        <p:spPr>
          <a:xfrm>
            <a:off x="1078992" y="4059936"/>
            <a:ext cx="4956048" cy="914400"/>
          </a:xfrm>
          <a:prstGeom prst="rect">
            <a:avLst/>
          </a:prstGeom>
          <a:noFill/>
          <a:ln/>
        </p:spPr>
        <p:txBody>
          <a:bodyPr wrap="square" lIns="0" tIns="0" rIns="0" bIns="0" rtlCol="0" anchor="t"/>
          <a:lstStyle/>
          <a:p>
            <a:pPr indent="0" marL="0">
              <a:buNone/>
            </a:pPr>
            <a:r>
              <a:rPr lang="en-US" sz="1350" b="1" dirty="0">
                <a:solidFill>
                  <a:srgbClr val="202124"/>
                </a:solidFill>
                <a:latin typeface="Calibri" pitchFamily="34" charset="0"/>
                <a:ea typeface="Calibri" pitchFamily="34" charset="-122"/>
                <a:cs typeface="Calibri" pitchFamily="34" charset="-120"/>
              </a:rPr>
              <a:t>Artifact Registry Writer
</a:t>
            </a:r>
            <a:endParaRPr lang="en-US" sz="1350" dirty="0"/>
          </a:p>
          <a:p>
            <a:pPr indent="0" marL="0">
              <a:buNone/>
            </a:pPr>
            <a:r>
              <a:rPr lang="en-US" sz="1150" dirty="0">
                <a:solidFill>
                  <a:srgbClr val="5F6368"/>
                </a:solidFill>
                <a:latin typeface="Calibri" pitchFamily="34" charset="0"/>
                <a:ea typeface="Calibri" pitchFamily="34" charset="-122"/>
                <a:cs typeface="Calibri" pitchFamily="34" charset="-120"/>
              </a:rPr>
              <a:t>pousser les images Docker</a:t>
            </a:r>
            <a:endParaRPr lang="en-US" sz="1350" dirty="0"/>
          </a:p>
        </p:txBody>
      </p:sp>
      <p:sp>
        <p:nvSpPr>
          <p:cNvPr id="21" name="Shape 18"/>
          <p:cNvSpPr/>
          <p:nvPr/>
        </p:nvSpPr>
        <p:spPr>
          <a:xfrm>
            <a:off x="548640" y="5029200"/>
            <a:ext cx="384048" cy="384048"/>
          </a:xfrm>
          <a:prstGeom prst="ellipse">
            <a:avLst/>
          </a:prstGeom>
          <a:solidFill>
            <a:srgbClr val="F9AB00"/>
          </a:solidFill>
          <a:ln/>
        </p:spPr>
      </p:sp>
      <p:sp>
        <p:nvSpPr>
          <p:cNvPr id="22" name="Text 19"/>
          <p:cNvSpPr/>
          <p:nvPr/>
        </p:nvSpPr>
        <p:spPr>
          <a:xfrm>
            <a:off x="548640" y="50292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3" name="Text 20"/>
          <p:cNvSpPr/>
          <p:nvPr/>
        </p:nvSpPr>
        <p:spPr>
          <a:xfrm>
            <a:off x="1078992" y="4974336"/>
            <a:ext cx="4956048" cy="914400"/>
          </a:xfrm>
          <a:prstGeom prst="rect">
            <a:avLst/>
          </a:prstGeom>
          <a:noFill/>
          <a:ln/>
        </p:spPr>
        <p:txBody>
          <a:bodyPr wrap="square" lIns="0" tIns="0" rIns="0" bIns="0" rtlCol="0" anchor="t"/>
          <a:lstStyle/>
          <a:p>
            <a:pPr indent="0" marL="0">
              <a:buNone/>
            </a:pPr>
            <a:r>
              <a:rPr lang="en-US" sz="1350" b="1" dirty="0">
                <a:solidFill>
                  <a:srgbClr val="202124"/>
                </a:solidFill>
                <a:latin typeface="Calibri" pitchFamily="34" charset="0"/>
                <a:ea typeface="Calibri" pitchFamily="34" charset="-122"/>
                <a:cs typeface="Calibri" pitchFamily="34" charset="-120"/>
              </a:rPr>
              <a:t>Storage Object Admin
</a:t>
            </a:r>
            <a:endParaRPr lang="en-US" sz="1350" dirty="0"/>
          </a:p>
          <a:p>
            <a:pPr indent="0" marL="0">
              <a:buNone/>
            </a:pPr>
            <a:r>
              <a:rPr lang="en-US" sz="1150" dirty="0">
                <a:solidFill>
                  <a:srgbClr val="5F6368"/>
                </a:solidFill>
                <a:latin typeface="Calibri" pitchFamily="34" charset="0"/>
                <a:ea typeface="Calibri" pitchFamily="34" charset="-122"/>
                <a:cs typeface="Calibri" pitchFamily="34" charset="-120"/>
              </a:rPr>
              <a:t>lire/écrire les checkpoints</a:t>
            </a:r>
            <a:endParaRPr lang="en-US" sz="1350" dirty="0"/>
          </a:p>
        </p:txBody>
      </p:sp>
      <p:sp>
        <p:nvSpPr>
          <p:cNvPr id="24" name="Shape 21"/>
          <p:cNvSpPr/>
          <p:nvPr/>
        </p:nvSpPr>
        <p:spPr>
          <a:xfrm>
            <a:off x="6309360" y="1371600"/>
            <a:ext cx="5349240" cy="4572000"/>
          </a:xfrm>
          <a:prstGeom prst="rect">
            <a:avLst/>
          </a:prstGeom>
          <a:solidFill>
            <a:srgbClr val="0E1A33"/>
          </a:solidFill>
          <a:ln/>
          <a:effectLst>
            <a:outerShdw sx="100000" sy="100000" kx="0" ky="0" algn="bl" rotWithShape="0" blurRad="88900" dist="38100" dir="5400000">
              <a:srgbClr val="8A94AD">
                <a:alpha val="26000"/>
              </a:srgbClr>
            </a:outerShdw>
          </a:effectLst>
        </p:spPr>
      </p:sp>
      <p:sp>
        <p:nvSpPr>
          <p:cNvPr id="25" name="Text 22"/>
          <p:cNvSpPr/>
          <p:nvPr/>
        </p:nvSpPr>
        <p:spPr>
          <a:xfrm>
            <a:off x="6473952" y="1481328"/>
            <a:ext cx="5020056" cy="4352544"/>
          </a:xfrm>
          <a:prstGeom prst="rect">
            <a:avLst/>
          </a:prstGeom>
          <a:noFill/>
          <a:ln/>
        </p:spPr>
        <p:txBody>
          <a:bodyPr wrap="square" lIns="0" tIns="0" rIns="0" bIns="0" rtlCol="0" anchor="t"/>
          <a:lstStyle/>
          <a:p>
            <a:pPr indent="0" marL="0">
              <a:buNone/>
            </a:pPr>
            <a:r>
              <a:rPr lang="en-US" sz="900" dirty="0">
                <a:solidFill>
                  <a:srgbClr val="DCE3F2"/>
                </a:solidFill>
                <a:latin typeface="Consolas" pitchFamily="34" charset="0"/>
                <a:ea typeface="Consolas" pitchFamily="34" charset="-122"/>
                <a:cs typeface="Consolas" pitchFamily="34" charset="-120"/>
              </a:rPr>
              <a:t>PROJECT_NUMBER=97374817504</a:t>
            </a:r>
            <a:endParaRPr lang="en-US" sz="900" dirty="0"/>
          </a:p>
          <a:p>
            <a:pPr indent="0" marL="0">
              <a:buNone/>
            </a:pPr>
            <a:r>
              <a:rPr lang="en-US" sz="900" dirty="0">
                <a:solidFill>
                  <a:srgbClr val="DCE3F2"/>
                </a:solidFill>
                <a:latin typeface="Consolas" pitchFamily="34" charset="0"/>
                <a:ea typeface="Consolas" pitchFamily="34" charset="-122"/>
                <a:cs typeface="Consolas" pitchFamily="34" charset="-120"/>
              </a:rPr>
              <a:t>SA=cloudbuild-runner@mgvaovao-ia\</a:t>
            </a:r>
            <a:endParaRPr lang="en-US" sz="900" dirty="0"/>
          </a:p>
          <a:p>
            <a:pPr indent="0" marL="0">
              <a:buNone/>
            </a:pPr>
            <a:r>
              <a:rPr lang="en-US" sz="900" dirty="0">
                <a:solidFill>
                  <a:srgbClr val="DCE3F2"/>
                </a:solidFill>
                <a:latin typeface="Consolas" pitchFamily="34" charset="0"/>
                <a:ea typeface="Consolas" pitchFamily="34" charset="-122"/>
                <a:cs typeface="Consolas" pitchFamily="34" charset="-120"/>
              </a:rPr>
              <a:t>.iam.gserviceaccount.com</a:t>
            </a:r>
            <a:endParaRPr lang="en-US" sz="900" dirty="0"/>
          </a:p>
          <a:p>
            <a:pPr indent="0" marL="0">
              <a:buNone/>
            </a:pPr>
            <a:r>
              <a:rPr lang="en-US" sz="900" dirty="0">
                <a:solidFill>
                  <a:srgbClr val="DCE3F2"/>
                </a:solidFill>
                <a:latin typeface="Consolas" pitchFamily="34" charset="0"/>
                <a:ea typeface="Consolas" pitchFamily="34" charset="-122"/>
                <a:cs typeface="Consolas" pitchFamily="34" charset="-120"/>
              </a:rPr>
              <a:t> </a:t>
            </a:r>
            <a:endParaRPr lang="en-US" sz="900" dirty="0"/>
          </a:p>
          <a:p>
            <a:pPr indent="0" marL="0">
              <a:buNone/>
            </a:pPr>
            <a:r>
              <a:rPr lang="en-US" sz="900" dirty="0">
                <a:solidFill>
                  <a:srgbClr val="7F8CA8"/>
                </a:solidFill>
                <a:latin typeface="Consolas" pitchFamily="34" charset="0"/>
                <a:ea typeface="Consolas" pitchFamily="34" charset="-122"/>
                <a:cs typeface="Consolas" pitchFamily="34" charset="-120"/>
              </a:rPr>
              <a:t># 1. Créer le compte de service</a:t>
            </a:r>
            <a:endParaRPr lang="en-US" sz="900" dirty="0"/>
          </a:p>
          <a:p>
            <a:pPr indent="0" marL="0">
              <a:buNone/>
            </a:pPr>
            <a:r>
              <a:rPr lang="en-US" sz="900" dirty="0">
                <a:solidFill>
                  <a:srgbClr val="DCE3F2"/>
                </a:solidFill>
                <a:latin typeface="Consolas" pitchFamily="34" charset="0"/>
                <a:ea typeface="Consolas" pitchFamily="34" charset="-122"/>
                <a:cs typeface="Consolas" pitchFamily="34" charset="-120"/>
              </a:rPr>
              <a:t>gcloud iam service-accounts create \</a:t>
            </a:r>
            <a:endParaRPr lang="en-US" sz="900" dirty="0"/>
          </a:p>
          <a:p>
            <a:pPr indent="0" marL="0">
              <a:buNone/>
            </a:pPr>
            <a:r>
              <a:rPr lang="en-US" sz="900" dirty="0">
                <a:solidFill>
                  <a:srgbClr val="DCE3F2"/>
                </a:solidFill>
                <a:latin typeface="Consolas" pitchFamily="34" charset="0"/>
                <a:ea typeface="Consolas" pitchFamily="34" charset="-122"/>
                <a:cs typeface="Consolas" pitchFamily="34" charset="-120"/>
              </a:rPr>
              <a:t>  cloudbuild-runner \</a:t>
            </a:r>
            <a:endParaRPr lang="en-US" sz="900" dirty="0"/>
          </a:p>
          <a:p>
            <a:pPr indent="0" marL="0">
              <a:buNone/>
            </a:pPr>
            <a:r>
              <a:rPr lang="en-US" sz="900" dirty="0">
                <a:solidFill>
                  <a:srgbClr val="DCE3F2"/>
                </a:solidFill>
                <a:latin typeface="Consolas" pitchFamily="34" charset="0"/>
                <a:ea typeface="Consolas" pitchFamily="34" charset="-122"/>
                <a:cs typeface="Consolas" pitchFamily="34" charset="-120"/>
              </a:rPr>
              <a:t>  --display-name="Cloud Build deploy"</a:t>
            </a:r>
            <a:endParaRPr lang="en-US" sz="900" dirty="0"/>
          </a:p>
          <a:p>
            <a:pPr indent="0" marL="0">
              <a:buNone/>
            </a:pPr>
            <a:r>
              <a:rPr lang="en-US" sz="900" dirty="0">
                <a:solidFill>
                  <a:srgbClr val="DCE3F2"/>
                </a:solidFill>
                <a:latin typeface="Consolas" pitchFamily="34" charset="0"/>
                <a:ea typeface="Consolas" pitchFamily="34" charset="-122"/>
                <a:cs typeface="Consolas" pitchFamily="34" charset="-120"/>
              </a:rPr>
              <a:t> </a:t>
            </a:r>
            <a:endParaRPr lang="en-US" sz="900" dirty="0"/>
          </a:p>
          <a:p>
            <a:pPr indent="0" marL="0">
              <a:buNone/>
            </a:pPr>
            <a:r>
              <a:rPr lang="en-US" sz="900" dirty="0">
                <a:solidFill>
                  <a:srgbClr val="7F8CA8"/>
                </a:solidFill>
                <a:latin typeface="Consolas" pitchFamily="34" charset="0"/>
                <a:ea typeface="Consolas" pitchFamily="34" charset="-122"/>
                <a:cs typeface="Consolas" pitchFamily="34" charset="-120"/>
              </a:rPr>
              <a:t># 2-5. Accorder les rôles</a:t>
            </a:r>
            <a:endParaRPr lang="en-US" sz="900" dirty="0"/>
          </a:p>
          <a:p>
            <a:pPr indent="0" marL="0">
              <a:buNone/>
            </a:pPr>
            <a:r>
              <a:rPr lang="en-US" sz="900" dirty="0">
                <a:solidFill>
                  <a:srgbClr val="DCE3F2"/>
                </a:solidFill>
                <a:latin typeface="Consolas" pitchFamily="34" charset="0"/>
                <a:ea typeface="Consolas" pitchFamily="34" charset="-122"/>
                <a:cs typeface="Consolas" pitchFamily="34" charset="-120"/>
              </a:rPr>
              <a:t>for R in run.admin \</a:t>
            </a:r>
            <a:endParaRPr lang="en-US" sz="900" dirty="0"/>
          </a:p>
          <a:p>
            <a:pPr indent="0" marL="0">
              <a:buNone/>
            </a:pPr>
            <a:r>
              <a:rPr lang="en-US" sz="900" dirty="0">
                <a:solidFill>
                  <a:srgbClr val="DCE3F2"/>
                </a:solidFill>
                <a:latin typeface="Consolas" pitchFamily="34" charset="0"/>
                <a:ea typeface="Consolas" pitchFamily="34" charset="-122"/>
                <a:cs typeface="Consolas" pitchFamily="34" charset="-120"/>
              </a:rPr>
              <a:t>  iam.serviceAccountUser \</a:t>
            </a:r>
            <a:endParaRPr lang="en-US" sz="900" dirty="0"/>
          </a:p>
          <a:p>
            <a:pPr indent="0" marL="0">
              <a:buNone/>
            </a:pPr>
            <a:r>
              <a:rPr lang="en-US" sz="900" dirty="0">
                <a:solidFill>
                  <a:srgbClr val="DCE3F2"/>
                </a:solidFill>
                <a:latin typeface="Consolas" pitchFamily="34" charset="0"/>
                <a:ea typeface="Consolas" pitchFamily="34" charset="-122"/>
                <a:cs typeface="Consolas" pitchFamily="34" charset="-120"/>
              </a:rPr>
              <a:t>  artifactregistry.writer \</a:t>
            </a:r>
            <a:endParaRPr lang="en-US" sz="900" dirty="0"/>
          </a:p>
          <a:p>
            <a:pPr indent="0" marL="0">
              <a:buNone/>
            </a:pPr>
            <a:r>
              <a:rPr lang="en-US" sz="900" dirty="0">
                <a:solidFill>
                  <a:srgbClr val="DCE3F2"/>
                </a:solidFill>
                <a:latin typeface="Consolas" pitchFamily="34" charset="0"/>
                <a:ea typeface="Consolas" pitchFamily="34" charset="-122"/>
                <a:cs typeface="Consolas" pitchFamily="34" charset="-120"/>
              </a:rPr>
              <a:t>  storage.objectAdmin; do</a:t>
            </a:r>
            <a:endParaRPr lang="en-US" sz="900" dirty="0"/>
          </a:p>
          <a:p>
            <a:pPr indent="0" marL="0">
              <a:buNone/>
            </a:pPr>
            <a:r>
              <a:rPr lang="en-US" sz="900" dirty="0">
                <a:solidFill>
                  <a:srgbClr val="DCE3F2"/>
                </a:solidFill>
                <a:latin typeface="Consolas" pitchFamily="34" charset="0"/>
                <a:ea typeface="Consolas" pitchFamily="34" charset="-122"/>
                <a:cs typeface="Consolas" pitchFamily="34" charset="-120"/>
              </a:rPr>
              <a:t>  gcloud projects \</a:t>
            </a:r>
            <a:endParaRPr lang="en-US" sz="900" dirty="0"/>
          </a:p>
          <a:p>
            <a:pPr indent="0" marL="0">
              <a:buNone/>
            </a:pPr>
            <a:r>
              <a:rPr lang="en-US" sz="900" dirty="0">
                <a:solidFill>
                  <a:srgbClr val="DCE3F2"/>
                </a:solidFill>
                <a:latin typeface="Consolas" pitchFamily="34" charset="0"/>
                <a:ea typeface="Consolas" pitchFamily="34" charset="-122"/>
                <a:cs typeface="Consolas" pitchFamily="34" charset="-120"/>
              </a:rPr>
              <a:t>    add-iam-policy-binding mgvaovao-ia \</a:t>
            </a:r>
            <a:endParaRPr lang="en-US" sz="900" dirty="0"/>
          </a:p>
          <a:p>
            <a:pPr indent="0" marL="0">
              <a:buNone/>
            </a:pPr>
            <a:r>
              <a:rPr lang="en-US" sz="900" dirty="0">
                <a:solidFill>
                  <a:srgbClr val="DCE3F2"/>
                </a:solidFill>
                <a:latin typeface="Consolas" pitchFamily="34" charset="0"/>
                <a:ea typeface="Consolas" pitchFamily="34" charset="-122"/>
                <a:cs typeface="Consolas" pitchFamily="34" charset="-120"/>
              </a:rPr>
              <a:t>    --member="serviceAccount:$SA" \</a:t>
            </a:r>
            <a:endParaRPr lang="en-US" sz="900" dirty="0"/>
          </a:p>
          <a:p>
            <a:pPr indent="0" marL="0">
              <a:buNone/>
            </a:pPr>
            <a:r>
              <a:rPr lang="en-US" sz="900" dirty="0">
                <a:solidFill>
                  <a:srgbClr val="DCE3F2"/>
                </a:solidFill>
                <a:latin typeface="Consolas" pitchFamily="34" charset="0"/>
                <a:ea typeface="Consolas" pitchFamily="34" charset="-122"/>
                <a:cs typeface="Consolas" pitchFamily="34" charset="-120"/>
              </a:rPr>
              <a:t>    --role="roles/$R"</a:t>
            </a:r>
            <a:endParaRPr lang="en-US" sz="900" dirty="0"/>
          </a:p>
          <a:p>
            <a:pPr indent="0" marL="0">
              <a:buNone/>
            </a:pPr>
            <a:r>
              <a:rPr lang="en-US" sz="900" dirty="0">
                <a:solidFill>
                  <a:srgbClr val="DCE3F2"/>
                </a:solidFill>
                <a:latin typeface="Consolas" pitchFamily="34" charset="0"/>
                <a:ea typeface="Consolas" pitchFamily="34" charset="-122"/>
                <a:cs typeface="Consolas" pitchFamily="34" charset="-120"/>
              </a:rPr>
              <a:t>done</a:t>
            </a:r>
            <a:endParaRPr lang="en-US" sz="900" dirty="0"/>
          </a:p>
        </p:txBody>
      </p:sp>
      <p:sp>
        <p:nvSpPr>
          <p:cNvPr id="26" name="Text 23"/>
          <p:cNvSpPr/>
          <p:nvPr/>
        </p:nvSpPr>
        <p:spPr>
          <a:xfrm>
            <a:off x="548640" y="6510528"/>
            <a:ext cx="11155680" cy="274320"/>
          </a:xfrm>
          <a:prstGeom prst="rect">
            <a:avLst/>
          </a:prstGeom>
          <a:noFill/>
          <a:ln/>
        </p:spPr>
        <p:txBody>
          <a:bodyPr wrap="square" lIns="0" tIns="0" rIns="0" bIns="0" rtlCol="0" anchor="ctr"/>
          <a:lstStyle/>
          <a:p>
            <a:pPr indent="0" marL="0">
              <a:buNone/>
            </a:pPr>
            <a:r>
              <a:rPr lang="en-US" sz="950" i="1" dirty="0">
                <a:solidFill>
                  <a:srgbClr val="5F6368"/>
                </a:solidFill>
                <a:latin typeface="Calibri" pitchFamily="34" charset="0"/>
                <a:ea typeface="Calibri" pitchFamily="34" charset="-122"/>
                <a:cs typeface="Calibri" pitchFamily="34" charset="-120"/>
              </a:rPr>
              <a:t>Source : README §18.1 — Step 7 (création SA + 4 bindings de rôles)</a:t>
            </a:r>
            <a:endParaRPr lang="en-US" sz="950" dirty="0"/>
          </a:p>
        </p:txBody>
      </p:sp>
      <p:sp>
        <p:nvSpPr>
          <p:cNvPr id="27" name="Text 24"/>
          <p:cNvSpPr/>
          <p:nvPr/>
        </p:nvSpPr>
        <p:spPr>
          <a:xfrm>
            <a:off x="2103120" y="6099048"/>
            <a:ext cx="3200400" cy="182880"/>
          </a:xfrm>
          <a:prstGeom prst="rect">
            <a:avLst/>
          </a:prstGeom>
          <a:noFill/>
          <a:ln/>
        </p:spPr>
        <p:txBody>
          <a:bodyPr wrap="square" lIns="0" tIns="0" rIns="0" bIns="0" rtlCol="0" anchor="ctr"/>
          <a:lstStyle/>
          <a:p>
            <a:pPr indent="0" marL="0">
              <a:buNone/>
            </a:pPr>
            <a:r>
              <a:rPr lang="en-US" sz="850" b="1" dirty="0">
                <a:solidFill>
                  <a:srgbClr val="97A1B5"/>
                </a:solidFill>
                <a:latin typeface="Calibri" pitchFamily="34" charset="0"/>
                <a:ea typeface="Calibri" pitchFamily="34" charset="-122"/>
                <a:cs typeface="Calibri" pitchFamily="34" charset="-120"/>
              </a:rPr>
              <a:t>Tsantaniaina Rakotonjanahary Ambaorasoa Guillaume</a:t>
            </a:r>
            <a:endParaRPr lang="en-US" sz="850" dirty="0"/>
          </a:p>
        </p:txBody>
      </p:sp>
      <p:sp>
        <p:nvSpPr>
          <p:cNvPr id="28" name="Shape 25"/>
          <p:cNvSpPr/>
          <p:nvPr/>
        </p:nvSpPr>
        <p:spPr>
          <a:xfrm>
            <a:off x="11137392" y="5852160"/>
            <a:ext cx="914400" cy="914400"/>
          </a:xfrm>
          <a:prstGeom prst="roundRect">
            <a:avLst>
              <a:gd name="adj" fmla="val 10000"/>
            </a:avLst>
          </a:prstGeom>
          <a:solidFill>
            <a:srgbClr val="FFFFFF"/>
          </a:solidFill>
          <a:ln w="12700">
            <a:solidFill>
              <a:srgbClr val="D6DEEC"/>
            </a:solidFill>
            <a:prstDash val="solid"/>
          </a:ln>
          <a:effectLst>
            <a:outerShdw sx="100000" sy="100000" kx="0" ky="0" algn="bl" rotWithShape="0" blurRad="88900" dist="38100" dir="5400000">
              <a:srgbClr val="8A94AD">
                <a:alpha val="26000"/>
              </a:srgbClr>
            </a:outerShdw>
          </a:effectLst>
        </p:spPr>
      </p:sp>
      <p:pic>
        <p:nvPicPr>
          <p:cNvPr id="29" name="Image 1" descr="logos/logo_mdn.png">    </p:cNvPr>
          <p:cNvPicPr>
            <a:picLocks noChangeAspect="1"/>
          </p:cNvPicPr>
          <p:nvPr/>
        </p:nvPicPr>
        <p:blipFill>
          <a:blip r:embed="rId2"/>
          <a:stretch>
            <a:fillRect/>
          </a:stretch>
        </p:blipFill>
        <p:spPr>
          <a:xfrm>
            <a:off x="11237976" y="5952744"/>
            <a:ext cx="713232" cy="71323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F9AB00"/>
          </a:solidFill>
          <a:ln/>
        </p:spPr>
      </p:sp>
      <p:sp>
        <p:nvSpPr>
          <p:cNvPr id="3" name="Shape 1"/>
          <p:cNvSpPr/>
          <p:nvPr/>
        </p:nvSpPr>
        <p:spPr>
          <a:xfrm>
            <a:off x="146304" y="0"/>
            <a:ext cx="12042648" cy="1078992"/>
          </a:xfrm>
          <a:prstGeom prst="rect">
            <a:avLst/>
          </a:prstGeom>
          <a:solidFill>
            <a:srgbClr val="1B2A4A"/>
          </a:solidFill>
          <a:ln/>
        </p:spPr>
      </p:sp>
      <p:sp>
        <p:nvSpPr>
          <p:cNvPr id="4" name="Text 2"/>
          <p:cNvSpPr/>
          <p:nvPr/>
        </p:nvSpPr>
        <p:spPr>
          <a:xfrm>
            <a:off x="548640" y="182880"/>
            <a:ext cx="9601200" cy="292608"/>
          </a:xfrm>
          <a:prstGeom prst="rect">
            <a:avLst/>
          </a:prstGeom>
          <a:noFill/>
          <a:ln/>
        </p:spPr>
        <p:txBody>
          <a:bodyPr wrap="square" lIns="0" tIns="0" rIns="0" bIns="0" rtlCol="0" anchor="ctr"/>
          <a:lstStyle/>
          <a:p>
            <a:pPr indent="0" marL="0">
              <a:buNone/>
            </a:pPr>
            <a:r>
              <a:rPr lang="en-US" sz="1200" b="1" spc="150" kern="0" dirty="0">
                <a:solidFill>
                  <a:srgbClr val="FDD663"/>
                </a:solidFill>
                <a:latin typeface="Calibri" pitchFamily="34" charset="0"/>
                <a:ea typeface="Calibri" pitchFamily="34" charset="-122"/>
                <a:cs typeface="Calibri" pitchFamily="34" charset="-120"/>
              </a:rPr>
              <a:t>SA PAR DÉFAUT DE CLOUD BUILD &amp; DE VERTEX</a:t>
            </a:r>
            <a:endParaRPr lang="en-US" sz="1200" dirty="0"/>
          </a:p>
        </p:txBody>
      </p:sp>
      <p:sp>
        <p:nvSpPr>
          <p:cNvPr id="5" name="Text 3"/>
          <p:cNvSpPr/>
          <p:nvPr/>
        </p:nvSpPr>
        <p:spPr>
          <a:xfrm>
            <a:off x="530352" y="438912"/>
            <a:ext cx="9692640" cy="566928"/>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IAM — comptes &amp; vérification</a:t>
            </a:r>
            <a:endParaRPr lang="en-US" sz="2700" dirty="0"/>
          </a:p>
        </p:txBody>
      </p:sp>
      <p:sp>
        <p:nvSpPr>
          <p:cNvPr id="6" name="Text 4"/>
          <p:cNvSpPr/>
          <p:nvPr/>
        </p:nvSpPr>
        <p:spPr>
          <a:xfrm>
            <a:off x="8229600" y="182880"/>
            <a:ext cx="1828800" cy="274320"/>
          </a:xfrm>
          <a:prstGeom prst="rect">
            <a:avLst/>
          </a:prstGeom>
          <a:noFill/>
          <a:ln/>
        </p:spPr>
        <p:txBody>
          <a:bodyPr wrap="square" lIns="0" tIns="0" rIns="0" bIns="0" rtlCol="0" anchor="ctr"/>
          <a:lstStyle/>
          <a:p>
            <a:pPr algn="r" indent="0" marL="0">
              <a:buNone/>
            </a:pPr>
            <a:r>
              <a:rPr lang="en-US" sz="1050" b="1" spc="100" kern="0" dirty="0">
                <a:solidFill>
                  <a:srgbClr val="8FA0C4"/>
                </a:solidFill>
                <a:latin typeface="Calibri" pitchFamily="34" charset="0"/>
                <a:ea typeface="Calibri" pitchFamily="34" charset="-122"/>
                <a:cs typeface="Calibri" pitchFamily="34" charset="-120"/>
              </a:rPr>
              <a:t>PARTIE 2</a:t>
            </a:r>
            <a:endParaRPr lang="en-US" sz="1050" dirty="0"/>
          </a:p>
        </p:txBody>
      </p:sp>
      <p:sp>
        <p:nvSpPr>
          <p:cNvPr id="7" name="Shape 5"/>
          <p:cNvSpPr/>
          <p:nvPr/>
        </p:nvSpPr>
        <p:spPr>
          <a:xfrm>
            <a:off x="10927080" y="237744"/>
            <a:ext cx="603504" cy="603504"/>
          </a:xfrm>
          <a:prstGeom prst="roundRect">
            <a:avLst>
              <a:gd name="adj" fmla="val 12121"/>
            </a:avLst>
          </a:prstGeom>
          <a:solidFill>
            <a:srgbClr val="FFFFFF"/>
          </a:solidFill>
          <a:ln/>
        </p:spPr>
      </p:sp>
      <p:pic>
        <p:nvPicPr>
          <p:cNvPr id="8" name="Image 0" descr="logos/10_iam.png">    </p:cNvPr>
          <p:cNvPicPr>
            <a:picLocks noChangeAspect="1"/>
          </p:cNvPicPr>
          <p:nvPr/>
        </p:nvPicPr>
        <p:blipFill>
          <a:blip r:embed="rId1"/>
          <a:stretch>
            <a:fillRect/>
          </a:stretch>
        </p:blipFill>
        <p:spPr>
          <a:xfrm>
            <a:off x="10991088" y="301752"/>
            <a:ext cx="475488" cy="475488"/>
          </a:xfrm>
          <a:prstGeom prst="rect">
            <a:avLst/>
          </a:prstGeom>
        </p:spPr>
      </p:pic>
      <p:sp>
        <p:nvSpPr>
          <p:cNvPr id="9" name="Text 6"/>
          <p:cNvSpPr/>
          <p:nvPr/>
        </p:nvSpPr>
        <p:spPr>
          <a:xfrm>
            <a:off x="548640" y="1325880"/>
            <a:ext cx="11064240" cy="640080"/>
          </a:xfrm>
          <a:prstGeom prst="rect">
            <a:avLst/>
          </a:prstGeom>
          <a:noFill/>
          <a:ln/>
        </p:spPr>
        <p:txBody>
          <a:bodyPr wrap="square" lIns="0" tIns="0" rIns="0" bIns="0" rtlCol="0" anchor="t"/>
          <a:lstStyle/>
          <a:p>
            <a:pPr indent="0" marL="0">
              <a:buNone/>
            </a:pPr>
            <a:r>
              <a:rPr lang="en-US" sz="1300" dirty="0">
                <a:solidFill>
                  <a:srgbClr val="202124"/>
                </a:solidFill>
                <a:latin typeface="Calibri" pitchFamily="34" charset="0"/>
                <a:ea typeface="Calibri" pitchFamily="34" charset="-122"/>
                <a:cs typeface="Calibri" pitchFamily="34" charset="-120"/>
              </a:rPr>
              <a:t>Deux comptes de service gérés par Google reçoivent aussi des rôles : celui utilisé par « gcloud builds submit » et le compte Compute par défaut utilisé par les jobs Vertex AI.</a:t>
            </a:r>
            <a:endParaRPr lang="en-US" sz="1300" dirty="0"/>
          </a:p>
        </p:txBody>
      </p:sp>
      <p:sp>
        <p:nvSpPr>
          <p:cNvPr id="10" name="Text 7"/>
          <p:cNvSpPr/>
          <p:nvPr/>
        </p:nvSpPr>
        <p:spPr>
          <a:xfrm>
            <a:off x="548640" y="2103120"/>
            <a:ext cx="5486400" cy="274320"/>
          </a:xfrm>
          <a:prstGeom prst="rect">
            <a:avLst/>
          </a:prstGeom>
          <a:noFill/>
          <a:ln/>
        </p:spPr>
        <p:txBody>
          <a:bodyPr wrap="square" lIns="0" tIns="0" rIns="0" bIns="0" rtlCol="0" anchor="ctr"/>
          <a:lstStyle/>
          <a:p>
            <a:pPr indent="0" marL="0">
              <a:buNone/>
            </a:pPr>
            <a:r>
              <a:rPr lang="en-US" sz="1300" b="1" spc="100" kern="0" dirty="0">
                <a:solidFill>
                  <a:srgbClr val="B06000"/>
                </a:solidFill>
                <a:latin typeface="Calibri" pitchFamily="34" charset="0"/>
                <a:ea typeface="Calibri" pitchFamily="34" charset="-122"/>
                <a:cs typeface="Calibri" pitchFamily="34" charset="-120"/>
              </a:rPr>
              <a:t>SA PAR DÉFAUT DE CLOUD BUILD</a:t>
            </a:r>
            <a:endParaRPr lang="en-US" sz="1300" dirty="0"/>
          </a:p>
        </p:txBody>
      </p:sp>
      <p:sp>
        <p:nvSpPr>
          <p:cNvPr id="11" name="Shape 8"/>
          <p:cNvSpPr/>
          <p:nvPr/>
        </p:nvSpPr>
        <p:spPr>
          <a:xfrm>
            <a:off x="548640" y="2423160"/>
            <a:ext cx="5486400" cy="2286000"/>
          </a:xfrm>
          <a:prstGeom prst="rect">
            <a:avLst/>
          </a:prstGeom>
          <a:solidFill>
            <a:srgbClr val="0E1A33"/>
          </a:solidFill>
          <a:ln/>
          <a:effectLst>
            <a:outerShdw sx="100000" sy="100000" kx="0" ky="0" algn="bl" rotWithShape="0" blurRad="88900" dist="38100" dir="5400000">
              <a:srgbClr val="8A94AD">
                <a:alpha val="26000"/>
              </a:srgbClr>
            </a:outerShdw>
          </a:effectLst>
        </p:spPr>
      </p:sp>
      <p:sp>
        <p:nvSpPr>
          <p:cNvPr id="12" name="Text 9"/>
          <p:cNvSpPr/>
          <p:nvPr/>
        </p:nvSpPr>
        <p:spPr>
          <a:xfrm>
            <a:off x="713232" y="2532888"/>
            <a:ext cx="5157216" cy="2066544"/>
          </a:xfrm>
          <a:prstGeom prst="rect">
            <a:avLst/>
          </a:prstGeom>
          <a:noFill/>
          <a:ln/>
        </p:spPr>
        <p:txBody>
          <a:bodyPr wrap="square" lIns="0" tIns="0" rIns="0" bIns="0" rtlCol="0" anchor="t"/>
          <a:lstStyle/>
          <a:p>
            <a:pPr indent="0" marL="0">
              <a:buNone/>
            </a:pPr>
            <a:r>
              <a:rPr lang="en-US" sz="900" dirty="0">
                <a:solidFill>
                  <a:srgbClr val="7F8CA8"/>
                </a:solidFill>
                <a:latin typeface="Consolas" pitchFamily="34" charset="0"/>
                <a:ea typeface="Consolas" pitchFamily="34" charset="-122"/>
                <a:cs typeface="Consolas" pitchFamily="34" charset="-120"/>
              </a:rPr>
              <a:t># Utilisé par: gcloud builds submit</a:t>
            </a:r>
            <a:endParaRPr lang="en-US" sz="900" dirty="0"/>
          </a:p>
          <a:p>
            <a:pPr indent="0" marL="0">
              <a:buNone/>
            </a:pPr>
            <a:r>
              <a:rPr lang="en-US" sz="900" dirty="0">
                <a:solidFill>
                  <a:srgbClr val="DCE3F2"/>
                </a:solidFill>
                <a:latin typeface="Consolas" pitchFamily="34" charset="0"/>
                <a:ea typeface="Consolas" pitchFamily="34" charset="-122"/>
                <a:cs typeface="Consolas" pitchFamily="34" charset="-120"/>
              </a:rPr>
              <a:t>SA=$PROJECT_NUMBER@cloudbuild\</a:t>
            </a:r>
            <a:endParaRPr lang="en-US" sz="900" dirty="0"/>
          </a:p>
          <a:p>
            <a:pPr indent="0" marL="0">
              <a:buNone/>
            </a:pPr>
            <a:r>
              <a:rPr lang="en-US" sz="900" dirty="0">
                <a:solidFill>
                  <a:srgbClr val="DCE3F2"/>
                </a:solidFill>
                <a:latin typeface="Consolas" pitchFamily="34" charset="0"/>
                <a:ea typeface="Consolas" pitchFamily="34" charset="-122"/>
                <a:cs typeface="Consolas" pitchFamily="34" charset="-120"/>
              </a:rPr>
              <a:t>.gserviceaccount.com</a:t>
            </a:r>
            <a:endParaRPr lang="en-US" sz="900" dirty="0"/>
          </a:p>
          <a:p>
            <a:pPr indent="0" marL="0">
              <a:buNone/>
            </a:pPr>
            <a:r>
              <a:rPr lang="en-US" sz="900" dirty="0">
                <a:solidFill>
                  <a:srgbClr val="DCE3F2"/>
                </a:solidFill>
                <a:latin typeface="Consolas" pitchFamily="34" charset="0"/>
                <a:ea typeface="Consolas" pitchFamily="34" charset="-122"/>
                <a:cs typeface="Consolas" pitchFamily="34" charset="-120"/>
              </a:rPr>
              <a:t> </a:t>
            </a:r>
            <a:endParaRPr lang="en-US" sz="900" dirty="0"/>
          </a:p>
          <a:p>
            <a:pPr indent="0" marL="0">
              <a:buNone/>
            </a:pPr>
            <a:r>
              <a:rPr lang="en-US" sz="900" dirty="0">
                <a:solidFill>
                  <a:srgbClr val="DCE3F2"/>
                </a:solidFill>
                <a:latin typeface="Consolas" pitchFamily="34" charset="0"/>
                <a:ea typeface="Consolas" pitchFamily="34" charset="-122"/>
                <a:cs typeface="Consolas" pitchFamily="34" charset="-120"/>
              </a:rPr>
              <a:t>gcloud projects add-iam-policy-binding \</a:t>
            </a:r>
            <a:endParaRPr lang="en-US" sz="900" dirty="0"/>
          </a:p>
          <a:p>
            <a:pPr indent="0" marL="0">
              <a:buNone/>
            </a:pPr>
            <a:r>
              <a:rPr lang="en-US" sz="900" dirty="0">
                <a:solidFill>
                  <a:srgbClr val="DCE3F2"/>
                </a:solidFill>
                <a:latin typeface="Consolas" pitchFamily="34" charset="0"/>
                <a:ea typeface="Consolas" pitchFamily="34" charset="-122"/>
                <a:cs typeface="Consolas" pitchFamily="34" charset="-120"/>
              </a:rPr>
              <a:t>  mgvaovao-ia --member="serviceAccount:$SA" \</a:t>
            </a:r>
            <a:endParaRPr lang="en-US" sz="900" dirty="0"/>
          </a:p>
          <a:p>
            <a:pPr indent="0" marL="0">
              <a:buNone/>
            </a:pPr>
            <a:r>
              <a:rPr lang="en-US" sz="900" dirty="0">
                <a:solidFill>
                  <a:srgbClr val="DCE3F2"/>
                </a:solidFill>
                <a:latin typeface="Consolas" pitchFamily="34" charset="0"/>
                <a:ea typeface="Consolas" pitchFamily="34" charset="-122"/>
                <a:cs typeface="Consolas" pitchFamily="34" charset="-120"/>
              </a:rPr>
              <a:t>  --role="roles/run.admin"</a:t>
            </a:r>
            <a:endParaRPr lang="en-US" sz="900" dirty="0"/>
          </a:p>
          <a:p>
            <a:pPr indent="0" marL="0">
              <a:buNone/>
            </a:pPr>
            <a:r>
              <a:rPr lang="en-US" sz="900" dirty="0">
                <a:solidFill>
                  <a:srgbClr val="DCE3F2"/>
                </a:solidFill>
                <a:latin typeface="Consolas" pitchFamily="34" charset="0"/>
                <a:ea typeface="Consolas" pitchFamily="34" charset="-122"/>
                <a:cs typeface="Consolas" pitchFamily="34" charset="-120"/>
              </a:rPr>
              <a:t> </a:t>
            </a:r>
            <a:endParaRPr lang="en-US" sz="900" dirty="0"/>
          </a:p>
          <a:p>
            <a:pPr indent="0" marL="0">
              <a:buNone/>
            </a:pPr>
            <a:r>
              <a:rPr lang="en-US" sz="900" dirty="0">
                <a:solidFill>
                  <a:srgbClr val="DCE3F2"/>
                </a:solidFill>
                <a:latin typeface="Consolas" pitchFamily="34" charset="0"/>
                <a:ea typeface="Consolas" pitchFamily="34" charset="-122"/>
                <a:cs typeface="Consolas" pitchFamily="34" charset="-120"/>
              </a:rPr>
              <a:t>gcloud projects add-iam-policy-binding \</a:t>
            </a:r>
            <a:endParaRPr lang="en-US" sz="900" dirty="0"/>
          </a:p>
          <a:p>
            <a:pPr indent="0" marL="0">
              <a:buNone/>
            </a:pPr>
            <a:r>
              <a:rPr lang="en-US" sz="900" dirty="0">
                <a:solidFill>
                  <a:srgbClr val="DCE3F2"/>
                </a:solidFill>
                <a:latin typeface="Consolas" pitchFamily="34" charset="0"/>
                <a:ea typeface="Consolas" pitchFamily="34" charset="-122"/>
                <a:cs typeface="Consolas" pitchFamily="34" charset="-120"/>
              </a:rPr>
              <a:t>  mgvaovao-ia --member="serviceAccount:$SA" \</a:t>
            </a:r>
            <a:endParaRPr lang="en-US" sz="900" dirty="0"/>
          </a:p>
          <a:p>
            <a:pPr indent="0" marL="0">
              <a:buNone/>
            </a:pPr>
            <a:r>
              <a:rPr lang="en-US" sz="900" dirty="0">
                <a:solidFill>
                  <a:srgbClr val="DCE3F2"/>
                </a:solidFill>
                <a:latin typeface="Consolas" pitchFamily="34" charset="0"/>
                <a:ea typeface="Consolas" pitchFamily="34" charset="-122"/>
                <a:cs typeface="Consolas" pitchFamily="34" charset="-120"/>
              </a:rPr>
              <a:t>  --role="roles/iam.serviceAccountUser"</a:t>
            </a:r>
            <a:endParaRPr lang="en-US" sz="900" dirty="0"/>
          </a:p>
        </p:txBody>
      </p:sp>
      <p:sp>
        <p:nvSpPr>
          <p:cNvPr id="13" name="Text 10"/>
          <p:cNvSpPr/>
          <p:nvPr/>
        </p:nvSpPr>
        <p:spPr>
          <a:xfrm>
            <a:off x="6309360" y="2103120"/>
            <a:ext cx="5486400" cy="274320"/>
          </a:xfrm>
          <a:prstGeom prst="rect">
            <a:avLst/>
          </a:prstGeom>
          <a:noFill/>
          <a:ln/>
        </p:spPr>
        <p:txBody>
          <a:bodyPr wrap="square" lIns="0" tIns="0" rIns="0" bIns="0" rtlCol="0" anchor="ctr"/>
          <a:lstStyle/>
          <a:p>
            <a:pPr indent="0" marL="0">
              <a:buNone/>
            </a:pPr>
            <a:r>
              <a:rPr lang="en-US" sz="1300" b="1" spc="100" kern="0" dirty="0">
                <a:solidFill>
                  <a:srgbClr val="B06000"/>
                </a:solidFill>
                <a:latin typeface="Calibri" pitchFamily="34" charset="0"/>
                <a:ea typeface="Calibri" pitchFamily="34" charset="-122"/>
                <a:cs typeface="Calibri" pitchFamily="34" charset="-120"/>
              </a:rPr>
              <a:t>SA COMPUTE (VERTEX AI)</a:t>
            </a:r>
            <a:endParaRPr lang="en-US" sz="1300" dirty="0"/>
          </a:p>
        </p:txBody>
      </p:sp>
      <p:sp>
        <p:nvSpPr>
          <p:cNvPr id="14" name="Shape 11"/>
          <p:cNvSpPr/>
          <p:nvPr/>
        </p:nvSpPr>
        <p:spPr>
          <a:xfrm>
            <a:off x="6309360" y="2423160"/>
            <a:ext cx="5349240" cy="2286000"/>
          </a:xfrm>
          <a:prstGeom prst="rect">
            <a:avLst/>
          </a:prstGeom>
          <a:solidFill>
            <a:srgbClr val="0E1A33"/>
          </a:solidFill>
          <a:ln/>
          <a:effectLst>
            <a:outerShdw sx="100000" sy="100000" kx="0" ky="0" algn="bl" rotWithShape="0" blurRad="88900" dist="38100" dir="5400000">
              <a:srgbClr val="8A94AD">
                <a:alpha val="26000"/>
              </a:srgbClr>
            </a:outerShdw>
          </a:effectLst>
        </p:spPr>
      </p:sp>
      <p:sp>
        <p:nvSpPr>
          <p:cNvPr id="15" name="Text 12"/>
          <p:cNvSpPr/>
          <p:nvPr/>
        </p:nvSpPr>
        <p:spPr>
          <a:xfrm>
            <a:off x="6473952" y="2532888"/>
            <a:ext cx="5020056" cy="2066544"/>
          </a:xfrm>
          <a:prstGeom prst="rect">
            <a:avLst/>
          </a:prstGeom>
          <a:noFill/>
          <a:ln/>
        </p:spPr>
        <p:txBody>
          <a:bodyPr wrap="square" lIns="0" tIns="0" rIns="0" bIns="0" rtlCol="0" anchor="t"/>
          <a:lstStyle/>
          <a:p>
            <a:pPr indent="0" marL="0">
              <a:buNone/>
            </a:pPr>
            <a:r>
              <a:rPr lang="en-US" sz="900" dirty="0">
                <a:solidFill>
                  <a:srgbClr val="7F8CA8"/>
                </a:solidFill>
                <a:latin typeface="Consolas" pitchFamily="34" charset="0"/>
                <a:ea typeface="Consolas" pitchFamily="34" charset="-122"/>
                <a:cs typeface="Consolas" pitchFamily="34" charset="-120"/>
              </a:rPr>
              <a:t># Utilisé par les jobs Vertex AI</a:t>
            </a:r>
            <a:endParaRPr lang="en-US" sz="900" dirty="0"/>
          </a:p>
          <a:p>
            <a:pPr indent="0" marL="0">
              <a:buNone/>
            </a:pPr>
            <a:r>
              <a:rPr lang="en-US" sz="900" dirty="0">
                <a:solidFill>
                  <a:srgbClr val="DCE3F2"/>
                </a:solidFill>
                <a:latin typeface="Consolas" pitchFamily="34" charset="0"/>
                <a:ea typeface="Consolas" pitchFamily="34" charset="-122"/>
                <a:cs typeface="Consolas" pitchFamily="34" charset="-120"/>
              </a:rPr>
              <a:t>SA=$PROJECT_NUMBER-compute@\</a:t>
            </a:r>
            <a:endParaRPr lang="en-US" sz="900" dirty="0"/>
          </a:p>
          <a:p>
            <a:pPr indent="0" marL="0">
              <a:buNone/>
            </a:pPr>
            <a:r>
              <a:rPr lang="en-US" sz="900" dirty="0">
                <a:solidFill>
                  <a:srgbClr val="DCE3F2"/>
                </a:solidFill>
                <a:latin typeface="Consolas" pitchFamily="34" charset="0"/>
                <a:ea typeface="Consolas" pitchFamily="34" charset="-122"/>
                <a:cs typeface="Consolas" pitchFamily="34" charset="-120"/>
              </a:rPr>
              <a:t>developer.gserviceaccount.com</a:t>
            </a:r>
            <a:endParaRPr lang="en-US" sz="900" dirty="0"/>
          </a:p>
          <a:p>
            <a:pPr indent="0" marL="0">
              <a:buNone/>
            </a:pPr>
            <a:r>
              <a:rPr lang="en-US" sz="900" dirty="0">
                <a:solidFill>
                  <a:srgbClr val="DCE3F2"/>
                </a:solidFill>
                <a:latin typeface="Consolas" pitchFamily="34" charset="0"/>
                <a:ea typeface="Consolas" pitchFamily="34" charset="-122"/>
                <a:cs typeface="Consolas" pitchFamily="34" charset="-120"/>
              </a:rPr>
              <a:t> </a:t>
            </a:r>
            <a:endParaRPr lang="en-US" sz="900" dirty="0"/>
          </a:p>
          <a:p>
            <a:pPr indent="0" marL="0">
              <a:buNone/>
            </a:pPr>
            <a:r>
              <a:rPr lang="en-US" sz="900" dirty="0">
                <a:solidFill>
                  <a:srgbClr val="7F8CA8"/>
                </a:solidFill>
                <a:latin typeface="Consolas" pitchFamily="34" charset="0"/>
                <a:ea typeface="Consolas" pitchFamily="34" charset="-122"/>
                <a:cs typeface="Consolas" pitchFamily="34" charset="-120"/>
              </a:rPr>
              <a:t># Accès GCS (checkpoints/datasets)</a:t>
            </a:r>
            <a:endParaRPr lang="en-US" sz="900" dirty="0"/>
          </a:p>
          <a:p>
            <a:pPr indent="0" marL="0">
              <a:buNone/>
            </a:pPr>
            <a:r>
              <a:rPr lang="en-US" sz="900" dirty="0">
                <a:solidFill>
                  <a:srgbClr val="DCE3F2"/>
                </a:solidFill>
                <a:latin typeface="Consolas" pitchFamily="34" charset="0"/>
                <a:ea typeface="Consolas" pitchFamily="34" charset="-122"/>
                <a:cs typeface="Consolas" pitchFamily="34" charset="-120"/>
              </a:rPr>
              <a:t>--role="roles/storage.objectAdmin"</a:t>
            </a:r>
            <a:endParaRPr lang="en-US" sz="900" dirty="0"/>
          </a:p>
          <a:p>
            <a:pPr indent="0" marL="0">
              <a:buNone/>
            </a:pPr>
            <a:r>
              <a:rPr lang="en-US" sz="900" dirty="0">
                <a:solidFill>
                  <a:srgbClr val="DCE3F2"/>
                </a:solidFill>
                <a:latin typeface="Consolas" pitchFamily="34" charset="0"/>
                <a:ea typeface="Consolas" pitchFamily="34" charset="-122"/>
                <a:cs typeface="Consolas" pitchFamily="34" charset="-120"/>
              </a:rPr>
              <a:t> </a:t>
            </a:r>
            <a:endParaRPr lang="en-US" sz="900" dirty="0"/>
          </a:p>
          <a:p>
            <a:pPr indent="0" marL="0">
              <a:buNone/>
            </a:pPr>
            <a:r>
              <a:rPr lang="en-US" sz="900" dirty="0">
                <a:solidFill>
                  <a:srgbClr val="7F8CA8"/>
                </a:solidFill>
                <a:latin typeface="Consolas" pitchFamily="34" charset="0"/>
                <a:ea typeface="Consolas" pitchFamily="34" charset="-122"/>
                <a:cs typeface="Consolas" pitchFamily="34" charset="-120"/>
              </a:rPr>
              <a:t># Lecture des images Docker</a:t>
            </a:r>
            <a:endParaRPr lang="en-US" sz="900" dirty="0"/>
          </a:p>
          <a:p>
            <a:pPr indent="0" marL="0">
              <a:buNone/>
            </a:pPr>
            <a:r>
              <a:rPr lang="en-US" sz="900" dirty="0">
                <a:solidFill>
                  <a:srgbClr val="DCE3F2"/>
                </a:solidFill>
                <a:latin typeface="Consolas" pitchFamily="34" charset="0"/>
                <a:ea typeface="Consolas" pitchFamily="34" charset="-122"/>
                <a:cs typeface="Consolas" pitchFamily="34" charset="-120"/>
              </a:rPr>
              <a:t>--role="roles/artifactregistry.reader"</a:t>
            </a:r>
            <a:endParaRPr lang="en-US" sz="900" dirty="0"/>
          </a:p>
        </p:txBody>
      </p:sp>
      <p:sp>
        <p:nvSpPr>
          <p:cNvPr id="16" name="Shape 13"/>
          <p:cNvSpPr/>
          <p:nvPr/>
        </p:nvSpPr>
        <p:spPr>
          <a:xfrm>
            <a:off x="548640" y="4937760"/>
            <a:ext cx="11064240" cy="960120"/>
          </a:xfrm>
          <a:prstGeom prst="rect">
            <a:avLst/>
          </a:prstGeom>
          <a:solidFill>
            <a:srgbClr val="EEF2FB"/>
          </a:solidFill>
          <a:ln/>
        </p:spPr>
      </p:sp>
      <p:sp>
        <p:nvSpPr>
          <p:cNvPr id="17" name="Shape 14"/>
          <p:cNvSpPr/>
          <p:nvPr/>
        </p:nvSpPr>
        <p:spPr>
          <a:xfrm>
            <a:off x="548640" y="4937760"/>
            <a:ext cx="91440" cy="960120"/>
          </a:xfrm>
          <a:prstGeom prst="rect">
            <a:avLst/>
          </a:prstGeom>
          <a:solidFill>
            <a:srgbClr val="F9AB00"/>
          </a:solidFill>
          <a:ln/>
        </p:spPr>
      </p:sp>
      <p:sp>
        <p:nvSpPr>
          <p:cNvPr id="18" name="Text 15"/>
          <p:cNvSpPr/>
          <p:nvPr/>
        </p:nvSpPr>
        <p:spPr>
          <a:xfrm>
            <a:off x="786384" y="5010912"/>
            <a:ext cx="10680192" cy="813816"/>
          </a:xfrm>
          <a:prstGeom prst="rect">
            <a:avLst/>
          </a:prstGeom>
          <a:noFill/>
          <a:ln/>
        </p:spPr>
        <p:txBody>
          <a:bodyPr wrap="square" lIns="0" tIns="0" rIns="0" bIns="0" rtlCol="0" anchor="ctr"/>
          <a:lstStyle/>
          <a:p>
            <a:pPr indent="0" marL="0">
              <a:buNone/>
            </a:pPr>
            <a:r>
              <a:rPr lang="en-US" sz="1100" b="1" dirty="0">
                <a:solidFill>
                  <a:srgbClr val="B06000"/>
                </a:solidFill>
                <a:latin typeface="Calibri" pitchFamily="34" charset="0"/>
                <a:ea typeface="Calibri" pitchFamily="34" charset="-122"/>
                <a:cs typeface="Calibri" pitchFamily="34" charset="-120"/>
              </a:rPr>
              <a:t>VÉRIFIER   </a:t>
            </a:r>
            <a:pPr indent="0" marL="0">
              <a:buNone/>
            </a:pPr>
            <a:r>
              <a:rPr lang="en-US" sz="1200" dirty="0">
                <a:solidFill>
                  <a:srgbClr val="202124"/>
                </a:solidFill>
                <a:latin typeface="Calibri" pitchFamily="34" charset="0"/>
                <a:ea typeface="Calibri" pitchFamily="34" charset="-122"/>
                <a:cs typeface="Calibri" pitchFamily="34" charset="-120"/>
              </a:rPr>
              <a:t>gcloud iam service-accounts list --project=mgvaovao-ia  →  doit lister cloudbuild-runner et le compte compute par défaut.</a:t>
            </a:r>
            <a:endParaRPr lang="en-US" sz="1100" dirty="0"/>
          </a:p>
        </p:txBody>
      </p:sp>
      <p:sp>
        <p:nvSpPr>
          <p:cNvPr id="19" name="Text 16"/>
          <p:cNvSpPr/>
          <p:nvPr/>
        </p:nvSpPr>
        <p:spPr>
          <a:xfrm>
            <a:off x="548640" y="6510528"/>
            <a:ext cx="11155680" cy="274320"/>
          </a:xfrm>
          <a:prstGeom prst="rect">
            <a:avLst/>
          </a:prstGeom>
          <a:noFill/>
          <a:ln/>
        </p:spPr>
        <p:txBody>
          <a:bodyPr wrap="square" lIns="0" tIns="0" rIns="0" bIns="0" rtlCol="0" anchor="ctr"/>
          <a:lstStyle/>
          <a:p>
            <a:pPr indent="0" marL="0">
              <a:buNone/>
            </a:pPr>
            <a:r>
              <a:rPr lang="en-US" sz="950" i="1" dirty="0">
                <a:solidFill>
                  <a:srgbClr val="5F6368"/>
                </a:solidFill>
                <a:latin typeface="Calibri" pitchFamily="34" charset="0"/>
                <a:ea typeface="Calibri" pitchFamily="34" charset="-122"/>
                <a:cs typeface="Calibri" pitchFamily="34" charset="-120"/>
              </a:rPr>
              <a:t>Source : README §18.1 Step 7, §18.6, §18.10</a:t>
            </a:r>
            <a:endParaRPr lang="en-US" sz="950" dirty="0"/>
          </a:p>
        </p:txBody>
      </p:sp>
      <p:sp>
        <p:nvSpPr>
          <p:cNvPr id="20" name="Text 17"/>
          <p:cNvSpPr/>
          <p:nvPr/>
        </p:nvSpPr>
        <p:spPr>
          <a:xfrm>
            <a:off x="3657600" y="6076188"/>
            <a:ext cx="3200400" cy="182880"/>
          </a:xfrm>
          <a:prstGeom prst="rect">
            <a:avLst/>
          </a:prstGeom>
          <a:noFill/>
          <a:ln/>
        </p:spPr>
        <p:txBody>
          <a:bodyPr wrap="square" lIns="0" tIns="0" rIns="0" bIns="0" rtlCol="0" anchor="ctr"/>
          <a:lstStyle/>
          <a:p>
            <a:pPr indent="0" marL="0">
              <a:buNone/>
            </a:pPr>
            <a:r>
              <a:rPr lang="en-US" sz="850" b="1" dirty="0">
                <a:solidFill>
                  <a:srgbClr val="97A1B5"/>
                </a:solidFill>
                <a:latin typeface="Calibri" pitchFamily="34" charset="0"/>
                <a:ea typeface="Calibri" pitchFamily="34" charset="-122"/>
                <a:cs typeface="Calibri" pitchFamily="34" charset="-120"/>
              </a:rPr>
              <a:t>Tsantaniaina Rakotonjanahary Ambaorasoa Guillaume</a:t>
            </a:r>
            <a:endParaRPr lang="en-US" sz="850" dirty="0"/>
          </a:p>
        </p:txBody>
      </p:sp>
      <p:sp>
        <p:nvSpPr>
          <p:cNvPr id="21" name="Shape 18"/>
          <p:cNvSpPr/>
          <p:nvPr/>
        </p:nvSpPr>
        <p:spPr>
          <a:xfrm>
            <a:off x="11137392" y="5852160"/>
            <a:ext cx="914400" cy="914400"/>
          </a:xfrm>
          <a:prstGeom prst="roundRect">
            <a:avLst>
              <a:gd name="adj" fmla="val 10000"/>
            </a:avLst>
          </a:prstGeom>
          <a:solidFill>
            <a:srgbClr val="FFFFFF"/>
          </a:solidFill>
          <a:ln w="12700">
            <a:solidFill>
              <a:srgbClr val="D6DEEC"/>
            </a:solidFill>
            <a:prstDash val="solid"/>
          </a:ln>
          <a:effectLst>
            <a:outerShdw sx="100000" sy="100000" kx="0" ky="0" algn="bl" rotWithShape="0" blurRad="88900" dist="38100" dir="5400000">
              <a:srgbClr val="8A94AD">
                <a:alpha val="26000"/>
              </a:srgbClr>
            </a:outerShdw>
          </a:effectLst>
        </p:spPr>
      </p:sp>
      <p:pic>
        <p:nvPicPr>
          <p:cNvPr id="22" name="Image 1" descr="logos/logo_mdn.png">    </p:cNvPr>
          <p:cNvPicPr>
            <a:picLocks noChangeAspect="1"/>
          </p:cNvPicPr>
          <p:nvPr/>
        </p:nvPicPr>
        <p:blipFill>
          <a:blip r:embed="rId2"/>
          <a:stretch>
            <a:fillRect/>
          </a:stretch>
        </p:blipFill>
        <p:spPr>
          <a:xfrm>
            <a:off x="11237976" y="5952744"/>
            <a:ext cx="713232" cy="71323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2B5CB"/>
          </a:solidFill>
          <a:ln/>
        </p:spPr>
      </p:sp>
      <p:sp>
        <p:nvSpPr>
          <p:cNvPr id="3" name="Shape 1"/>
          <p:cNvSpPr/>
          <p:nvPr/>
        </p:nvSpPr>
        <p:spPr>
          <a:xfrm>
            <a:off x="146304" y="0"/>
            <a:ext cx="12042648" cy="1078992"/>
          </a:xfrm>
          <a:prstGeom prst="rect">
            <a:avLst/>
          </a:prstGeom>
          <a:solidFill>
            <a:srgbClr val="1B2A4A"/>
          </a:solidFill>
          <a:ln/>
        </p:spPr>
      </p:sp>
      <p:sp>
        <p:nvSpPr>
          <p:cNvPr id="4" name="Text 2"/>
          <p:cNvSpPr/>
          <p:nvPr/>
        </p:nvSpPr>
        <p:spPr>
          <a:xfrm>
            <a:off x="548640" y="182880"/>
            <a:ext cx="9601200" cy="292608"/>
          </a:xfrm>
          <a:prstGeom prst="rect">
            <a:avLst/>
          </a:prstGeom>
          <a:noFill/>
          <a:ln/>
        </p:spPr>
        <p:txBody>
          <a:bodyPr wrap="square" lIns="0" tIns="0" rIns="0" bIns="0" rtlCol="0" anchor="ctr"/>
          <a:lstStyle/>
          <a:p>
            <a:pPr indent="0" marL="0">
              <a:buNone/>
            </a:pPr>
            <a:r>
              <a:rPr lang="en-US" sz="1200" b="1" spc="150" kern="0" dirty="0">
                <a:solidFill>
                  <a:srgbClr val="78D9E6"/>
                </a:solidFill>
                <a:latin typeface="Calibri" pitchFamily="34" charset="0"/>
                <a:ea typeface="Calibri" pitchFamily="34" charset="-122"/>
                <a:cs typeface="Calibri" pitchFamily="34" charset="-120"/>
              </a:rPr>
              <a:t>REGISTRE D'IMAGES DE CONTENEURS</a:t>
            </a:r>
            <a:endParaRPr lang="en-US" sz="1200" dirty="0"/>
          </a:p>
        </p:txBody>
      </p:sp>
      <p:sp>
        <p:nvSpPr>
          <p:cNvPr id="5" name="Text 3"/>
          <p:cNvSpPr/>
          <p:nvPr/>
        </p:nvSpPr>
        <p:spPr>
          <a:xfrm>
            <a:off x="530352" y="438912"/>
            <a:ext cx="9692640" cy="566928"/>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Artifact Registry — concepts</a:t>
            </a:r>
            <a:endParaRPr lang="en-US" sz="2700" dirty="0"/>
          </a:p>
        </p:txBody>
      </p:sp>
      <p:sp>
        <p:nvSpPr>
          <p:cNvPr id="6" name="Text 4"/>
          <p:cNvSpPr/>
          <p:nvPr/>
        </p:nvSpPr>
        <p:spPr>
          <a:xfrm>
            <a:off x="8229600" y="182880"/>
            <a:ext cx="1828800" cy="274320"/>
          </a:xfrm>
          <a:prstGeom prst="rect">
            <a:avLst/>
          </a:prstGeom>
          <a:noFill/>
          <a:ln/>
        </p:spPr>
        <p:txBody>
          <a:bodyPr wrap="square" lIns="0" tIns="0" rIns="0" bIns="0" rtlCol="0" anchor="ctr"/>
          <a:lstStyle/>
          <a:p>
            <a:pPr algn="r" indent="0" marL="0">
              <a:buNone/>
            </a:pPr>
            <a:r>
              <a:rPr lang="en-US" sz="1050" b="1" spc="100" kern="0" dirty="0">
                <a:solidFill>
                  <a:srgbClr val="8FA0C4"/>
                </a:solidFill>
                <a:latin typeface="Calibri" pitchFamily="34" charset="0"/>
                <a:ea typeface="Calibri" pitchFamily="34" charset="-122"/>
                <a:cs typeface="Calibri" pitchFamily="34" charset="-120"/>
              </a:rPr>
              <a:t>PARTIE 2</a:t>
            </a:r>
            <a:endParaRPr lang="en-US" sz="1050" dirty="0"/>
          </a:p>
        </p:txBody>
      </p:sp>
      <p:sp>
        <p:nvSpPr>
          <p:cNvPr id="7" name="Shape 5"/>
          <p:cNvSpPr/>
          <p:nvPr/>
        </p:nvSpPr>
        <p:spPr>
          <a:xfrm>
            <a:off x="10927080" y="237744"/>
            <a:ext cx="603504" cy="603504"/>
          </a:xfrm>
          <a:prstGeom prst="roundRect">
            <a:avLst>
              <a:gd name="adj" fmla="val 12121"/>
            </a:avLst>
          </a:prstGeom>
          <a:solidFill>
            <a:srgbClr val="FFFFFF"/>
          </a:solidFill>
          <a:ln/>
        </p:spPr>
      </p:sp>
      <p:pic>
        <p:nvPicPr>
          <p:cNvPr id="8" name="Image 0" descr="logos/06_artifact_registry.png">    </p:cNvPr>
          <p:cNvPicPr>
            <a:picLocks noChangeAspect="1"/>
          </p:cNvPicPr>
          <p:nvPr/>
        </p:nvPicPr>
        <p:blipFill>
          <a:blip r:embed="rId1"/>
          <a:stretch>
            <a:fillRect/>
          </a:stretch>
        </p:blipFill>
        <p:spPr>
          <a:xfrm>
            <a:off x="10991088" y="301752"/>
            <a:ext cx="475488" cy="475488"/>
          </a:xfrm>
          <a:prstGeom prst="rect">
            <a:avLst/>
          </a:prstGeom>
        </p:spPr>
      </p:pic>
      <p:sp>
        <p:nvSpPr>
          <p:cNvPr id="9" name="Text 6"/>
          <p:cNvSpPr/>
          <p:nvPr/>
        </p:nvSpPr>
        <p:spPr>
          <a:xfrm>
            <a:off x="548640" y="1325880"/>
            <a:ext cx="11064240" cy="731520"/>
          </a:xfrm>
          <a:prstGeom prst="rect">
            <a:avLst/>
          </a:prstGeom>
          <a:noFill/>
          <a:ln/>
        </p:spPr>
        <p:txBody>
          <a:bodyPr wrap="square" lIns="0" tIns="0" rIns="0" bIns="0" rtlCol="0" anchor="t"/>
          <a:lstStyle/>
          <a:p>
            <a:pPr indent="0" marL="0">
              <a:buNone/>
            </a:pPr>
            <a:r>
              <a:rPr lang="en-US" sz="1350" dirty="0">
                <a:solidFill>
                  <a:srgbClr val="202124"/>
                </a:solidFill>
                <a:latin typeface="Calibri" pitchFamily="34" charset="0"/>
                <a:ea typeface="Calibri" pitchFamily="34" charset="-122"/>
                <a:cs typeface="Calibri" pitchFamily="34" charset="-120"/>
              </a:rPr>
              <a:t>Registre managé pour packages et images de conteneurs (successeur de Container Registry). Les images Docker du projet y sont stockées, puis tirées par Cloud Run (inférence) et Vertex AI (training).</a:t>
            </a:r>
            <a:endParaRPr lang="en-US" sz="1350" dirty="0"/>
          </a:p>
        </p:txBody>
      </p:sp>
      <p:sp>
        <p:nvSpPr>
          <p:cNvPr id="10" name="Text 7"/>
          <p:cNvSpPr/>
          <p:nvPr/>
        </p:nvSpPr>
        <p:spPr>
          <a:xfrm>
            <a:off x="548640" y="2240280"/>
            <a:ext cx="5486400" cy="274320"/>
          </a:xfrm>
          <a:prstGeom prst="rect">
            <a:avLst/>
          </a:prstGeom>
          <a:noFill/>
          <a:ln/>
        </p:spPr>
        <p:txBody>
          <a:bodyPr wrap="square" lIns="0" tIns="0" rIns="0" bIns="0" rtlCol="0" anchor="ctr"/>
          <a:lstStyle/>
          <a:p>
            <a:pPr indent="0" marL="0">
              <a:buNone/>
            </a:pPr>
            <a:r>
              <a:rPr lang="en-US" sz="1300" b="1" spc="100" kern="0" dirty="0">
                <a:solidFill>
                  <a:srgbClr val="0E7C8B"/>
                </a:solidFill>
                <a:latin typeface="Calibri" pitchFamily="34" charset="0"/>
                <a:ea typeface="Calibri" pitchFamily="34" charset="-122"/>
                <a:cs typeface="Calibri" pitchFamily="34" charset="-120"/>
              </a:rPr>
              <a:t>CONCEPTS CLÉS</a:t>
            </a:r>
            <a:endParaRPr lang="en-US" sz="1300" dirty="0"/>
          </a:p>
        </p:txBody>
      </p:sp>
      <p:sp>
        <p:nvSpPr>
          <p:cNvPr id="11" name="Text 8"/>
          <p:cNvSpPr/>
          <p:nvPr/>
        </p:nvSpPr>
        <p:spPr>
          <a:xfrm>
            <a:off x="548640" y="2560320"/>
            <a:ext cx="5486400" cy="2103120"/>
          </a:xfrm>
          <a:prstGeom prst="rect">
            <a:avLst/>
          </a:prstGeom>
          <a:noFill/>
          <a:ln/>
        </p:spPr>
        <p:txBody>
          <a:bodyPr wrap="square" lIns="0" tIns="0" rIns="0" bIns="0" rtlCol="0" anchor="t"/>
          <a:lstStyle/>
          <a:p>
            <a:pPr marL="190500" indent="-190500">
              <a:spcAft>
                <a:spcPts val="600"/>
              </a:spcAft>
              <a:buSzPct val="100000"/>
              <a:buChar char="•"/>
            </a:pPr>
            <a:r>
              <a:rPr lang="en-US" sz="1300" dirty="0">
                <a:solidFill>
                  <a:srgbClr val="202124"/>
                </a:solidFill>
                <a:latin typeface="Calibri" pitchFamily="34" charset="0"/>
                <a:ea typeface="Calibri" pitchFamily="34" charset="-122"/>
                <a:cs typeface="Calibri" pitchFamily="34" charset="-120"/>
              </a:rPr>
              <a:t>Dépôts régionaux multi-formats (Docker, Python, npm…)</a:t>
            </a:r>
            <a:endParaRPr lang="en-US" sz="1300" dirty="0"/>
          </a:p>
          <a:p>
            <a:pPr marL="190500" indent="-190500">
              <a:spcAft>
                <a:spcPts val="600"/>
              </a:spcAft>
              <a:buSzPct val="100000"/>
              <a:buChar char="•"/>
            </a:pPr>
            <a:r>
              <a:rPr lang="en-US" sz="1300" dirty="0">
                <a:solidFill>
                  <a:srgbClr val="202124"/>
                </a:solidFill>
                <a:latin typeface="Calibri" pitchFamily="34" charset="0"/>
                <a:ea typeface="Calibri" pitchFamily="34" charset="-122"/>
                <a:cs typeface="Calibri" pitchFamily="34" charset="-120"/>
              </a:rPr>
              <a:t>Contrôle d'accès via IAM (writer / reader)</a:t>
            </a:r>
            <a:endParaRPr lang="en-US" sz="1300" dirty="0"/>
          </a:p>
          <a:p>
            <a:pPr marL="190500" indent="-190500">
              <a:spcAft>
                <a:spcPts val="600"/>
              </a:spcAft>
              <a:buSzPct val="100000"/>
              <a:buChar char="•"/>
            </a:pPr>
            <a:r>
              <a:rPr lang="en-US" sz="1300" dirty="0">
                <a:solidFill>
                  <a:srgbClr val="202124"/>
                </a:solidFill>
                <a:latin typeface="Calibri" pitchFamily="34" charset="0"/>
                <a:ea typeface="Calibri" pitchFamily="34" charset="-122"/>
                <a:cs typeface="Calibri" pitchFamily="34" charset="-120"/>
              </a:rPr>
              <a:t>Analyse de vulnérabilités (Artifact Analysis)</a:t>
            </a:r>
            <a:endParaRPr lang="en-US" sz="1300" dirty="0"/>
          </a:p>
          <a:p>
            <a:pPr marL="190500" indent="-190500">
              <a:spcAft>
                <a:spcPts val="600"/>
              </a:spcAft>
              <a:buSzPct val="100000"/>
              <a:buChar char="•"/>
            </a:pPr>
            <a:r>
              <a:rPr lang="en-US" sz="1300" dirty="0">
                <a:solidFill>
                  <a:srgbClr val="202124"/>
                </a:solidFill>
                <a:latin typeface="Calibri" pitchFamily="34" charset="0"/>
                <a:ea typeface="Calibri" pitchFamily="34" charset="-122"/>
                <a:cs typeface="Calibri" pitchFamily="34" charset="-120"/>
              </a:rPr>
              <a:t>Cible des builds, source des déploiements</a:t>
            </a:r>
            <a:endParaRPr lang="en-US" sz="1300" dirty="0"/>
          </a:p>
        </p:txBody>
      </p:sp>
      <p:sp>
        <p:nvSpPr>
          <p:cNvPr id="12" name="Text 9"/>
          <p:cNvSpPr/>
          <p:nvPr/>
        </p:nvSpPr>
        <p:spPr>
          <a:xfrm>
            <a:off x="6309360" y="2240280"/>
            <a:ext cx="5486400" cy="274320"/>
          </a:xfrm>
          <a:prstGeom prst="rect">
            <a:avLst/>
          </a:prstGeom>
          <a:noFill/>
          <a:ln/>
        </p:spPr>
        <p:txBody>
          <a:bodyPr wrap="square" lIns="0" tIns="0" rIns="0" bIns="0" rtlCol="0" anchor="ctr"/>
          <a:lstStyle/>
          <a:p>
            <a:pPr indent="0" marL="0">
              <a:buNone/>
            </a:pPr>
            <a:r>
              <a:rPr lang="en-US" sz="1300" b="1" spc="100" kern="0" dirty="0">
                <a:solidFill>
                  <a:srgbClr val="0E7C8B"/>
                </a:solidFill>
                <a:latin typeface="Calibri" pitchFamily="34" charset="0"/>
                <a:ea typeface="Calibri" pitchFamily="34" charset="-122"/>
                <a:cs typeface="Calibri" pitchFamily="34" charset="-120"/>
              </a:rPr>
              <a:t>LES 2 IMAGES DU PROJET</a:t>
            </a:r>
            <a:endParaRPr lang="en-US" sz="1300" dirty="0"/>
          </a:p>
        </p:txBody>
      </p:sp>
      <p:sp>
        <p:nvSpPr>
          <p:cNvPr id="13" name="Shape 10"/>
          <p:cNvSpPr/>
          <p:nvPr/>
        </p:nvSpPr>
        <p:spPr>
          <a:xfrm>
            <a:off x="6309360" y="2560320"/>
            <a:ext cx="5349240" cy="2286000"/>
          </a:xfrm>
          <a:prstGeom prst="rect">
            <a:avLst/>
          </a:prstGeom>
          <a:solidFill>
            <a:srgbClr val="0E1A33"/>
          </a:solidFill>
          <a:ln/>
          <a:effectLst>
            <a:outerShdw sx="100000" sy="100000" kx="0" ky="0" algn="bl" rotWithShape="0" blurRad="88900" dist="38100" dir="5400000">
              <a:srgbClr val="8A94AD">
                <a:alpha val="26000"/>
              </a:srgbClr>
            </a:outerShdw>
          </a:effectLst>
        </p:spPr>
      </p:sp>
      <p:sp>
        <p:nvSpPr>
          <p:cNvPr id="14" name="Text 11"/>
          <p:cNvSpPr/>
          <p:nvPr/>
        </p:nvSpPr>
        <p:spPr>
          <a:xfrm>
            <a:off x="6473952" y="2670048"/>
            <a:ext cx="5020056" cy="2066544"/>
          </a:xfrm>
          <a:prstGeom prst="rect">
            <a:avLst/>
          </a:prstGeom>
          <a:noFill/>
          <a:ln/>
        </p:spPr>
        <p:txBody>
          <a:bodyPr wrap="square" lIns="0" tIns="0" rIns="0" bIns="0" rtlCol="0" anchor="t"/>
          <a:lstStyle/>
          <a:p>
            <a:pPr indent="0" marL="0">
              <a:buNone/>
            </a:pPr>
            <a:r>
              <a:rPr lang="en-US" sz="1000" dirty="0">
                <a:solidFill>
                  <a:srgbClr val="7F8CA8"/>
                </a:solidFill>
                <a:latin typeface="Consolas" pitchFamily="34" charset="0"/>
                <a:ea typeface="Consolas" pitchFamily="34" charset="-122"/>
                <a:cs typeface="Consolas" pitchFamily="34" charset="-120"/>
              </a:rPr>
              <a:t># Dépôt : us-central1 · format docker</a:t>
            </a:r>
            <a:endParaRPr lang="en-US" sz="1000" dirty="0"/>
          </a:p>
          <a:p>
            <a:pPr indent="0" marL="0">
              <a:buNone/>
            </a:pPr>
            <a:r>
              <a:rPr lang="en-US" sz="1000" dirty="0">
                <a:solidFill>
                  <a:srgbClr val="DCE3F2"/>
                </a:solidFill>
                <a:latin typeface="Consolas" pitchFamily="34" charset="0"/>
                <a:ea typeface="Consolas" pitchFamily="34" charset="-122"/>
                <a:cs typeface="Consolas" pitchFamily="34" charset="-120"/>
              </a:rPr>
              <a:t> </a:t>
            </a:r>
            <a:endParaRPr lang="en-US" sz="1000" dirty="0"/>
          </a:p>
          <a:p>
            <a:pPr indent="0" marL="0">
              <a:buNone/>
            </a:pPr>
            <a:r>
              <a:rPr lang="en-US" sz="1000" dirty="0">
                <a:solidFill>
                  <a:srgbClr val="7F8CA8"/>
                </a:solidFill>
                <a:latin typeface="Consolas" pitchFamily="34" charset="0"/>
                <a:ea typeface="Consolas" pitchFamily="34" charset="-122"/>
                <a:cs typeface="Consolas" pitchFamily="34" charset="-120"/>
              </a:rPr>
              <a:t># Image d'inférence (Cloud Run GPU)</a:t>
            </a:r>
            <a:endParaRPr lang="en-US" sz="1000" dirty="0"/>
          </a:p>
          <a:p>
            <a:pPr indent="0" marL="0">
              <a:buNone/>
            </a:pPr>
            <a:r>
              <a:rPr lang="en-US" sz="1000" dirty="0">
                <a:solidFill>
                  <a:srgbClr val="DCE3F2"/>
                </a:solidFill>
                <a:latin typeface="Consolas" pitchFamily="34" charset="0"/>
                <a:ea typeface="Consolas" pitchFamily="34" charset="-122"/>
                <a:cs typeface="Consolas" pitchFamily="34" charset="-120"/>
              </a:rPr>
              <a:t>.../mgvaovao/inference:latest</a:t>
            </a:r>
            <a:endParaRPr lang="en-US" sz="1000" dirty="0"/>
          </a:p>
          <a:p>
            <a:pPr indent="0" marL="0">
              <a:buNone/>
            </a:pPr>
            <a:r>
              <a:rPr lang="en-US" sz="1000" dirty="0">
                <a:solidFill>
                  <a:srgbClr val="DCE3F2"/>
                </a:solidFill>
                <a:latin typeface="Consolas" pitchFamily="34" charset="0"/>
                <a:ea typeface="Consolas" pitchFamily="34" charset="-122"/>
                <a:cs typeface="Consolas" pitchFamily="34" charset="-120"/>
              </a:rPr>
              <a:t>.../mgvaovao/inference:{SHORT_SHA}</a:t>
            </a:r>
            <a:endParaRPr lang="en-US" sz="1000" dirty="0"/>
          </a:p>
          <a:p>
            <a:pPr indent="0" marL="0">
              <a:buNone/>
            </a:pPr>
            <a:r>
              <a:rPr lang="en-US" sz="1000" dirty="0">
                <a:solidFill>
                  <a:srgbClr val="DCE3F2"/>
                </a:solidFill>
                <a:latin typeface="Consolas" pitchFamily="34" charset="0"/>
                <a:ea typeface="Consolas" pitchFamily="34" charset="-122"/>
                <a:cs typeface="Consolas" pitchFamily="34" charset="-120"/>
              </a:rPr>
              <a:t> </a:t>
            </a:r>
            <a:endParaRPr lang="en-US" sz="1000" dirty="0"/>
          </a:p>
          <a:p>
            <a:pPr indent="0" marL="0">
              <a:buNone/>
            </a:pPr>
            <a:r>
              <a:rPr lang="en-US" sz="1000" dirty="0">
                <a:solidFill>
                  <a:srgbClr val="7F8CA8"/>
                </a:solidFill>
                <a:latin typeface="Consolas" pitchFamily="34" charset="0"/>
                <a:ea typeface="Consolas" pitchFamily="34" charset="-122"/>
                <a:cs typeface="Consolas" pitchFamily="34" charset="-120"/>
              </a:rPr>
              <a:t># Image CUDA (training Vertex)</a:t>
            </a:r>
            <a:endParaRPr lang="en-US" sz="1000" dirty="0"/>
          </a:p>
          <a:p>
            <a:pPr indent="0" marL="0">
              <a:buNone/>
            </a:pPr>
            <a:r>
              <a:rPr lang="en-US" sz="1000" dirty="0">
                <a:solidFill>
                  <a:srgbClr val="DCE3F2"/>
                </a:solidFill>
                <a:latin typeface="Consolas" pitchFamily="34" charset="0"/>
                <a:ea typeface="Consolas" pitchFamily="34" charset="-122"/>
                <a:cs typeface="Consolas" pitchFamily="34" charset="-120"/>
              </a:rPr>
              <a:t>.../mgvaovao/mgvaovao:cuda-latest</a:t>
            </a:r>
            <a:endParaRPr lang="en-US" sz="1000" dirty="0"/>
          </a:p>
        </p:txBody>
      </p:sp>
      <p:sp>
        <p:nvSpPr>
          <p:cNvPr id="15" name="Shape 12"/>
          <p:cNvSpPr/>
          <p:nvPr/>
        </p:nvSpPr>
        <p:spPr>
          <a:xfrm>
            <a:off x="548640" y="4983480"/>
            <a:ext cx="11064240" cy="960120"/>
          </a:xfrm>
          <a:prstGeom prst="rect">
            <a:avLst/>
          </a:prstGeom>
          <a:solidFill>
            <a:srgbClr val="EEF2FB"/>
          </a:solidFill>
          <a:ln/>
        </p:spPr>
      </p:sp>
      <p:sp>
        <p:nvSpPr>
          <p:cNvPr id="16" name="Shape 13"/>
          <p:cNvSpPr/>
          <p:nvPr/>
        </p:nvSpPr>
        <p:spPr>
          <a:xfrm>
            <a:off x="548640" y="4983480"/>
            <a:ext cx="91440" cy="960120"/>
          </a:xfrm>
          <a:prstGeom prst="rect">
            <a:avLst/>
          </a:prstGeom>
          <a:solidFill>
            <a:srgbClr val="12B5CB"/>
          </a:solidFill>
          <a:ln/>
        </p:spPr>
      </p:sp>
      <p:sp>
        <p:nvSpPr>
          <p:cNvPr id="17" name="Text 14"/>
          <p:cNvSpPr/>
          <p:nvPr/>
        </p:nvSpPr>
        <p:spPr>
          <a:xfrm>
            <a:off x="786384" y="5056632"/>
            <a:ext cx="10680192" cy="813816"/>
          </a:xfrm>
          <a:prstGeom prst="rect">
            <a:avLst/>
          </a:prstGeom>
          <a:noFill/>
          <a:ln/>
        </p:spPr>
        <p:txBody>
          <a:bodyPr wrap="square" lIns="0" tIns="0" rIns="0" bIns="0" rtlCol="0" anchor="ctr"/>
          <a:lstStyle/>
          <a:p>
            <a:pPr indent="0" marL="0">
              <a:buNone/>
            </a:pPr>
            <a:r>
              <a:rPr lang="en-US" sz="1100" b="1" dirty="0">
                <a:solidFill>
                  <a:srgbClr val="0E7C8B"/>
                </a:solidFill>
                <a:latin typeface="Calibri" pitchFamily="34" charset="0"/>
                <a:ea typeface="Calibri" pitchFamily="34" charset="-122"/>
                <a:cs typeface="Calibri" pitchFamily="34" charset="-120"/>
              </a:rPr>
              <a:t>CONVENTION DE TAG   </a:t>
            </a:r>
            <a:pPr indent="0" marL="0">
              <a:buNone/>
            </a:pPr>
            <a:r>
              <a:rPr lang="en-US" sz="1200" dirty="0">
                <a:solidFill>
                  <a:srgbClr val="202124"/>
                </a:solidFill>
                <a:latin typeface="Calibri" pitchFamily="34" charset="0"/>
                <a:ea typeface="Calibri" pitchFamily="34" charset="-122"/>
                <a:cs typeface="Calibri" pitchFamily="34" charset="-120"/>
              </a:rPr>
              <a:t>Chaque commit produit un tag immuable {SHORT_SHA} + un tag mobile latest. Le déploiement utilise le tag immuable pour la traçabilité et le rollback.</a:t>
            </a:r>
            <a:endParaRPr lang="en-US" sz="1100" dirty="0"/>
          </a:p>
        </p:txBody>
      </p:sp>
      <p:sp>
        <p:nvSpPr>
          <p:cNvPr id="18" name="Text 15"/>
          <p:cNvSpPr/>
          <p:nvPr/>
        </p:nvSpPr>
        <p:spPr>
          <a:xfrm>
            <a:off x="548640" y="6510528"/>
            <a:ext cx="11155680" cy="274320"/>
          </a:xfrm>
          <a:prstGeom prst="rect">
            <a:avLst/>
          </a:prstGeom>
          <a:noFill/>
          <a:ln/>
        </p:spPr>
        <p:txBody>
          <a:bodyPr wrap="square" lIns="0" tIns="0" rIns="0" bIns="0" rtlCol="0" anchor="ctr"/>
          <a:lstStyle/>
          <a:p>
            <a:pPr indent="0" marL="0">
              <a:buNone/>
            </a:pPr>
            <a:r>
              <a:rPr lang="en-US" sz="950" i="1" dirty="0">
                <a:solidFill>
                  <a:srgbClr val="5F6368"/>
                </a:solidFill>
                <a:latin typeface="Calibri" pitchFamily="34" charset="0"/>
                <a:ea typeface="Calibri" pitchFamily="34" charset="-122"/>
                <a:cs typeface="Calibri" pitchFamily="34" charset="-120"/>
              </a:rPr>
              <a:t>Source : README §18.1 Step 5, §18.10 — doc : cloud.google.com/artifact-registry/docs</a:t>
            </a:r>
            <a:endParaRPr lang="en-US" sz="950" dirty="0"/>
          </a:p>
        </p:txBody>
      </p:sp>
      <p:sp>
        <p:nvSpPr>
          <p:cNvPr id="19" name="Text 16"/>
          <p:cNvSpPr/>
          <p:nvPr/>
        </p:nvSpPr>
        <p:spPr>
          <a:xfrm>
            <a:off x="5212080" y="6099048"/>
            <a:ext cx="3200400" cy="182880"/>
          </a:xfrm>
          <a:prstGeom prst="rect">
            <a:avLst/>
          </a:prstGeom>
          <a:noFill/>
          <a:ln/>
        </p:spPr>
        <p:txBody>
          <a:bodyPr wrap="square" lIns="0" tIns="0" rIns="0" bIns="0" rtlCol="0" anchor="ctr"/>
          <a:lstStyle/>
          <a:p>
            <a:pPr indent="0" marL="0">
              <a:buNone/>
            </a:pPr>
            <a:r>
              <a:rPr lang="en-US" sz="850" b="1" dirty="0">
                <a:solidFill>
                  <a:srgbClr val="97A1B5"/>
                </a:solidFill>
                <a:latin typeface="Calibri" pitchFamily="34" charset="0"/>
                <a:ea typeface="Calibri" pitchFamily="34" charset="-122"/>
                <a:cs typeface="Calibri" pitchFamily="34" charset="-120"/>
              </a:rPr>
              <a:t>Tsantaniaina Rakotonjanahary Ambaorasoa Guillaume</a:t>
            </a:r>
            <a:endParaRPr lang="en-US" sz="850" dirty="0"/>
          </a:p>
        </p:txBody>
      </p:sp>
      <p:sp>
        <p:nvSpPr>
          <p:cNvPr id="20" name="Shape 17"/>
          <p:cNvSpPr/>
          <p:nvPr/>
        </p:nvSpPr>
        <p:spPr>
          <a:xfrm>
            <a:off x="11137392" y="5852160"/>
            <a:ext cx="914400" cy="914400"/>
          </a:xfrm>
          <a:prstGeom prst="roundRect">
            <a:avLst>
              <a:gd name="adj" fmla="val 10000"/>
            </a:avLst>
          </a:prstGeom>
          <a:solidFill>
            <a:srgbClr val="FFFFFF"/>
          </a:solidFill>
          <a:ln w="12700">
            <a:solidFill>
              <a:srgbClr val="D6DEEC"/>
            </a:solidFill>
            <a:prstDash val="solid"/>
          </a:ln>
          <a:effectLst>
            <a:outerShdw sx="100000" sy="100000" kx="0" ky="0" algn="bl" rotWithShape="0" blurRad="88900" dist="38100" dir="5400000">
              <a:srgbClr val="8A94AD">
                <a:alpha val="26000"/>
              </a:srgbClr>
            </a:outerShdw>
          </a:effectLst>
        </p:spPr>
      </p:sp>
      <p:pic>
        <p:nvPicPr>
          <p:cNvPr id="21" name="Image 1" descr="logos/logo_mdn.png">    </p:cNvPr>
          <p:cNvPicPr>
            <a:picLocks noChangeAspect="1"/>
          </p:cNvPicPr>
          <p:nvPr/>
        </p:nvPicPr>
        <p:blipFill>
          <a:blip r:embed="rId2"/>
          <a:stretch>
            <a:fillRect/>
          </a:stretch>
        </p:blipFill>
        <p:spPr>
          <a:xfrm>
            <a:off x="11237976" y="5952744"/>
            <a:ext cx="713232" cy="713232"/>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2B5CB"/>
          </a:solidFill>
          <a:ln/>
        </p:spPr>
      </p:sp>
      <p:sp>
        <p:nvSpPr>
          <p:cNvPr id="3" name="Shape 1"/>
          <p:cNvSpPr/>
          <p:nvPr/>
        </p:nvSpPr>
        <p:spPr>
          <a:xfrm>
            <a:off x="146304" y="0"/>
            <a:ext cx="12042648" cy="1078992"/>
          </a:xfrm>
          <a:prstGeom prst="rect">
            <a:avLst/>
          </a:prstGeom>
          <a:solidFill>
            <a:srgbClr val="1B2A4A"/>
          </a:solidFill>
          <a:ln/>
        </p:spPr>
      </p:sp>
      <p:sp>
        <p:nvSpPr>
          <p:cNvPr id="4" name="Text 2"/>
          <p:cNvSpPr/>
          <p:nvPr/>
        </p:nvSpPr>
        <p:spPr>
          <a:xfrm>
            <a:off x="548640" y="182880"/>
            <a:ext cx="9601200" cy="292608"/>
          </a:xfrm>
          <a:prstGeom prst="rect">
            <a:avLst/>
          </a:prstGeom>
          <a:noFill/>
          <a:ln/>
        </p:spPr>
        <p:txBody>
          <a:bodyPr wrap="square" lIns="0" tIns="0" rIns="0" bIns="0" rtlCol="0" anchor="ctr"/>
          <a:lstStyle/>
          <a:p>
            <a:pPr indent="0" marL="0">
              <a:buNone/>
            </a:pPr>
            <a:r>
              <a:rPr lang="en-US" sz="1200" b="1" spc="150" kern="0" dirty="0">
                <a:solidFill>
                  <a:srgbClr val="78D9E6"/>
                </a:solidFill>
                <a:latin typeface="Calibri" pitchFamily="34" charset="0"/>
                <a:ea typeface="Calibri" pitchFamily="34" charset="-122"/>
                <a:cs typeface="Calibri" pitchFamily="34" charset="-120"/>
              </a:rPr>
              <a:t>CONFIGURATION PAS-À-PAS</a:t>
            </a:r>
            <a:endParaRPr lang="en-US" sz="1200" dirty="0"/>
          </a:p>
        </p:txBody>
      </p:sp>
      <p:sp>
        <p:nvSpPr>
          <p:cNvPr id="5" name="Text 3"/>
          <p:cNvSpPr/>
          <p:nvPr/>
        </p:nvSpPr>
        <p:spPr>
          <a:xfrm>
            <a:off x="530352" y="438912"/>
            <a:ext cx="9692640" cy="566928"/>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Artifact Registry — créer le dépôt</a:t>
            </a:r>
            <a:endParaRPr lang="en-US" sz="2700" dirty="0"/>
          </a:p>
        </p:txBody>
      </p:sp>
      <p:sp>
        <p:nvSpPr>
          <p:cNvPr id="6" name="Text 4"/>
          <p:cNvSpPr/>
          <p:nvPr/>
        </p:nvSpPr>
        <p:spPr>
          <a:xfrm>
            <a:off x="8229600" y="182880"/>
            <a:ext cx="1828800" cy="274320"/>
          </a:xfrm>
          <a:prstGeom prst="rect">
            <a:avLst/>
          </a:prstGeom>
          <a:noFill/>
          <a:ln/>
        </p:spPr>
        <p:txBody>
          <a:bodyPr wrap="square" lIns="0" tIns="0" rIns="0" bIns="0" rtlCol="0" anchor="ctr"/>
          <a:lstStyle/>
          <a:p>
            <a:pPr algn="r" indent="0" marL="0">
              <a:buNone/>
            </a:pPr>
            <a:r>
              <a:rPr lang="en-US" sz="1050" b="1" spc="100" kern="0" dirty="0">
                <a:solidFill>
                  <a:srgbClr val="8FA0C4"/>
                </a:solidFill>
                <a:latin typeface="Calibri" pitchFamily="34" charset="0"/>
                <a:ea typeface="Calibri" pitchFamily="34" charset="-122"/>
                <a:cs typeface="Calibri" pitchFamily="34" charset="-120"/>
              </a:rPr>
              <a:t>PARTIE 2</a:t>
            </a:r>
            <a:endParaRPr lang="en-US" sz="1050" dirty="0"/>
          </a:p>
        </p:txBody>
      </p:sp>
      <p:sp>
        <p:nvSpPr>
          <p:cNvPr id="7" name="Shape 5"/>
          <p:cNvSpPr/>
          <p:nvPr/>
        </p:nvSpPr>
        <p:spPr>
          <a:xfrm>
            <a:off x="10927080" y="237744"/>
            <a:ext cx="603504" cy="603504"/>
          </a:xfrm>
          <a:prstGeom prst="roundRect">
            <a:avLst>
              <a:gd name="adj" fmla="val 12121"/>
            </a:avLst>
          </a:prstGeom>
          <a:solidFill>
            <a:srgbClr val="FFFFFF"/>
          </a:solidFill>
          <a:ln/>
        </p:spPr>
      </p:sp>
      <p:pic>
        <p:nvPicPr>
          <p:cNvPr id="8" name="Image 0" descr="logos/06_artifact_registry.png">    </p:cNvPr>
          <p:cNvPicPr>
            <a:picLocks noChangeAspect="1"/>
          </p:cNvPicPr>
          <p:nvPr/>
        </p:nvPicPr>
        <p:blipFill>
          <a:blip r:embed="rId1"/>
          <a:stretch>
            <a:fillRect/>
          </a:stretch>
        </p:blipFill>
        <p:spPr>
          <a:xfrm>
            <a:off x="10991088" y="301752"/>
            <a:ext cx="475488" cy="475488"/>
          </a:xfrm>
          <a:prstGeom prst="rect">
            <a:avLst/>
          </a:prstGeom>
        </p:spPr>
      </p:pic>
      <p:sp>
        <p:nvSpPr>
          <p:cNvPr id="9" name="Shape 6"/>
          <p:cNvSpPr/>
          <p:nvPr/>
        </p:nvSpPr>
        <p:spPr>
          <a:xfrm>
            <a:off x="548640" y="1417320"/>
            <a:ext cx="384048" cy="384048"/>
          </a:xfrm>
          <a:prstGeom prst="ellipse">
            <a:avLst/>
          </a:prstGeom>
          <a:solidFill>
            <a:srgbClr val="12B5CB"/>
          </a:solidFill>
          <a:ln/>
        </p:spPr>
      </p:sp>
      <p:sp>
        <p:nvSpPr>
          <p:cNvPr id="10" name="Text 7"/>
          <p:cNvSpPr/>
          <p:nvPr/>
        </p:nvSpPr>
        <p:spPr>
          <a:xfrm>
            <a:off x="548640" y="14173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1" name="Text 8"/>
          <p:cNvSpPr/>
          <p:nvPr/>
        </p:nvSpPr>
        <p:spPr>
          <a:xfrm>
            <a:off x="1078992" y="1362456"/>
            <a:ext cx="4956048" cy="914400"/>
          </a:xfrm>
          <a:prstGeom prst="rect">
            <a:avLst/>
          </a:prstGeom>
          <a:noFill/>
          <a:ln/>
        </p:spPr>
        <p:txBody>
          <a:bodyPr wrap="square" lIns="0" tIns="0" rIns="0" bIns="0" rtlCol="0" anchor="t"/>
          <a:lstStyle/>
          <a:p>
            <a:pPr indent="0" marL="0">
              <a:buNone/>
            </a:pPr>
            <a:r>
              <a:rPr lang="en-US" sz="1350" b="1" dirty="0">
                <a:solidFill>
                  <a:srgbClr val="202124"/>
                </a:solidFill>
                <a:latin typeface="Calibri" pitchFamily="34" charset="0"/>
                <a:ea typeface="Calibri" pitchFamily="34" charset="-122"/>
                <a:cs typeface="Calibri" pitchFamily="34" charset="-120"/>
              </a:rPr>
              <a:t>Créer le dépôt Docker
</a:t>
            </a:r>
            <a:endParaRPr lang="en-US" sz="1350" dirty="0"/>
          </a:p>
          <a:p>
            <a:pPr indent="0" marL="0">
              <a:buNone/>
            </a:pPr>
            <a:r>
              <a:rPr lang="en-US" sz="1150" dirty="0">
                <a:solidFill>
                  <a:srgbClr val="5F6368"/>
                </a:solidFill>
                <a:latin typeface="Calibri" pitchFamily="34" charset="0"/>
                <a:ea typeface="Calibri" pitchFamily="34" charset="-122"/>
                <a:cs typeface="Calibri" pitchFamily="34" charset="-120"/>
              </a:rPr>
              <a:t>nom mgvaovao · région us-central1</a:t>
            </a:r>
            <a:endParaRPr lang="en-US" sz="1350" dirty="0"/>
          </a:p>
        </p:txBody>
      </p:sp>
      <p:sp>
        <p:nvSpPr>
          <p:cNvPr id="12" name="Shape 9"/>
          <p:cNvSpPr/>
          <p:nvPr/>
        </p:nvSpPr>
        <p:spPr>
          <a:xfrm>
            <a:off x="548640" y="2331720"/>
            <a:ext cx="384048" cy="384048"/>
          </a:xfrm>
          <a:prstGeom prst="ellipse">
            <a:avLst/>
          </a:prstGeom>
          <a:solidFill>
            <a:srgbClr val="12B5CB"/>
          </a:solidFill>
          <a:ln/>
        </p:spPr>
      </p:sp>
      <p:sp>
        <p:nvSpPr>
          <p:cNvPr id="13" name="Text 10"/>
          <p:cNvSpPr/>
          <p:nvPr/>
        </p:nvSpPr>
        <p:spPr>
          <a:xfrm>
            <a:off x="548640" y="23317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1"/>
          <p:cNvSpPr/>
          <p:nvPr/>
        </p:nvSpPr>
        <p:spPr>
          <a:xfrm>
            <a:off x="1078992" y="2276856"/>
            <a:ext cx="4956048" cy="914400"/>
          </a:xfrm>
          <a:prstGeom prst="rect">
            <a:avLst/>
          </a:prstGeom>
          <a:noFill/>
          <a:ln/>
        </p:spPr>
        <p:txBody>
          <a:bodyPr wrap="square" lIns="0" tIns="0" rIns="0" bIns="0" rtlCol="0" anchor="t"/>
          <a:lstStyle/>
          <a:p>
            <a:pPr indent="0" marL="0">
              <a:buNone/>
            </a:pPr>
            <a:r>
              <a:rPr lang="en-US" sz="1350" b="1" dirty="0">
                <a:solidFill>
                  <a:srgbClr val="202124"/>
                </a:solidFill>
                <a:latin typeface="Calibri" pitchFamily="34" charset="0"/>
                <a:ea typeface="Calibri" pitchFamily="34" charset="-122"/>
                <a:cs typeface="Calibri" pitchFamily="34" charset="-120"/>
              </a:rPr>
              <a:t>Vérifier la création
</a:t>
            </a:r>
            <a:endParaRPr lang="en-US" sz="1350" dirty="0"/>
          </a:p>
          <a:p>
            <a:pPr indent="0" marL="0">
              <a:buNone/>
            </a:pPr>
            <a:r>
              <a:rPr lang="en-US" sz="1150" dirty="0">
                <a:solidFill>
                  <a:srgbClr val="5F6368"/>
                </a:solidFill>
                <a:latin typeface="Calibri" pitchFamily="34" charset="0"/>
                <a:ea typeface="Calibri" pitchFamily="34" charset="-122"/>
                <a:cs typeface="Calibri" pitchFamily="34" charset="-120"/>
              </a:rPr>
              <a:t>repositories list</a:t>
            </a:r>
            <a:endParaRPr lang="en-US" sz="1350" dirty="0"/>
          </a:p>
        </p:txBody>
      </p:sp>
      <p:sp>
        <p:nvSpPr>
          <p:cNvPr id="15" name="Shape 12"/>
          <p:cNvSpPr/>
          <p:nvPr/>
        </p:nvSpPr>
        <p:spPr>
          <a:xfrm>
            <a:off x="548640" y="3246120"/>
            <a:ext cx="384048" cy="384048"/>
          </a:xfrm>
          <a:prstGeom prst="ellipse">
            <a:avLst/>
          </a:prstGeom>
          <a:solidFill>
            <a:srgbClr val="12B5CB"/>
          </a:solidFill>
          <a:ln/>
        </p:spPr>
      </p:sp>
      <p:sp>
        <p:nvSpPr>
          <p:cNvPr id="16" name="Text 13"/>
          <p:cNvSpPr/>
          <p:nvPr/>
        </p:nvSpPr>
        <p:spPr>
          <a:xfrm>
            <a:off x="548640" y="32461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4"/>
          <p:cNvSpPr/>
          <p:nvPr/>
        </p:nvSpPr>
        <p:spPr>
          <a:xfrm>
            <a:off x="1078992" y="3191256"/>
            <a:ext cx="4956048" cy="914400"/>
          </a:xfrm>
          <a:prstGeom prst="rect">
            <a:avLst/>
          </a:prstGeom>
          <a:noFill/>
          <a:ln/>
        </p:spPr>
        <p:txBody>
          <a:bodyPr wrap="square" lIns="0" tIns="0" rIns="0" bIns="0" rtlCol="0" anchor="t"/>
          <a:lstStyle/>
          <a:p>
            <a:pPr indent="0" marL="0">
              <a:buNone/>
            </a:pPr>
            <a:r>
              <a:rPr lang="en-US" sz="1350" b="1" dirty="0">
                <a:solidFill>
                  <a:srgbClr val="202124"/>
                </a:solidFill>
                <a:latin typeface="Calibri" pitchFamily="34" charset="0"/>
                <a:ea typeface="Calibri" pitchFamily="34" charset="-122"/>
                <a:cs typeface="Calibri" pitchFamily="34" charset="-120"/>
              </a:rPr>
              <a:t>Authentifier Docker (si push local)
</a:t>
            </a:r>
            <a:endParaRPr lang="en-US" sz="1350" dirty="0"/>
          </a:p>
          <a:p>
            <a:pPr indent="0" marL="0">
              <a:buNone/>
            </a:pPr>
            <a:r>
              <a:rPr lang="en-US" sz="1150" dirty="0">
                <a:solidFill>
                  <a:srgbClr val="5F6368"/>
                </a:solidFill>
                <a:latin typeface="Calibri" pitchFamily="34" charset="0"/>
                <a:ea typeface="Calibri" pitchFamily="34" charset="-122"/>
                <a:cs typeface="Calibri" pitchFamily="34" charset="-120"/>
              </a:rPr>
              <a:t>configure-docker</a:t>
            </a:r>
            <a:endParaRPr lang="en-US" sz="1350" dirty="0"/>
          </a:p>
        </p:txBody>
      </p:sp>
      <p:sp>
        <p:nvSpPr>
          <p:cNvPr id="18" name="Shape 15"/>
          <p:cNvSpPr/>
          <p:nvPr/>
        </p:nvSpPr>
        <p:spPr>
          <a:xfrm>
            <a:off x="6309360" y="1417320"/>
            <a:ext cx="5349240" cy="3657600"/>
          </a:xfrm>
          <a:prstGeom prst="rect">
            <a:avLst/>
          </a:prstGeom>
          <a:solidFill>
            <a:srgbClr val="0E1A33"/>
          </a:solidFill>
          <a:ln/>
          <a:effectLst>
            <a:outerShdw sx="100000" sy="100000" kx="0" ky="0" algn="bl" rotWithShape="0" blurRad="88900" dist="38100" dir="5400000">
              <a:srgbClr val="8A94AD">
                <a:alpha val="26000"/>
              </a:srgbClr>
            </a:outerShdw>
          </a:effectLst>
        </p:spPr>
      </p:sp>
      <p:sp>
        <p:nvSpPr>
          <p:cNvPr id="19" name="Text 16"/>
          <p:cNvSpPr/>
          <p:nvPr/>
        </p:nvSpPr>
        <p:spPr>
          <a:xfrm>
            <a:off x="6473952" y="1527048"/>
            <a:ext cx="5020056" cy="3438144"/>
          </a:xfrm>
          <a:prstGeom prst="rect">
            <a:avLst/>
          </a:prstGeom>
          <a:noFill/>
          <a:ln/>
        </p:spPr>
        <p:txBody>
          <a:bodyPr wrap="square" lIns="0" tIns="0" rIns="0" bIns="0" rtlCol="0" anchor="t"/>
          <a:lstStyle/>
          <a:p>
            <a:pPr indent="0" marL="0">
              <a:buNone/>
            </a:pPr>
            <a:r>
              <a:rPr lang="en-US" sz="950" dirty="0">
                <a:solidFill>
                  <a:srgbClr val="7F8CA8"/>
                </a:solidFill>
                <a:latin typeface="Consolas" pitchFamily="34" charset="0"/>
                <a:ea typeface="Consolas" pitchFamily="34" charset="-122"/>
                <a:cs typeface="Consolas" pitchFamily="34" charset="-120"/>
              </a:rPr>
              <a:t># 1. Créer le dépôt</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gcloud artifacts repositories create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mgvaovao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--repository-format=docker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--location=us-central1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--description="MGVaovao images"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--project=mgvaovao-ia</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a:t>
            </a:r>
            <a:endParaRPr lang="en-US" sz="950" dirty="0"/>
          </a:p>
          <a:p>
            <a:pPr indent="0" marL="0">
              <a:buNone/>
            </a:pPr>
            <a:r>
              <a:rPr lang="en-US" sz="950" dirty="0">
                <a:solidFill>
                  <a:srgbClr val="7F8CA8"/>
                </a:solidFill>
                <a:latin typeface="Consolas" pitchFamily="34" charset="0"/>
                <a:ea typeface="Consolas" pitchFamily="34" charset="-122"/>
                <a:cs typeface="Consolas" pitchFamily="34" charset="-120"/>
              </a:rPr>
              <a:t># 2. Vérifier</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gcloud artifacts repositories list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--project=mgvaovao-ia</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a:t>
            </a:r>
            <a:endParaRPr lang="en-US" sz="950" dirty="0"/>
          </a:p>
          <a:p>
            <a:pPr indent="0" marL="0">
              <a:buNone/>
            </a:pPr>
            <a:r>
              <a:rPr lang="en-US" sz="950" dirty="0">
                <a:solidFill>
                  <a:srgbClr val="7F8CA8"/>
                </a:solidFill>
                <a:latin typeface="Consolas" pitchFamily="34" charset="0"/>
                <a:ea typeface="Consolas" pitchFamily="34" charset="-122"/>
                <a:cs typeface="Consolas" pitchFamily="34" charset="-120"/>
              </a:rPr>
              <a:t># 3. Auth Docker (push local)</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gcloud auth configure-docker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us-central1-docker.pkg.dev</a:t>
            </a:r>
            <a:endParaRPr lang="en-US" sz="950" dirty="0"/>
          </a:p>
        </p:txBody>
      </p:sp>
      <p:sp>
        <p:nvSpPr>
          <p:cNvPr id="20" name="Text 17"/>
          <p:cNvSpPr/>
          <p:nvPr/>
        </p:nvSpPr>
        <p:spPr>
          <a:xfrm>
            <a:off x="548640" y="6510528"/>
            <a:ext cx="11155680" cy="274320"/>
          </a:xfrm>
          <a:prstGeom prst="rect">
            <a:avLst/>
          </a:prstGeom>
          <a:noFill/>
          <a:ln/>
        </p:spPr>
        <p:txBody>
          <a:bodyPr wrap="square" lIns="0" tIns="0" rIns="0" bIns="0" rtlCol="0" anchor="ctr"/>
          <a:lstStyle/>
          <a:p>
            <a:pPr indent="0" marL="0">
              <a:buNone/>
            </a:pPr>
            <a:r>
              <a:rPr lang="en-US" sz="950" i="1" dirty="0">
                <a:solidFill>
                  <a:srgbClr val="5F6368"/>
                </a:solidFill>
                <a:latin typeface="Calibri" pitchFamily="34" charset="0"/>
                <a:ea typeface="Calibri" pitchFamily="34" charset="-122"/>
                <a:cs typeface="Calibri" pitchFamily="34" charset="-120"/>
              </a:rPr>
              <a:t>Source : README §18.1 — Step 5</a:t>
            </a:r>
            <a:endParaRPr lang="en-US" sz="950" dirty="0"/>
          </a:p>
        </p:txBody>
      </p:sp>
      <p:sp>
        <p:nvSpPr>
          <p:cNvPr id="21" name="Text 18"/>
          <p:cNvSpPr/>
          <p:nvPr/>
        </p:nvSpPr>
        <p:spPr>
          <a:xfrm>
            <a:off x="548640" y="5664708"/>
            <a:ext cx="3200400" cy="182880"/>
          </a:xfrm>
          <a:prstGeom prst="rect">
            <a:avLst/>
          </a:prstGeom>
          <a:noFill/>
          <a:ln/>
        </p:spPr>
        <p:txBody>
          <a:bodyPr wrap="square" lIns="0" tIns="0" rIns="0" bIns="0" rtlCol="0" anchor="ctr"/>
          <a:lstStyle/>
          <a:p>
            <a:pPr indent="0" marL="0">
              <a:buNone/>
            </a:pPr>
            <a:r>
              <a:rPr lang="en-US" sz="850" b="1" dirty="0">
                <a:solidFill>
                  <a:srgbClr val="97A1B5"/>
                </a:solidFill>
                <a:latin typeface="Calibri" pitchFamily="34" charset="0"/>
                <a:ea typeface="Calibri" pitchFamily="34" charset="-122"/>
                <a:cs typeface="Calibri" pitchFamily="34" charset="-120"/>
              </a:rPr>
              <a:t>Tsantaniaina Rakotonjanahary Ambaorasoa Guillaume</a:t>
            </a:r>
            <a:endParaRPr lang="en-US" sz="850" dirty="0"/>
          </a:p>
        </p:txBody>
      </p:sp>
      <p:sp>
        <p:nvSpPr>
          <p:cNvPr id="22" name="Shape 19"/>
          <p:cNvSpPr/>
          <p:nvPr/>
        </p:nvSpPr>
        <p:spPr>
          <a:xfrm>
            <a:off x="11137392" y="5852160"/>
            <a:ext cx="914400" cy="914400"/>
          </a:xfrm>
          <a:prstGeom prst="roundRect">
            <a:avLst>
              <a:gd name="adj" fmla="val 10000"/>
            </a:avLst>
          </a:prstGeom>
          <a:solidFill>
            <a:srgbClr val="FFFFFF"/>
          </a:solidFill>
          <a:ln w="12700">
            <a:solidFill>
              <a:srgbClr val="D6DEEC"/>
            </a:solidFill>
            <a:prstDash val="solid"/>
          </a:ln>
          <a:effectLst>
            <a:outerShdw sx="100000" sy="100000" kx="0" ky="0" algn="bl" rotWithShape="0" blurRad="88900" dist="38100" dir="5400000">
              <a:srgbClr val="8A94AD">
                <a:alpha val="26000"/>
              </a:srgbClr>
            </a:outerShdw>
          </a:effectLst>
        </p:spPr>
      </p:sp>
      <p:pic>
        <p:nvPicPr>
          <p:cNvPr id="23" name="Image 1" descr="logos/logo_mdn.png">    </p:cNvPr>
          <p:cNvPicPr>
            <a:picLocks noChangeAspect="1"/>
          </p:cNvPicPr>
          <p:nvPr/>
        </p:nvPicPr>
        <p:blipFill>
          <a:blip r:embed="rId2"/>
          <a:stretch>
            <a:fillRect/>
          </a:stretch>
        </p:blipFill>
        <p:spPr>
          <a:xfrm>
            <a:off x="11237976" y="5952744"/>
            <a:ext cx="713232" cy="71323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34A853"/>
          </a:solidFill>
          <a:ln/>
        </p:spPr>
      </p:sp>
      <p:sp>
        <p:nvSpPr>
          <p:cNvPr id="3" name="Shape 1"/>
          <p:cNvSpPr/>
          <p:nvPr/>
        </p:nvSpPr>
        <p:spPr>
          <a:xfrm>
            <a:off x="146304" y="0"/>
            <a:ext cx="12042648" cy="1078992"/>
          </a:xfrm>
          <a:prstGeom prst="rect">
            <a:avLst/>
          </a:prstGeom>
          <a:solidFill>
            <a:srgbClr val="1B2A4A"/>
          </a:solidFill>
          <a:ln/>
        </p:spPr>
      </p:sp>
      <p:sp>
        <p:nvSpPr>
          <p:cNvPr id="4" name="Text 2"/>
          <p:cNvSpPr/>
          <p:nvPr/>
        </p:nvSpPr>
        <p:spPr>
          <a:xfrm>
            <a:off x="548640" y="182880"/>
            <a:ext cx="9601200" cy="292608"/>
          </a:xfrm>
          <a:prstGeom prst="rect">
            <a:avLst/>
          </a:prstGeom>
          <a:noFill/>
          <a:ln/>
        </p:spPr>
        <p:txBody>
          <a:bodyPr wrap="square" lIns="0" tIns="0" rIns="0" bIns="0" rtlCol="0" anchor="ctr"/>
          <a:lstStyle/>
          <a:p>
            <a:pPr indent="0" marL="0">
              <a:buNone/>
            </a:pPr>
            <a:r>
              <a:rPr lang="en-US" sz="1200" b="1" spc="150" kern="0" dirty="0">
                <a:solidFill>
                  <a:srgbClr val="81C995"/>
                </a:solidFill>
                <a:latin typeface="Calibri" pitchFamily="34" charset="0"/>
                <a:ea typeface="Calibri" pitchFamily="34" charset="-122"/>
                <a:cs typeface="Calibri" pitchFamily="34" charset="-120"/>
              </a:rPr>
              <a:t>STOCKAGE OBJET : MODÈLES &amp; DATASETS</a:t>
            </a:r>
            <a:endParaRPr lang="en-US" sz="1200" dirty="0"/>
          </a:p>
        </p:txBody>
      </p:sp>
      <p:sp>
        <p:nvSpPr>
          <p:cNvPr id="5" name="Text 3"/>
          <p:cNvSpPr/>
          <p:nvPr/>
        </p:nvSpPr>
        <p:spPr>
          <a:xfrm>
            <a:off x="530352" y="438912"/>
            <a:ext cx="9692640" cy="566928"/>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Cloud Storage — concepts</a:t>
            </a:r>
            <a:endParaRPr lang="en-US" sz="2700" dirty="0"/>
          </a:p>
        </p:txBody>
      </p:sp>
      <p:sp>
        <p:nvSpPr>
          <p:cNvPr id="6" name="Text 4"/>
          <p:cNvSpPr/>
          <p:nvPr/>
        </p:nvSpPr>
        <p:spPr>
          <a:xfrm>
            <a:off x="8229600" y="182880"/>
            <a:ext cx="1828800" cy="274320"/>
          </a:xfrm>
          <a:prstGeom prst="rect">
            <a:avLst/>
          </a:prstGeom>
          <a:noFill/>
          <a:ln/>
        </p:spPr>
        <p:txBody>
          <a:bodyPr wrap="square" lIns="0" tIns="0" rIns="0" bIns="0" rtlCol="0" anchor="ctr"/>
          <a:lstStyle/>
          <a:p>
            <a:pPr algn="r" indent="0" marL="0">
              <a:buNone/>
            </a:pPr>
            <a:r>
              <a:rPr lang="en-US" sz="1050" b="1" spc="100" kern="0" dirty="0">
                <a:solidFill>
                  <a:srgbClr val="8FA0C4"/>
                </a:solidFill>
                <a:latin typeface="Calibri" pitchFamily="34" charset="0"/>
                <a:ea typeface="Calibri" pitchFamily="34" charset="-122"/>
                <a:cs typeface="Calibri" pitchFamily="34" charset="-120"/>
              </a:rPr>
              <a:t>PARTIE 2</a:t>
            </a:r>
            <a:endParaRPr lang="en-US" sz="1050" dirty="0"/>
          </a:p>
        </p:txBody>
      </p:sp>
      <p:sp>
        <p:nvSpPr>
          <p:cNvPr id="7" name="Shape 5"/>
          <p:cNvSpPr/>
          <p:nvPr/>
        </p:nvSpPr>
        <p:spPr>
          <a:xfrm>
            <a:off x="10927080" y="237744"/>
            <a:ext cx="603504" cy="603504"/>
          </a:xfrm>
          <a:prstGeom prst="roundRect">
            <a:avLst>
              <a:gd name="adj" fmla="val 12121"/>
            </a:avLst>
          </a:prstGeom>
          <a:solidFill>
            <a:srgbClr val="FFFFFF"/>
          </a:solidFill>
          <a:ln/>
        </p:spPr>
      </p:sp>
      <p:pic>
        <p:nvPicPr>
          <p:cNvPr id="8" name="Image 0" descr="logos/03_cloud_storage.png">    </p:cNvPr>
          <p:cNvPicPr>
            <a:picLocks noChangeAspect="1"/>
          </p:cNvPicPr>
          <p:nvPr/>
        </p:nvPicPr>
        <p:blipFill>
          <a:blip r:embed="rId1"/>
          <a:stretch>
            <a:fillRect/>
          </a:stretch>
        </p:blipFill>
        <p:spPr>
          <a:xfrm>
            <a:off x="10991088" y="301752"/>
            <a:ext cx="475488" cy="475488"/>
          </a:xfrm>
          <a:prstGeom prst="rect">
            <a:avLst/>
          </a:prstGeom>
        </p:spPr>
      </p:pic>
      <p:sp>
        <p:nvSpPr>
          <p:cNvPr id="9" name="Text 6"/>
          <p:cNvSpPr/>
          <p:nvPr/>
        </p:nvSpPr>
        <p:spPr>
          <a:xfrm>
            <a:off x="548640" y="1325880"/>
            <a:ext cx="11064240" cy="731520"/>
          </a:xfrm>
          <a:prstGeom prst="rect">
            <a:avLst/>
          </a:prstGeom>
          <a:noFill/>
          <a:ln/>
        </p:spPr>
        <p:txBody>
          <a:bodyPr wrap="square" lIns="0" tIns="0" rIns="0" bIns="0" rtlCol="0" anchor="t"/>
          <a:lstStyle/>
          <a:p>
            <a:pPr indent="0" marL="0">
              <a:buNone/>
            </a:pPr>
            <a:r>
              <a:rPr lang="en-US" sz="1350" dirty="0">
                <a:solidFill>
                  <a:srgbClr val="202124"/>
                </a:solidFill>
                <a:latin typeface="Calibri" pitchFamily="34" charset="0"/>
                <a:ea typeface="Calibri" pitchFamily="34" charset="-122"/>
                <a:cs typeface="Calibri" pitchFamily="34" charset="-120"/>
              </a:rPr>
              <a:t>Stockage objet scalable. Conserve les checkpoints fine-tunés (tirés par Cloud Run à froid) et les datasets d'entraînement/évaluation. Backend natif de Vertex AI.</a:t>
            </a:r>
            <a:endParaRPr lang="en-US" sz="1350" dirty="0"/>
          </a:p>
        </p:txBody>
      </p:sp>
      <p:sp>
        <p:nvSpPr>
          <p:cNvPr id="10" name="Text 7"/>
          <p:cNvSpPr/>
          <p:nvPr/>
        </p:nvSpPr>
        <p:spPr>
          <a:xfrm>
            <a:off x="548640" y="2194560"/>
            <a:ext cx="5486400" cy="274320"/>
          </a:xfrm>
          <a:prstGeom prst="rect">
            <a:avLst/>
          </a:prstGeom>
          <a:noFill/>
          <a:ln/>
        </p:spPr>
        <p:txBody>
          <a:bodyPr wrap="square" lIns="0" tIns="0" rIns="0" bIns="0" rtlCol="0" anchor="ctr"/>
          <a:lstStyle/>
          <a:p>
            <a:pPr indent="0" marL="0">
              <a:buNone/>
            </a:pPr>
            <a:r>
              <a:rPr lang="en-US" sz="1300" b="1" spc="100" kern="0" dirty="0">
                <a:solidFill>
                  <a:srgbClr val="1E8E3E"/>
                </a:solidFill>
                <a:latin typeface="Calibri" pitchFamily="34" charset="0"/>
                <a:ea typeface="Calibri" pitchFamily="34" charset="-122"/>
                <a:cs typeface="Calibri" pitchFamily="34" charset="-120"/>
              </a:rPr>
              <a:t>CONCEPTS CLÉS</a:t>
            </a:r>
            <a:endParaRPr lang="en-US" sz="1300" dirty="0"/>
          </a:p>
        </p:txBody>
      </p:sp>
      <p:sp>
        <p:nvSpPr>
          <p:cNvPr id="11" name="Text 8"/>
          <p:cNvSpPr/>
          <p:nvPr/>
        </p:nvSpPr>
        <p:spPr>
          <a:xfrm>
            <a:off x="548640" y="2514600"/>
            <a:ext cx="5486400" cy="2194560"/>
          </a:xfrm>
          <a:prstGeom prst="rect">
            <a:avLst/>
          </a:prstGeom>
          <a:noFill/>
          <a:ln/>
        </p:spPr>
        <p:txBody>
          <a:bodyPr wrap="square" lIns="0" tIns="0" rIns="0" bIns="0" rtlCol="0" anchor="t"/>
          <a:lstStyle/>
          <a:p>
            <a:pPr marL="190500" indent="-190500">
              <a:spcAft>
                <a:spcPts val="600"/>
              </a:spcAft>
              <a:buSzPct val="100000"/>
              <a:buChar char="•"/>
            </a:pPr>
            <a:r>
              <a:rPr lang="en-US" sz="1300" dirty="0">
                <a:solidFill>
                  <a:srgbClr val="202124"/>
                </a:solidFill>
                <a:latin typeface="Calibri" pitchFamily="34" charset="0"/>
                <a:ea typeface="Calibri" pitchFamily="34" charset="-122"/>
                <a:cs typeface="Calibri" pitchFamily="34" charset="-120"/>
              </a:rPr>
              <a:t>Objets rangés dans des buckets (régional/multi-régional)</a:t>
            </a:r>
            <a:endParaRPr lang="en-US" sz="1300" dirty="0"/>
          </a:p>
          <a:p>
            <a:pPr marL="190500" indent="-190500">
              <a:spcAft>
                <a:spcPts val="600"/>
              </a:spcAft>
              <a:buSzPct val="100000"/>
              <a:buChar char="•"/>
            </a:pPr>
            <a:r>
              <a:rPr lang="en-US" sz="1300" dirty="0">
                <a:solidFill>
                  <a:srgbClr val="202124"/>
                </a:solidFill>
                <a:latin typeface="Calibri" pitchFamily="34" charset="0"/>
                <a:ea typeface="Calibri" pitchFamily="34" charset="-122"/>
                <a:cs typeface="Calibri" pitchFamily="34" charset="-120"/>
              </a:rPr>
              <a:t>Classes Standard / Nearline / Coldline / Archive</a:t>
            </a:r>
            <a:endParaRPr lang="en-US" sz="1300" dirty="0"/>
          </a:p>
          <a:p>
            <a:pPr marL="190500" indent="-190500">
              <a:spcAft>
                <a:spcPts val="600"/>
              </a:spcAft>
              <a:buSzPct val="100000"/>
              <a:buChar char="•"/>
            </a:pPr>
            <a:r>
              <a:rPr lang="en-US" sz="1300" dirty="0">
                <a:solidFill>
                  <a:srgbClr val="202124"/>
                </a:solidFill>
                <a:latin typeface="Calibri" pitchFamily="34" charset="0"/>
                <a:ea typeface="Calibri" pitchFamily="34" charset="-122"/>
                <a:cs typeface="Calibri" pitchFamily="34" charset="-120"/>
              </a:rPr>
              <a:t>Versioning d'objets (récupération, audit)</a:t>
            </a:r>
            <a:endParaRPr lang="en-US" sz="1300" dirty="0"/>
          </a:p>
          <a:p>
            <a:pPr marL="190500" indent="-190500">
              <a:spcAft>
                <a:spcPts val="600"/>
              </a:spcAft>
              <a:buSzPct val="100000"/>
              <a:buChar char="•"/>
            </a:pPr>
            <a:r>
              <a:rPr lang="en-US" sz="1300" dirty="0">
                <a:solidFill>
                  <a:srgbClr val="202124"/>
                </a:solidFill>
                <a:latin typeface="Calibri" pitchFamily="34" charset="0"/>
                <a:ea typeface="Calibri" pitchFamily="34" charset="-122"/>
                <a:cs typeface="Calibri" pitchFamily="34" charset="-120"/>
              </a:rPr>
              <a:t>Accès fin via IAM, chiffrement par défaut</a:t>
            </a:r>
            <a:endParaRPr lang="en-US" sz="1300" dirty="0"/>
          </a:p>
        </p:txBody>
      </p:sp>
      <p:sp>
        <p:nvSpPr>
          <p:cNvPr id="12" name="Text 9"/>
          <p:cNvSpPr/>
          <p:nvPr/>
        </p:nvSpPr>
        <p:spPr>
          <a:xfrm>
            <a:off x="6309360" y="2194560"/>
            <a:ext cx="5486400" cy="274320"/>
          </a:xfrm>
          <a:prstGeom prst="rect">
            <a:avLst/>
          </a:prstGeom>
          <a:noFill/>
          <a:ln/>
        </p:spPr>
        <p:txBody>
          <a:bodyPr wrap="square" lIns="0" tIns="0" rIns="0" bIns="0" rtlCol="0" anchor="ctr"/>
          <a:lstStyle/>
          <a:p>
            <a:pPr indent="0" marL="0">
              <a:buNone/>
            </a:pPr>
            <a:r>
              <a:rPr lang="en-US" sz="1300" b="1" spc="100" kern="0" dirty="0">
                <a:solidFill>
                  <a:srgbClr val="1E8E3E"/>
                </a:solidFill>
                <a:latin typeface="Calibri" pitchFamily="34" charset="0"/>
                <a:ea typeface="Calibri" pitchFamily="34" charset="-122"/>
                <a:cs typeface="Calibri" pitchFamily="34" charset="-120"/>
              </a:rPr>
              <a:t>LES 2 BUCKETS DU PROJET</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309360" y="2514600"/>
          <a:ext cx="5349240" cy="914400"/>
        </p:xfrm>
        <a:graphic>
          <a:graphicData uri="http://schemas.openxmlformats.org/drawingml/2006/table">
            <a:tbl>
              <a:tblPr/>
              <a:tblGrid>
                <a:gridCol w="2468880"/>
                <a:gridCol w="2880360"/>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Bucket</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8E3E"/>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Rôle</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8E3E"/>
                    </a:solidFill>
                  </a:tcPr>
                </a:tc>
              </a:tr>
              <a:tr h="0">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mgvaovao-ia-checkpoints</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Checkpoints modèles (tirés à froid)</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r>
              <a:tr h="0">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mgvaovao-ia_cloudbuild</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Archives source Cloud Build (auto)</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r>
            </a:tbl>
          </a:graphicData>
        </a:graphic>
      </p:graphicFrame>
      <p:sp>
        <p:nvSpPr>
          <p:cNvPr id="14" name="Shape 10"/>
          <p:cNvSpPr/>
          <p:nvPr/>
        </p:nvSpPr>
        <p:spPr>
          <a:xfrm>
            <a:off x="548640" y="4983480"/>
            <a:ext cx="11064240" cy="960120"/>
          </a:xfrm>
          <a:prstGeom prst="rect">
            <a:avLst/>
          </a:prstGeom>
          <a:solidFill>
            <a:srgbClr val="EEF2FB"/>
          </a:solidFill>
          <a:ln/>
        </p:spPr>
      </p:sp>
      <p:sp>
        <p:nvSpPr>
          <p:cNvPr id="15" name="Shape 11"/>
          <p:cNvSpPr/>
          <p:nvPr/>
        </p:nvSpPr>
        <p:spPr>
          <a:xfrm>
            <a:off x="548640" y="4983480"/>
            <a:ext cx="91440" cy="960120"/>
          </a:xfrm>
          <a:prstGeom prst="rect">
            <a:avLst/>
          </a:prstGeom>
          <a:solidFill>
            <a:srgbClr val="34A853"/>
          </a:solidFill>
          <a:ln/>
        </p:spPr>
      </p:sp>
      <p:sp>
        <p:nvSpPr>
          <p:cNvPr id="16" name="Text 12"/>
          <p:cNvSpPr/>
          <p:nvPr/>
        </p:nvSpPr>
        <p:spPr>
          <a:xfrm>
            <a:off x="786384" y="5056632"/>
            <a:ext cx="10680192" cy="813816"/>
          </a:xfrm>
          <a:prstGeom prst="rect">
            <a:avLst/>
          </a:prstGeom>
          <a:noFill/>
          <a:ln/>
        </p:spPr>
        <p:txBody>
          <a:bodyPr wrap="square" lIns="0" tIns="0" rIns="0" bIns="0" rtlCol="0" anchor="ctr"/>
          <a:lstStyle/>
          <a:p>
            <a:pPr indent="0" marL="0">
              <a:buNone/>
            </a:pPr>
            <a:r>
              <a:rPr lang="en-US" sz="1100" b="1" dirty="0">
                <a:solidFill>
                  <a:srgbClr val="1E8E3E"/>
                </a:solidFill>
                <a:latin typeface="Calibri" pitchFamily="34" charset="0"/>
                <a:ea typeface="Calibri" pitchFamily="34" charset="-122"/>
                <a:cs typeface="Calibri" pitchFamily="34" charset="-120"/>
              </a:rPr>
              <a:t>AU DÉMARRAGE À FROID   </a:t>
            </a:r>
            <a:pPr indent="0" marL="0">
              <a:buNone/>
            </a:pPr>
            <a:r>
              <a:rPr lang="en-US" sz="1200" dirty="0">
                <a:solidFill>
                  <a:srgbClr val="202124"/>
                </a:solidFill>
                <a:latin typeface="Calibri" pitchFamily="34" charset="0"/>
                <a:ea typeface="Calibri" pitchFamily="34" charset="-122"/>
                <a:cs typeface="Calibri" pitchFamily="34" charset="-120"/>
              </a:rPr>
              <a:t>Cloud Run exécute pull_checkpoints.py qui télécharge uniquement les checkpoints absents en local. Si le bucket est vide, les modèles de base (intégrés à l'image) sont utilisés.</a:t>
            </a:r>
            <a:endParaRPr lang="en-US" sz="1100" dirty="0"/>
          </a:p>
        </p:txBody>
      </p:sp>
      <p:sp>
        <p:nvSpPr>
          <p:cNvPr id="17" name="Text 13"/>
          <p:cNvSpPr/>
          <p:nvPr/>
        </p:nvSpPr>
        <p:spPr>
          <a:xfrm>
            <a:off x="548640" y="6510528"/>
            <a:ext cx="11155680" cy="274320"/>
          </a:xfrm>
          <a:prstGeom prst="rect">
            <a:avLst/>
          </a:prstGeom>
          <a:noFill/>
          <a:ln/>
        </p:spPr>
        <p:txBody>
          <a:bodyPr wrap="square" lIns="0" tIns="0" rIns="0" bIns="0" rtlCol="0" anchor="ctr"/>
          <a:lstStyle/>
          <a:p>
            <a:pPr indent="0" marL="0">
              <a:buNone/>
            </a:pPr>
            <a:r>
              <a:rPr lang="en-US" sz="950" i="1" dirty="0">
                <a:solidFill>
                  <a:srgbClr val="5F6368"/>
                </a:solidFill>
                <a:latin typeface="Calibri" pitchFamily="34" charset="0"/>
                <a:ea typeface="Calibri" pitchFamily="34" charset="-122"/>
                <a:cs typeface="Calibri" pitchFamily="34" charset="-120"/>
              </a:rPr>
              <a:t>Source : README §18.1 Step 6, §18.5 — doc : cloud.google.com/storage/docs</a:t>
            </a:r>
            <a:endParaRPr lang="en-US" sz="950" dirty="0"/>
          </a:p>
        </p:txBody>
      </p:sp>
      <p:sp>
        <p:nvSpPr>
          <p:cNvPr id="18" name="Text 14"/>
          <p:cNvSpPr/>
          <p:nvPr/>
        </p:nvSpPr>
        <p:spPr>
          <a:xfrm>
            <a:off x="2103120" y="4382008"/>
            <a:ext cx="3200400" cy="182880"/>
          </a:xfrm>
          <a:prstGeom prst="rect">
            <a:avLst/>
          </a:prstGeom>
          <a:noFill/>
          <a:ln/>
        </p:spPr>
        <p:txBody>
          <a:bodyPr wrap="square" lIns="0" tIns="0" rIns="0" bIns="0" rtlCol="0" anchor="ctr"/>
          <a:lstStyle/>
          <a:p>
            <a:pPr indent="0" marL="0">
              <a:buNone/>
            </a:pPr>
            <a:r>
              <a:rPr lang="en-US" sz="850" b="1" dirty="0">
                <a:solidFill>
                  <a:srgbClr val="97A1B5"/>
                </a:solidFill>
                <a:latin typeface="Calibri" pitchFamily="34" charset="0"/>
                <a:ea typeface="Calibri" pitchFamily="34" charset="-122"/>
                <a:cs typeface="Calibri" pitchFamily="34" charset="-120"/>
              </a:rPr>
              <a:t>Tsantaniaina Rakotonjanahary Ambaorasoa Guillaume</a:t>
            </a:r>
            <a:endParaRPr lang="en-US" sz="850" dirty="0"/>
          </a:p>
        </p:txBody>
      </p:sp>
      <p:sp>
        <p:nvSpPr>
          <p:cNvPr id="19" name="Shape 15"/>
          <p:cNvSpPr/>
          <p:nvPr/>
        </p:nvSpPr>
        <p:spPr>
          <a:xfrm>
            <a:off x="11137392" y="5852160"/>
            <a:ext cx="914400" cy="914400"/>
          </a:xfrm>
          <a:prstGeom prst="roundRect">
            <a:avLst>
              <a:gd name="adj" fmla="val 10000"/>
            </a:avLst>
          </a:prstGeom>
          <a:solidFill>
            <a:srgbClr val="FFFFFF"/>
          </a:solidFill>
          <a:ln w="12700">
            <a:solidFill>
              <a:srgbClr val="D6DEEC"/>
            </a:solidFill>
            <a:prstDash val="solid"/>
          </a:ln>
          <a:effectLst>
            <a:outerShdw sx="100000" sy="100000" kx="0" ky="0" algn="bl" rotWithShape="0" blurRad="88900" dist="38100" dir="5400000">
              <a:srgbClr val="8A94AD">
                <a:alpha val="26000"/>
              </a:srgbClr>
            </a:outerShdw>
          </a:effectLst>
        </p:spPr>
      </p:sp>
      <p:pic>
        <p:nvPicPr>
          <p:cNvPr id="20" name="Image 1" descr="logos/logo_mdn.png">    </p:cNvPr>
          <p:cNvPicPr>
            <a:picLocks noChangeAspect="1"/>
          </p:cNvPicPr>
          <p:nvPr/>
        </p:nvPicPr>
        <p:blipFill>
          <a:blip r:embed="rId2"/>
          <a:stretch>
            <a:fillRect/>
          </a:stretch>
        </p:blipFill>
        <p:spPr>
          <a:xfrm>
            <a:off x="11237976" y="5952744"/>
            <a:ext cx="713232" cy="71323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34A853"/>
          </a:solidFill>
          <a:ln/>
        </p:spPr>
      </p:sp>
      <p:sp>
        <p:nvSpPr>
          <p:cNvPr id="3" name="Shape 1"/>
          <p:cNvSpPr/>
          <p:nvPr/>
        </p:nvSpPr>
        <p:spPr>
          <a:xfrm>
            <a:off x="146304" y="0"/>
            <a:ext cx="12042648" cy="1078992"/>
          </a:xfrm>
          <a:prstGeom prst="rect">
            <a:avLst/>
          </a:prstGeom>
          <a:solidFill>
            <a:srgbClr val="1B2A4A"/>
          </a:solidFill>
          <a:ln/>
        </p:spPr>
      </p:sp>
      <p:sp>
        <p:nvSpPr>
          <p:cNvPr id="4" name="Text 2"/>
          <p:cNvSpPr/>
          <p:nvPr/>
        </p:nvSpPr>
        <p:spPr>
          <a:xfrm>
            <a:off x="548640" y="182880"/>
            <a:ext cx="9601200" cy="292608"/>
          </a:xfrm>
          <a:prstGeom prst="rect">
            <a:avLst/>
          </a:prstGeom>
          <a:noFill/>
          <a:ln/>
        </p:spPr>
        <p:txBody>
          <a:bodyPr wrap="square" lIns="0" tIns="0" rIns="0" bIns="0" rtlCol="0" anchor="ctr"/>
          <a:lstStyle/>
          <a:p>
            <a:pPr indent="0" marL="0">
              <a:buNone/>
            </a:pPr>
            <a:r>
              <a:rPr lang="en-US" sz="1200" b="1" spc="150" kern="0" dirty="0">
                <a:solidFill>
                  <a:srgbClr val="81C995"/>
                </a:solidFill>
                <a:latin typeface="Calibri" pitchFamily="34" charset="0"/>
                <a:ea typeface="Calibri" pitchFamily="34" charset="-122"/>
                <a:cs typeface="Calibri" pitchFamily="34" charset="-120"/>
              </a:rPr>
              <a:t>CRÉATION, ARBORESCENCE ET UPLOAD</a:t>
            </a:r>
            <a:endParaRPr lang="en-US" sz="1200" dirty="0"/>
          </a:p>
        </p:txBody>
      </p:sp>
      <p:sp>
        <p:nvSpPr>
          <p:cNvPr id="5" name="Text 3"/>
          <p:cNvSpPr/>
          <p:nvPr/>
        </p:nvSpPr>
        <p:spPr>
          <a:xfrm>
            <a:off x="530352" y="438912"/>
            <a:ext cx="9692640" cy="566928"/>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Cloud Storage — buckets &amp; checkpoints</a:t>
            </a:r>
            <a:endParaRPr lang="en-US" sz="2700" dirty="0"/>
          </a:p>
        </p:txBody>
      </p:sp>
      <p:sp>
        <p:nvSpPr>
          <p:cNvPr id="6" name="Text 4"/>
          <p:cNvSpPr/>
          <p:nvPr/>
        </p:nvSpPr>
        <p:spPr>
          <a:xfrm>
            <a:off x="8229600" y="182880"/>
            <a:ext cx="1828800" cy="274320"/>
          </a:xfrm>
          <a:prstGeom prst="rect">
            <a:avLst/>
          </a:prstGeom>
          <a:noFill/>
          <a:ln/>
        </p:spPr>
        <p:txBody>
          <a:bodyPr wrap="square" lIns="0" tIns="0" rIns="0" bIns="0" rtlCol="0" anchor="ctr"/>
          <a:lstStyle/>
          <a:p>
            <a:pPr algn="r" indent="0" marL="0">
              <a:buNone/>
            </a:pPr>
            <a:r>
              <a:rPr lang="en-US" sz="1050" b="1" spc="100" kern="0" dirty="0">
                <a:solidFill>
                  <a:srgbClr val="8FA0C4"/>
                </a:solidFill>
                <a:latin typeface="Calibri" pitchFamily="34" charset="0"/>
                <a:ea typeface="Calibri" pitchFamily="34" charset="-122"/>
                <a:cs typeface="Calibri" pitchFamily="34" charset="-120"/>
              </a:rPr>
              <a:t>PARTIE 2</a:t>
            </a:r>
            <a:endParaRPr lang="en-US" sz="1050" dirty="0"/>
          </a:p>
        </p:txBody>
      </p:sp>
      <p:sp>
        <p:nvSpPr>
          <p:cNvPr id="7" name="Shape 5"/>
          <p:cNvSpPr/>
          <p:nvPr/>
        </p:nvSpPr>
        <p:spPr>
          <a:xfrm>
            <a:off x="10927080" y="237744"/>
            <a:ext cx="603504" cy="603504"/>
          </a:xfrm>
          <a:prstGeom prst="roundRect">
            <a:avLst>
              <a:gd name="adj" fmla="val 12121"/>
            </a:avLst>
          </a:prstGeom>
          <a:solidFill>
            <a:srgbClr val="FFFFFF"/>
          </a:solidFill>
          <a:ln/>
        </p:spPr>
      </p:sp>
      <p:pic>
        <p:nvPicPr>
          <p:cNvPr id="8" name="Image 0" descr="logos/03_cloud_storage.png">    </p:cNvPr>
          <p:cNvPicPr>
            <a:picLocks noChangeAspect="1"/>
          </p:cNvPicPr>
          <p:nvPr/>
        </p:nvPicPr>
        <p:blipFill>
          <a:blip r:embed="rId1"/>
          <a:stretch>
            <a:fillRect/>
          </a:stretch>
        </p:blipFill>
        <p:spPr>
          <a:xfrm>
            <a:off x="10991088" y="301752"/>
            <a:ext cx="475488" cy="475488"/>
          </a:xfrm>
          <a:prstGeom prst="rect">
            <a:avLst/>
          </a:prstGeom>
        </p:spPr>
      </p:pic>
      <p:sp>
        <p:nvSpPr>
          <p:cNvPr id="9" name="Shape 6"/>
          <p:cNvSpPr/>
          <p:nvPr/>
        </p:nvSpPr>
        <p:spPr>
          <a:xfrm>
            <a:off x="548640" y="1371600"/>
            <a:ext cx="5486400" cy="2011680"/>
          </a:xfrm>
          <a:prstGeom prst="rect">
            <a:avLst/>
          </a:prstGeom>
          <a:solidFill>
            <a:srgbClr val="0E1A33"/>
          </a:solidFill>
          <a:ln/>
          <a:effectLst>
            <a:outerShdw sx="100000" sy="100000" kx="0" ky="0" algn="bl" rotWithShape="0" blurRad="88900" dist="38100" dir="5400000">
              <a:srgbClr val="8A94AD">
                <a:alpha val="26000"/>
              </a:srgbClr>
            </a:outerShdw>
          </a:effectLst>
        </p:spPr>
      </p:sp>
      <p:sp>
        <p:nvSpPr>
          <p:cNvPr id="10" name="Text 7"/>
          <p:cNvSpPr/>
          <p:nvPr/>
        </p:nvSpPr>
        <p:spPr>
          <a:xfrm>
            <a:off x="713232" y="1481328"/>
            <a:ext cx="5157216" cy="1792224"/>
          </a:xfrm>
          <a:prstGeom prst="rect">
            <a:avLst/>
          </a:prstGeom>
          <a:noFill/>
          <a:ln/>
        </p:spPr>
        <p:txBody>
          <a:bodyPr wrap="square" lIns="0" tIns="0" rIns="0" bIns="0" rtlCol="0" anchor="t"/>
          <a:lstStyle/>
          <a:p>
            <a:pPr indent="0" marL="0">
              <a:buNone/>
            </a:pPr>
            <a:r>
              <a:rPr lang="en-US" sz="950" dirty="0">
                <a:solidFill>
                  <a:srgbClr val="7F8CA8"/>
                </a:solidFill>
                <a:latin typeface="Consolas" pitchFamily="34" charset="0"/>
                <a:ea typeface="Consolas" pitchFamily="34" charset="-122"/>
                <a:cs typeface="Consolas" pitchFamily="34" charset="-120"/>
              </a:rPr>
              <a:t># 1. Créer le bucket de checkpoints</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gcloud storage buckets create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gs://mgvaovao-ia-checkpoints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--location=us-central1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--project=mgvaovao-ia</a:t>
            </a:r>
            <a:endParaRPr lang="en-US" sz="950" dirty="0"/>
          </a:p>
          <a:p>
            <a:pPr indent="0" marL="0">
              <a:buNone/>
            </a:pPr>
            <a:r>
              <a:rPr lang="en-US" sz="950" dirty="0">
                <a:solidFill>
                  <a:srgbClr val="7F8CA8"/>
                </a:solidFill>
                <a:latin typeface="Consolas" pitchFamily="34" charset="0"/>
                <a:ea typeface="Consolas" pitchFamily="34" charset="-122"/>
                <a:cs typeface="Consolas" pitchFamily="34" charset="-120"/>
              </a:rPr>
              <a:t># (le bucket cloudbuild est auto-créé)</a:t>
            </a:r>
            <a:endParaRPr lang="en-US" sz="950" dirty="0"/>
          </a:p>
        </p:txBody>
      </p:sp>
      <p:sp>
        <p:nvSpPr>
          <p:cNvPr id="11" name="Text 8"/>
          <p:cNvSpPr/>
          <p:nvPr/>
        </p:nvSpPr>
        <p:spPr>
          <a:xfrm>
            <a:off x="548640" y="3520440"/>
            <a:ext cx="5486400" cy="274320"/>
          </a:xfrm>
          <a:prstGeom prst="rect">
            <a:avLst/>
          </a:prstGeom>
          <a:noFill/>
          <a:ln/>
        </p:spPr>
        <p:txBody>
          <a:bodyPr wrap="square" lIns="0" tIns="0" rIns="0" bIns="0" rtlCol="0" anchor="ctr"/>
          <a:lstStyle/>
          <a:p>
            <a:pPr indent="0" marL="0">
              <a:buNone/>
            </a:pPr>
            <a:r>
              <a:rPr lang="en-US" sz="1300" b="1" spc="100" kern="0" dirty="0">
                <a:solidFill>
                  <a:srgbClr val="1E8E3E"/>
                </a:solidFill>
                <a:latin typeface="Calibri" pitchFamily="34" charset="0"/>
                <a:ea typeface="Calibri" pitchFamily="34" charset="-122"/>
                <a:cs typeface="Calibri" pitchFamily="34" charset="-120"/>
              </a:rPr>
              <a:t>ARBORESCENCE GCS</a:t>
            </a:r>
            <a:endParaRPr lang="en-US" sz="1300" dirty="0"/>
          </a:p>
        </p:txBody>
      </p:sp>
      <p:sp>
        <p:nvSpPr>
          <p:cNvPr id="12" name="Shape 9"/>
          <p:cNvSpPr/>
          <p:nvPr/>
        </p:nvSpPr>
        <p:spPr>
          <a:xfrm>
            <a:off x="548640" y="3840480"/>
            <a:ext cx="5486400" cy="2148840"/>
          </a:xfrm>
          <a:prstGeom prst="rect">
            <a:avLst/>
          </a:prstGeom>
          <a:solidFill>
            <a:srgbClr val="0E1A33"/>
          </a:solidFill>
          <a:ln/>
          <a:effectLst>
            <a:outerShdw sx="100000" sy="100000" kx="0" ky="0" algn="bl" rotWithShape="0" blurRad="88900" dist="38100" dir="5400000">
              <a:srgbClr val="8A94AD">
                <a:alpha val="26000"/>
              </a:srgbClr>
            </a:outerShdw>
          </a:effectLst>
        </p:spPr>
      </p:sp>
      <p:sp>
        <p:nvSpPr>
          <p:cNvPr id="13" name="Text 10"/>
          <p:cNvSpPr/>
          <p:nvPr/>
        </p:nvSpPr>
        <p:spPr>
          <a:xfrm>
            <a:off x="713232" y="3950208"/>
            <a:ext cx="5157216" cy="1929384"/>
          </a:xfrm>
          <a:prstGeom prst="rect">
            <a:avLst/>
          </a:prstGeom>
          <a:noFill/>
          <a:ln/>
        </p:spPr>
        <p:txBody>
          <a:bodyPr wrap="square" lIns="0" tIns="0" rIns="0" bIns="0" rtlCol="0" anchor="t"/>
          <a:lstStyle/>
          <a:p>
            <a:pPr indent="0" marL="0">
              <a:buNone/>
            </a:pPr>
            <a:r>
              <a:rPr lang="en-US" sz="950" dirty="0">
                <a:solidFill>
                  <a:srgbClr val="DCE3F2"/>
                </a:solidFill>
                <a:latin typeface="Consolas" pitchFamily="34" charset="0"/>
                <a:ea typeface="Consolas" pitchFamily="34" charset="-122"/>
                <a:cs typeface="Consolas" pitchFamily="34" charset="-120"/>
              </a:rPr>
              <a:t>gs://mgvaovao-ia-checkpoints/</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tts_{dialect}/final/      # VITS</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config.json model.safetensors</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nllb_{dialect}/final/     # LoRA</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adapter_config.json</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adapter_model.safetensors</a:t>
            </a:r>
            <a:endParaRPr lang="en-US" sz="950" dirty="0"/>
          </a:p>
        </p:txBody>
      </p:sp>
      <p:sp>
        <p:nvSpPr>
          <p:cNvPr id="14" name="Text 11"/>
          <p:cNvSpPr/>
          <p:nvPr/>
        </p:nvSpPr>
        <p:spPr>
          <a:xfrm>
            <a:off x="6309360" y="1371600"/>
            <a:ext cx="5486400" cy="274320"/>
          </a:xfrm>
          <a:prstGeom prst="rect">
            <a:avLst/>
          </a:prstGeom>
          <a:noFill/>
          <a:ln/>
        </p:spPr>
        <p:txBody>
          <a:bodyPr wrap="square" lIns="0" tIns="0" rIns="0" bIns="0" rtlCol="0" anchor="ctr"/>
          <a:lstStyle/>
          <a:p>
            <a:pPr indent="0" marL="0">
              <a:buNone/>
            </a:pPr>
            <a:r>
              <a:rPr lang="en-US" sz="1300" b="1" spc="100" kern="0" dirty="0">
                <a:solidFill>
                  <a:srgbClr val="1E8E3E"/>
                </a:solidFill>
                <a:latin typeface="Calibri" pitchFamily="34" charset="0"/>
                <a:ea typeface="Calibri" pitchFamily="34" charset="-122"/>
                <a:cs typeface="Calibri" pitchFamily="34" charset="-120"/>
              </a:rPr>
              <a:t>UPLOADER UN CHECKPOINT FINE-TUNÉ</a:t>
            </a:r>
            <a:endParaRPr lang="en-US" sz="1300" dirty="0"/>
          </a:p>
        </p:txBody>
      </p:sp>
      <p:sp>
        <p:nvSpPr>
          <p:cNvPr id="15" name="Shape 12"/>
          <p:cNvSpPr/>
          <p:nvPr/>
        </p:nvSpPr>
        <p:spPr>
          <a:xfrm>
            <a:off x="6309360" y="1691640"/>
            <a:ext cx="5349240" cy="2377440"/>
          </a:xfrm>
          <a:prstGeom prst="rect">
            <a:avLst/>
          </a:prstGeom>
          <a:solidFill>
            <a:srgbClr val="0E1A33"/>
          </a:solidFill>
          <a:ln/>
          <a:effectLst>
            <a:outerShdw sx="100000" sy="100000" kx="0" ky="0" algn="bl" rotWithShape="0" blurRad="88900" dist="38100" dir="5400000">
              <a:srgbClr val="8A94AD">
                <a:alpha val="26000"/>
              </a:srgbClr>
            </a:outerShdw>
          </a:effectLst>
        </p:spPr>
      </p:sp>
      <p:sp>
        <p:nvSpPr>
          <p:cNvPr id="16" name="Text 13"/>
          <p:cNvSpPr/>
          <p:nvPr/>
        </p:nvSpPr>
        <p:spPr>
          <a:xfrm>
            <a:off x="6473952" y="1801368"/>
            <a:ext cx="5020056" cy="2157984"/>
          </a:xfrm>
          <a:prstGeom prst="rect">
            <a:avLst/>
          </a:prstGeom>
          <a:noFill/>
          <a:ln/>
        </p:spPr>
        <p:txBody>
          <a:bodyPr wrap="square" lIns="0" tIns="0" rIns="0" bIns="0" rtlCol="0" anchor="t"/>
          <a:lstStyle/>
          <a:p>
            <a:pPr indent="0" marL="0">
              <a:buNone/>
            </a:pPr>
            <a:r>
              <a:rPr lang="en-US" sz="950" dirty="0">
                <a:solidFill>
                  <a:srgbClr val="7F8CA8"/>
                </a:solidFill>
                <a:latin typeface="Consolas" pitchFamily="34" charset="0"/>
                <a:ea typeface="Consolas" pitchFamily="34" charset="-122"/>
                <a:cs typeface="Consolas" pitchFamily="34" charset="-120"/>
              </a:rPr>
              <a:t># Script du projet</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python scripts/push_checkpoint.py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tts betsileo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./checkpoints/tts_betsileo/final</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a:t>
            </a:r>
            <a:endParaRPr lang="en-US" sz="950" dirty="0"/>
          </a:p>
          <a:p>
            <a:pPr indent="0" marL="0">
              <a:buNone/>
            </a:pPr>
            <a:r>
              <a:rPr lang="en-US" sz="950" dirty="0">
                <a:solidFill>
                  <a:srgbClr val="7F8CA8"/>
                </a:solidFill>
                <a:latin typeface="Consolas" pitchFamily="34" charset="0"/>
                <a:ea typeface="Consolas" pitchFamily="34" charset="-122"/>
                <a:cs typeface="Consolas" pitchFamily="34" charset="-120"/>
              </a:rPr>
              <a:t># Ou directement avec gsutil</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gsutil -m cp -r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./checkpoints/tts_betsileo/final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gs://mgvaovao-ia-checkpoints/tts_betsileo/</a:t>
            </a:r>
            <a:endParaRPr lang="en-US" sz="950" dirty="0"/>
          </a:p>
        </p:txBody>
      </p:sp>
      <p:sp>
        <p:nvSpPr>
          <p:cNvPr id="17" name="Shape 14"/>
          <p:cNvSpPr/>
          <p:nvPr/>
        </p:nvSpPr>
        <p:spPr>
          <a:xfrm>
            <a:off x="6309360" y="4297680"/>
            <a:ext cx="5349240" cy="1691640"/>
          </a:xfrm>
          <a:prstGeom prst="rect">
            <a:avLst/>
          </a:prstGeom>
          <a:solidFill>
            <a:srgbClr val="EEF2FB"/>
          </a:solidFill>
          <a:ln/>
        </p:spPr>
      </p:sp>
      <p:sp>
        <p:nvSpPr>
          <p:cNvPr id="18" name="Shape 15"/>
          <p:cNvSpPr/>
          <p:nvPr/>
        </p:nvSpPr>
        <p:spPr>
          <a:xfrm>
            <a:off x="6309360" y="4297680"/>
            <a:ext cx="91440" cy="1691640"/>
          </a:xfrm>
          <a:prstGeom prst="rect">
            <a:avLst/>
          </a:prstGeom>
          <a:solidFill>
            <a:srgbClr val="34A853"/>
          </a:solidFill>
          <a:ln/>
        </p:spPr>
      </p:sp>
      <p:sp>
        <p:nvSpPr>
          <p:cNvPr id="19" name="Text 16"/>
          <p:cNvSpPr/>
          <p:nvPr/>
        </p:nvSpPr>
        <p:spPr>
          <a:xfrm>
            <a:off x="6547104" y="4370832"/>
            <a:ext cx="4965192" cy="1545336"/>
          </a:xfrm>
          <a:prstGeom prst="rect">
            <a:avLst/>
          </a:prstGeom>
          <a:noFill/>
          <a:ln/>
        </p:spPr>
        <p:txBody>
          <a:bodyPr wrap="square" lIns="0" tIns="0" rIns="0" bIns="0" rtlCol="0" anchor="ctr"/>
          <a:lstStyle/>
          <a:p>
            <a:pPr indent="0" marL="0">
              <a:buNone/>
            </a:pPr>
            <a:r>
              <a:rPr lang="en-US" sz="1100" b="1" dirty="0">
                <a:solidFill>
                  <a:srgbClr val="1E8E3E"/>
                </a:solidFill>
                <a:latin typeface="Calibri" pitchFamily="34" charset="0"/>
                <a:ea typeface="Calibri" pitchFamily="34" charset="-122"/>
                <a:cs typeface="Calibri" pitchFamily="34" charset="-120"/>
              </a:rPr>
              <a:t>PRENDRE EN COMPTE LE NOUVEAU MODÈLE   </a:t>
            </a:r>
            <a:pPr indent="0" marL="0">
              <a:buNone/>
            </a:pPr>
            <a:r>
              <a:rPr lang="en-US" sz="1200" dirty="0">
                <a:solidFill>
                  <a:srgbClr val="202124"/>
                </a:solidFill>
                <a:latin typeface="Calibri" pitchFamily="34" charset="0"/>
                <a:ea typeface="Calibri" pitchFamily="34" charset="-122"/>
                <a:cs typeface="Calibri" pitchFamily="34" charset="-120"/>
              </a:rPr>
              <a:t>Les checkpoints ne sont tirés qu'au démarrage à froid. Forcer un redémarrage :</a:t>
            </a:r>
            <a:endParaRPr lang="en-US" sz="1100" dirty="0"/>
          </a:p>
          <a:p>
            <a:pPr indent="0" marL="0">
              <a:buNone/>
            </a:pPr>
            <a:r>
              <a:rPr lang="en-US" sz="1200" dirty="0">
                <a:solidFill>
                  <a:srgbClr val="202124"/>
                </a:solidFill>
                <a:latin typeface="Calibri" pitchFamily="34" charset="0"/>
                <a:ea typeface="Calibri" pitchFamily="34" charset="-122"/>
                <a:cs typeface="Calibri" pitchFamily="34" charset="-120"/>
              </a:rPr>
              <a:t>gcloud run services update mgvaovao-inference --region=us-central1</a:t>
            </a:r>
            <a:endParaRPr lang="en-US" sz="1100" dirty="0"/>
          </a:p>
        </p:txBody>
      </p:sp>
      <p:sp>
        <p:nvSpPr>
          <p:cNvPr id="20" name="Text 17"/>
          <p:cNvSpPr/>
          <p:nvPr/>
        </p:nvSpPr>
        <p:spPr>
          <a:xfrm>
            <a:off x="548640" y="6510528"/>
            <a:ext cx="11155680" cy="274320"/>
          </a:xfrm>
          <a:prstGeom prst="rect">
            <a:avLst/>
          </a:prstGeom>
          <a:noFill/>
          <a:ln/>
        </p:spPr>
        <p:txBody>
          <a:bodyPr wrap="square" lIns="0" tIns="0" rIns="0" bIns="0" rtlCol="0" anchor="ctr"/>
          <a:lstStyle/>
          <a:p>
            <a:pPr indent="0" marL="0">
              <a:buNone/>
            </a:pPr>
            <a:r>
              <a:rPr lang="en-US" sz="950" i="1" dirty="0">
                <a:solidFill>
                  <a:srgbClr val="5F6368"/>
                </a:solidFill>
                <a:latin typeface="Calibri" pitchFamily="34" charset="0"/>
                <a:ea typeface="Calibri" pitchFamily="34" charset="-122"/>
                <a:cs typeface="Calibri" pitchFamily="34" charset="-120"/>
              </a:rPr>
              <a:t>Source : README §18.1 Step 6, §17, §18.5</a:t>
            </a:r>
            <a:endParaRPr lang="en-US" sz="950" dirty="0"/>
          </a:p>
        </p:txBody>
      </p:sp>
      <p:sp>
        <p:nvSpPr>
          <p:cNvPr id="21" name="Text 18"/>
          <p:cNvSpPr/>
          <p:nvPr/>
        </p:nvSpPr>
        <p:spPr>
          <a:xfrm>
            <a:off x="3657600" y="6121908"/>
            <a:ext cx="3200400" cy="182880"/>
          </a:xfrm>
          <a:prstGeom prst="rect">
            <a:avLst/>
          </a:prstGeom>
          <a:noFill/>
          <a:ln/>
        </p:spPr>
        <p:txBody>
          <a:bodyPr wrap="square" lIns="0" tIns="0" rIns="0" bIns="0" rtlCol="0" anchor="ctr"/>
          <a:lstStyle/>
          <a:p>
            <a:pPr indent="0" marL="0">
              <a:buNone/>
            </a:pPr>
            <a:r>
              <a:rPr lang="en-US" sz="850" b="1" dirty="0">
                <a:solidFill>
                  <a:srgbClr val="97A1B5"/>
                </a:solidFill>
                <a:latin typeface="Calibri" pitchFamily="34" charset="0"/>
                <a:ea typeface="Calibri" pitchFamily="34" charset="-122"/>
                <a:cs typeface="Calibri" pitchFamily="34" charset="-120"/>
              </a:rPr>
              <a:t>Tsantaniaina Rakotonjanahary Ambaorasoa Guillaume</a:t>
            </a:r>
            <a:endParaRPr lang="en-US" sz="850" dirty="0"/>
          </a:p>
        </p:txBody>
      </p:sp>
      <p:sp>
        <p:nvSpPr>
          <p:cNvPr id="22" name="Shape 19"/>
          <p:cNvSpPr/>
          <p:nvPr/>
        </p:nvSpPr>
        <p:spPr>
          <a:xfrm>
            <a:off x="11137392" y="5852160"/>
            <a:ext cx="914400" cy="914400"/>
          </a:xfrm>
          <a:prstGeom prst="roundRect">
            <a:avLst>
              <a:gd name="adj" fmla="val 10000"/>
            </a:avLst>
          </a:prstGeom>
          <a:solidFill>
            <a:srgbClr val="FFFFFF"/>
          </a:solidFill>
          <a:ln w="12700">
            <a:solidFill>
              <a:srgbClr val="D6DEEC"/>
            </a:solidFill>
            <a:prstDash val="solid"/>
          </a:ln>
          <a:effectLst>
            <a:outerShdw sx="100000" sy="100000" kx="0" ky="0" algn="bl" rotWithShape="0" blurRad="88900" dist="38100" dir="5400000">
              <a:srgbClr val="8A94AD">
                <a:alpha val="26000"/>
              </a:srgbClr>
            </a:outerShdw>
          </a:effectLst>
        </p:spPr>
      </p:sp>
      <p:pic>
        <p:nvPicPr>
          <p:cNvPr id="23" name="Image 1" descr="logos/logo_mdn.png">    </p:cNvPr>
          <p:cNvPicPr>
            <a:picLocks noChangeAspect="1"/>
          </p:cNvPicPr>
          <p:nvPr/>
        </p:nvPicPr>
        <p:blipFill>
          <a:blip r:embed="rId2"/>
          <a:stretch>
            <a:fillRect/>
          </a:stretch>
        </p:blipFill>
        <p:spPr>
          <a:xfrm>
            <a:off x="11237976" y="5952744"/>
            <a:ext cx="713232" cy="71323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2B5CB"/>
          </a:solidFill>
          <a:ln/>
        </p:spPr>
      </p:sp>
      <p:sp>
        <p:nvSpPr>
          <p:cNvPr id="3" name="Shape 1"/>
          <p:cNvSpPr/>
          <p:nvPr/>
        </p:nvSpPr>
        <p:spPr>
          <a:xfrm>
            <a:off x="146304" y="0"/>
            <a:ext cx="12042648" cy="1078992"/>
          </a:xfrm>
          <a:prstGeom prst="rect">
            <a:avLst/>
          </a:prstGeom>
          <a:solidFill>
            <a:srgbClr val="1B2A4A"/>
          </a:solidFill>
          <a:ln/>
        </p:spPr>
      </p:sp>
      <p:sp>
        <p:nvSpPr>
          <p:cNvPr id="4" name="Text 2"/>
          <p:cNvSpPr/>
          <p:nvPr/>
        </p:nvSpPr>
        <p:spPr>
          <a:xfrm>
            <a:off x="548640" y="182880"/>
            <a:ext cx="9601200" cy="292608"/>
          </a:xfrm>
          <a:prstGeom prst="rect">
            <a:avLst/>
          </a:prstGeom>
          <a:noFill/>
          <a:ln/>
        </p:spPr>
        <p:txBody>
          <a:bodyPr wrap="square" lIns="0" tIns="0" rIns="0" bIns="0" rtlCol="0" anchor="ctr"/>
          <a:lstStyle/>
          <a:p>
            <a:pPr indent="0" marL="0">
              <a:buNone/>
            </a:pPr>
            <a:r>
              <a:rPr lang="en-US" sz="1200" b="1" spc="150" kern="0" dirty="0">
                <a:solidFill>
                  <a:srgbClr val="78D9E6"/>
                </a:solidFill>
                <a:latin typeface="Calibri" pitchFamily="34" charset="0"/>
                <a:ea typeface="Calibri" pitchFamily="34" charset="-122"/>
                <a:cs typeface="Calibri" pitchFamily="34" charset="-120"/>
              </a:rPr>
              <a:t>INFRASTRUCTURE · LES GPU SOUS-JACENTS</a:t>
            </a:r>
            <a:endParaRPr lang="en-US" sz="1200" dirty="0"/>
          </a:p>
        </p:txBody>
      </p:sp>
      <p:sp>
        <p:nvSpPr>
          <p:cNvPr id="5" name="Text 3"/>
          <p:cNvSpPr/>
          <p:nvPr/>
        </p:nvSpPr>
        <p:spPr>
          <a:xfrm>
            <a:off x="530352" y="438912"/>
            <a:ext cx="9692640" cy="566928"/>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Compute Engine — concepts</a:t>
            </a:r>
            <a:endParaRPr lang="en-US" sz="2700" dirty="0"/>
          </a:p>
        </p:txBody>
      </p:sp>
      <p:sp>
        <p:nvSpPr>
          <p:cNvPr id="6" name="Text 4"/>
          <p:cNvSpPr/>
          <p:nvPr/>
        </p:nvSpPr>
        <p:spPr>
          <a:xfrm>
            <a:off x="8229600" y="182880"/>
            <a:ext cx="1828800" cy="274320"/>
          </a:xfrm>
          <a:prstGeom prst="rect">
            <a:avLst/>
          </a:prstGeom>
          <a:noFill/>
          <a:ln/>
        </p:spPr>
        <p:txBody>
          <a:bodyPr wrap="square" lIns="0" tIns="0" rIns="0" bIns="0" rtlCol="0" anchor="ctr"/>
          <a:lstStyle/>
          <a:p>
            <a:pPr algn="r" indent="0" marL="0">
              <a:buNone/>
            </a:pPr>
            <a:r>
              <a:rPr lang="en-US" sz="1050" b="1" spc="100" kern="0" dirty="0">
                <a:solidFill>
                  <a:srgbClr val="8FA0C4"/>
                </a:solidFill>
                <a:latin typeface="Calibri" pitchFamily="34" charset="0"/>
                <a:ea typeface="Calibri" pitchFamily="34" charset="-122"/>
                <a:cs typeface="Calibri" pitchFamily="34" charset="-120"/>
              </a:rPr>
              <a:t>PARTIE 2</a:t>
            </a:r>
            <a:endParaRPr lang="en-US" sz="1050" dirty="0"/>
          </a:p>
        </p:txBody>
      </p:sp>
      <p:sp>
        <p:nvSpPr>
          <p:cNvPr id="7" name="Shape 5"/>
          <p:cNvSpPr/>
          <p:nvPr/>
        </p:nvSpPr>
        <p:spPr>
          <a:xfrm>
            <a:off x="10927080" y="237744"/>
            <a:ext cx="603504" cy="603504"/>
          </a:xfrm>
          <a:prstGeom prst="roundRect">
            <a:avLst>
              <a:gd name="adj" fmla="val 12121"/>
            </a:avLst>
          </a:prstGeom>
          <a:solidFill>
            <a:srgbClr val="FFFFFF"/>
          </a:solidFill>
          <a:ln/>
        </p:spPr>
      </p:sp>
      <p:pic>
        <p:nvPicPr>
          <p:cNvPr id="8" name="Image 0" descr="logos/11_compute_engine.png">    </p:cNvPr>
          <p:cNvPicPr>
            <a:picLocks noChangeAspect="1"/>
          </p:cNvPicPr>
          <p:nvPr/>
        </p:nvPicPr>
        <p:blipFill>
          <a:blip r:embed="rId1"/>
          <a:stretch>
            <a:fillRect/>
          </a:stretch>
        </p:blipFill>
        <p:spPr>
          <a:xfrm>
            <a:off x="10991088" y="301752"/>
            <a:ext cx="475488" cy="475488"/>
          </a:xfrm>
          <a:prstGeom prst="rect">
            <a:avLst/>
          </a:prstGeom>
        </p:spPr>
      </p:pic>
      <p:sp>
        <p:nvSpPr>
          <p:cNvPr id="9" name="Text 6"/>
          <p:cNvSpPr/>
          <p:nvPr/>
        </p:nvSpPr>
        <p:spPr>
          <a:xfrm>
            <a:off x="548640" y="1325880"/>
            <a:ext cx="11064240" cy="777240"/>
          </a:xfrm>
          <a:prstGeom prst="rect">
            <a:avLst/>
          </a:prstGeom>
          <a:noFill/>
          <a:ln/>
        </p:spPr>
        <p:txBody>
          <a:bodyPr wrap="square" lIns="0" tIns="0" rIns="0" bIns="0" rtlCol="0" anchor="t"/>
          <a:lstStyle/>
          <a:p>
            <a:pPr indent="0" marL="0">
              <a:buNone/>
            </a:pPr>
            <a:r>
              <a:rPr lang="en-US" sz="1350" dirty="0">
                <a:solidFill>
                  <a:srgbClr val="202124"/>
                </a:solidFill>
                <a:latin typeface="Calibri" pitchFamily="34" charset="0"/>
                <a:ea typeface="Calibri" pitchFamily="34" charset="-122"/>
                <a:cs typeface="Calibri" pitchFamily="34" charset="-120"/>
              </a:rPr>
              <a:t>IaaS de Google Cloud : machines virtuelles configurables. C'est le socle des accélérateurs GPU utilisés par Vertex AI (training) et Cloud Run (inférence). On n'y déploie pas de VM manuellement ici, mais on en consomme les GPU et on demande le quota.</a:t>
            </a:r>
            <a:endParaRPr lang="en-US" sz="1350" dirty="0"/>
          </a:p>
        </p:txBody>
      </p:sp>
      <p:sp>
        <p:nvSpPr>
          <p:cNvPr id="10" name="Text 7"/>
          <p:cNvSpPr/>
          <p:nvPr/>
        </p:nvSpPr>
        <p:spPr>
          <a:xfrm>
            <a:off x="548640" y="2377440"/>
            <a:ext cx="5486400" cy="274320"/>
          </a:xfrm>
          <a:prstGeom prst="rect">
            <a:avLst/>
          </a:prstGeom>
          <a:noFill/>
          <a:ln/>
        </p:spPr>
        <p:txBody>
          <a:bodyPr wrap="square" lIns="0" tIns="0" rIns="0" bIns="0" rtlCol="0" anchor="ctr"/>
          <a:lstStyle/>
          <a:p>
            <a:pPr indent="0" marL="0">
              <a:buNone/>
            </a:pPr>
            <a:r>
              <a:rPr lang="en-US" sz="1300" b="1" spc="100" kern="0" dirty="0">
                <a:solidFill>
                  <a:srgbClr val="0E7C8B"/>
                </a:solidFill>
                <a:latin typeface="Calibri" pitchFamily="34" charset="0"/>
                <a:ea typeface="Calibri" pitchFamily="34" charset="-122"/>
                <a:cs typeface="Calibri" pitchFamily="34" charset="-120"/>
              </a:rPr>
              <a:t>CONCEPTS CLÉS</a:t>
            </a:r>
            <a:endParaRPr lang="en-US" sz="1300" dirty="0"/>
          </a:p>
        </p:txBody>
      </p:sp>
      <p:sp>
        <p:nvSpPr>
          <p:cNvPr id="11" name="Text 8"/>
          <p:cNvSpPr/>
          <p:nvPr/>
        </p:nvSpPr>
        <p:spPr>
          <a:xfrm>
            <a:off x="548640" y="2697480"/>
            <a:ext cx="5486400" cy="2194560"/>
          </a:xfrm>
          <a:prstGeom prst="rect">
            <a:avLst/>
          </a:prstGeom>
          <a:noFill/>
          <a:ln/>
        </p:spPr>
        <p:txBody>
          <a:bodyPr wrap="square" lIns="0" tIns="0" rIns="0" bIns="0" rtlCol="0" anchor="t"/>
          <a:lstStyle/>
          <a:p>
            <a:pPr marL="190500" indent="-190500">
              <a:spcAft>
                <a:spcPts val="600"/>
              </a:spcAft>
              <a:buSzPct val="100000"/>
              <a:buChar char="•"/>
            </a:pPr>
            <a:r>
              <a:rPr lang="en-US" sz="1250" dirty="0">
                <a:solidFill>
                  <a:srgbClr val="202124"/>
                </a:solidFill>
                <a:latin typeface="Calibri" pitchFamily="34" charset="0"/>
                <a:ea typeface="Calibri" pitchFamily="34" charset="-122"/>
                <a:cs typeface="Calibri" pitchFamily="34" charset="-120"/>
              </a:rPr>
              <a:t>Familles de machines (n1, n2, accelerator-optimized…)</a:t>
            </a:r>
            <a:endParaRPr lang="en-US" sz="1250" dirty="0"/>
          </a:p>
          <a:p>
            <a:pPr marL="190500" indent="-190500">
              <a:spcAft>
                <a:spcPts val="600"/>
              </a:spcAft>
              <a:buSzPct val="100000"/>
              <a:buChar char="•"/>
            </a:pPr>
            <a:r>
              <a:rPr lang="en-US" sz="1250" dirty="0">
                <a:solidFill>
                  <a:srgbClr val="202124"/>
                </a:solidFill>
                <a:latin typeface="Calibri" pitchFamily="34" charset="0"/>
                <a:ea typeface="Calibri" pitchFamily="34" charset="-122"/>
                <a:cs typeface="Calibri" pitchFamily="34" charset="-120"/>
              </a:rPr>
              <a:t>Accélérateurs GPU : NVIDIA T4 (training), L4 (inférence)</a:t>
            </a:r>
            <a:endParaRPr lang="en-US" sz="1250" dirty="0"/>
          </a:p>
          <a:p>
            <a:pPr marL="190500" indent="-190500">
              <a:spcAft>
                <a:spcPts val="600"/>
              </a:spcAft>
              <a:buSzPct val="100000"/>
              <a:buChar char="•"/>
            </a:pPr>
            <a:r>
              <a:rPr lang="en-US" sz="1250" dirty="0">
                <a:solidFill>
                  <a:srgbClr val="202124"/>
                </a:solidFill>
                <a:latin typeface="Calibri" pitchFamily="34" charset="0"/>
                <a:ea typeface="Calibri" pitchFamily="34" charset="-122"/>
                <a:cs typeface="Calibri" pitchFamily="34" charset="-120"/>
              </a:rPr>
              <a:t>Persistent Disk / Local SSD · images Linux/Windows</a:t>
            </a:r>
            <a:endParaRPr lang="en-US" sz="1250" dirty="0"/>
          </a:p>
          <a:p>
            <a:pPr marL="190500" indent="-190500">
              <a:spcAft>
                <a:spcPts val="600"/>
              </a:spcAft>
              <a:buSzPct val="100000"/>
              <a:buChar char="•"/>
            </a:pPr>
            <a:r>
              <a:rPr lang="en-US" sz="1250" dirty="0">
                <a:solidFill>
                  <a:srgbClr val="202124"/>
                </a:solidFill>
                <a:latin typeface="Calibri" pitchFamily="34" charset="0"/>
                <a:ea typeface="Calibri" pitchFamily="34" charset="-122"/>
                <a:cs typeface="Calibri" pitchFamily="34" charset="-120"/>
              </a:rPr>
              <a:t>Spot VMs : −60 % à −91 % vs on-demand</a:t>
            </a:r>
            <a:endParaRPr lang="en-US" sz="1250" dirty="0"/>
          </a:p>
          <a:p>
            <a:pPr marL="190500" indent="-190500">
              <a:spcAft>
                <a:spcPts val="600"/>
              </a:spcAft>
              <a:buSzPct val="100000"/>
              <a:buChar char="•"/>
            </a:pPr>
            <a:r>
              <a:rPr lang="en-US" sz="1250" dirty="0">
                <a:solidFill>
                  <a:srgbClr val="202124"/>
                </a:solidFill>
                <a:latin typeface="Calibri" pitchFamily="34" charset="0"/>
                <a:ea typeface="Calibri" pitchFamily="34" charset="-122"/>
                <a:cs typeface="Calibri" pitchFamily="34" charset="-120"/>
              </a:rPr>
              <a:t>Régions &amp; zones (us-central1 / us-central1-a)</a:t>
            </a:r>
            <a:endParaRPr lang="en-US" sz="1250" dirty="0"/>
          </a:p>
        </p:txBody>
      </p:sp>
      <p:sp>
        <p:nvSpPr>
          <p:cNvPr id="12" name="Text 9"/>
          <p:cNvSpPr/>
          <p:nvPr/>
        </p:nvSpPr>
        <p:spPr>
          <a:xfrm>
            <a:off x="6309360" y="2377440"/>
            <a:ext cx="5486400" cy="274320"/>
          </a:xfrm>
          <a:prstGeom prst="rect">
            <a:avLst/>
          </a:prstGeom>
          <a:noFill/>
          <a:ln/>
        </p:spPr>
        <p:txBody>
          <a:bodyPr wrap="square" lIns="0" tIns="0" rIns="0" bIns="0" rtlCol="0" anchor="ctr"/>
          <a:lstStyle/>
          <a:p>
            <a:pPr indent="0" marL="0">
              <a:buNone/>
            </a:pPr>
            <a:r>
              <a:rPr lang="en-US" sz="1300" b="1" spc="100" kern="0" dirty="0">
                <a:solidFill>
                  <a:srgbClr val="0E7C8B"/>
                </a:solidFill>
                <a:latin typeface="Calibri" pitchFamily="34" charset="0"/>
                <a:ea typeface="Calibri" pitchFamily="34" charset="-122"/>
                <a:cs typeface="Calibri" pitchFamily="34" charset="-120"/>
              </a:rPr>
              <a:t>LES GPU DU PROJET</a:t>
            </a:r>
            <a:endParaRPr lang="en-US" sz="13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309360" y="2697480"/>
          <a:ext cx="5349240" cy="914400"/>
        </p:xfrm>
        <a:graphic>
          <a:graphicData uri="http://schemas.openxmlformats.org/drawingml/2006/table">
            <a:tbl>
              <a:tblPr/>
              <a:tblGrid>
                <a:gridCol w="1828800"/>
                <a:gridCol w="3520440"/>
              </a:tblGrid>
              <a:tr h="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Usage</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0E7C8B"/>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Machine + GPU</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0E7C8B"/>
                    </a:solidFill>
                  </a:tcPr>
                </a:tc>
              </a:tr>
              <a:tr h="0">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Training (Vertex)</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n1-standard-8 + NVIDIA_TESLA_T4</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r>
              <a:tr h="0">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Inférence (Run)</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g2-standard-8 + NVIDIA L4 24 GB</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Coût L4 Spot</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~0,28 $/h</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r>
            </a:tbl>
          </a:graphicData>
        </a:graphic>
      </p:graphicFrame>
      <p:sp>
        <p:nvSpPr>
          <p:cNvPr id="14" name="Shape 10"/>
          <p:cNvSpPr/>
          <p:nvPr/>
        </p:nvSpPr>
        <p:spPr>
          <a:xfrm>
            <a:off x="548640" y="5074920"/>
            <a:ext cx="11064240" cy="1005840"/>
          </a:xfrm>
          <a:prstGeom prst="rect">
            <a:avLst/>
          </a:prstGeom>
          <a:solidFill>
            <a:srgbClr val="EEF2FB"/>
          </a:solidFill>
          <a:ln/>
        </p:spPr>
      </p:sp>
      <p:sp>
        <p:nvSpPr>
          <p:cNvPr id="15" name="Shape 11"/>
          <p:cNvSpPr/>
          <p:nvPr/>
        </p:nvSpPr>
        <p:spPr>
          <a:xfrm>
            <a:off x="548640" y="5074920"/>
            <a:ext cx="91440" cy="1005840"/>
          </a:xfrm>
          <a:prstGeom prst="rect">
            <a:avLst/>
          </a:prstGeom>
          <a:solidFill>
            <a:srgbClr val="12B5CB"/>
          </a:solidFill>
          <a:ln/>
        </p:spPr>
      </p:sp>
      <p:sp>
        <p:nvSpPr>
          <p:cNvPr id="16" name="Text 12"/>
          <p:cNvSpPr/>
          <p:nvPr/>
        </p:nvSpPr>
        <p:spPr>
          <a:xfrm>
            <a:off x="786384" y="5148072"/>
            <a:ext cx="10680192" cy="859536"/>
          </a:xfrm>
          <a:prstGeom prst="rect">
            <a:avLst/>
          </a:prstGeom>
          <a:noFill/>
          <a:ln/>
        </p:spPr>
        <p:txBody>
          <a:bodyPr wrap="square" lIns="0" tIns="0" rIns="0" bIns="0" rtlCol="0" anchor="ctr"/>
          <a:lstStyle/>
          <a:p>
            <a:pPr indent="0" marL="0">
              <a:buNone/>
            </a:pPr>
            <a:r>
              <a:rPr lang="en-US" sz="1100" b="1" dirty="0">
                <a:solidFill>
                  <a:srgbClr val="0E7C8B"/>
                </a:solidFill>
                <a:latin typeface="Calibri" pitchFamily="34" charset="0"/>
                <a:ea typeface="Calibri" pitchFamily="34" charset="-122"/>
                <a:cs typeface="Calibri" pitchFamily="34" charset="-120"/>
              </a:rPr>
              <a:t>QUOTA GPU   </a:t>
            </a:r>
            <a:pPr indent="0" marL="0">
              <a:buNone/>
            </a:pPr>
            <a:r>
              <a:rPr lang="en-US" sz="1200" dirty="0">
                <a:solidFill>
                  <a:srgbClr val="202124"/>
                </a:solidFill>
                <a:latin typeface="Calibri" pitchFamily="34" charset="0"/>
                <a:ea typeface="Calibri" pitchFamily="34" charset="-122"/>
                <a:cs typeface="Calibri" pitchFamily="34" charset="-120"/>
              </a:rPr>
              <a:t>Cloud Run GPU L4 est GA depuis juin 2025. Le quota GPU doit être approuvé pour votre projet/région avant déploiement : Console → IAM &amp; Admin → Quotas → filtrer « L4 ».</a:t>
            </a:r>
            <a:endParaRPr lang="en-US" sz="1100" dirty="0"/>
          </a:p>
        </p:txBody>
      </p:sp>
      <p:sp>
        <p:nvSpPr>
          <p:cNvPr id="17" name="Text 13"/>
          <p:cNvSpPr/>
          <p:nvPr/>
        </p:nvSpPr>
        <p:spPr>
          <a:xfrm>
            <a:off x="548640" y="6510528"/>
            <a:ext cx="11155680" cy="274320"/>
          </a:xfrm>
          <a:prstGeom prst="rect">
            <a:avLst/>
          </a:prstGeom>
          <a:noFill/>
          <a:ln/>
        </p:spPr>
        <p:txBody>
          <a:bodyPr wrap="square" lIns="0" tIns="0" rIns="0" bIns="0" rtlCol="0" anchor="ctr"/>
          <a:lstStyle/>
          <a:p>
            <a:pPr indent="0" marL="0">
              <a:buNone/>
            </a:pPr>
            <a:r>
              <a:rPr lang="en-US" sz="950" i="1" dirty="0">
                <a:solidFill>
                  <a:srgbClr val="5F6368"/>
                </a:solidFill>
                <a:latin typeface="Calibri" pitchFamily="34" charset="0"/>
                <a:ea typeface="Calibri" pitchFamily="34" charset="-122"/>
                <a:cs typeface="Calibri" pitchFamily="34" charset="-120"/>
              </a:rPr>
              <a:t>Source : README §5.2, §18.3, §23 — doc : cloud.google.com/compute/docs</a:t>
            </a:r>
            <a:endParaRPr lang="en-US" sz="950" dirty="0"/>
          </a:p>
        </p:txBody>
      </p:sp>
      <p:sp>
        <p:nvSpPr>
          <p:cNvPr id="18" name="Text 14"/>
          <p:cNvSpPr/>
          <p:nvPr/>
        </p:nvSpPr>
        <p:spPr>
          <a:xfrm>
            <a:off x="5212080" y="4620768"/>
            <a:ext cx="3200400" cy="182880"/>
          </a:xfrm>
          <a:prstGeom prst="rect">
            <a:avLst/>
          </a:prstGeom>
          <a:noFill/>
          <a:ln/>
        </p:spPr>
        <p:txBody>
          <a:bodyPr wrap="square" lIns="0" tIns="0" rIns="0" bIns="0" rtlCol="0" anchor="ctr"/>
          <a:lstStyle/>
          <a:p>
            <a:pPr indent="0" marL="0">
              <a:buNone/>
            </a:pPr>
            <a:r>
              <a:rPr lang="en-US" sz="850" b="1" dirty="0">
                <a:solidFill>
                  <a:srgbClr val="97A1B5"/>
                </a:solidFill>
                <a:latin typeface="Calibri" pitchFamily="34" charset="0"/>
                <a:ea typeface="Calibri" pitchFamily="34" charset="-122"/>
                <a:cs typeface="Calibri" pitchFamily="34" charset="-120"/>
              </a:rPr>
              <a:t>Tsantaniaina Rakotonjanahary Ambaorasoa Guillaume</a:t>
            </a:r>
            <a:endParaRPr lang="en-US" sz="850" dirty="0"/>
          </a:p>
        </p:txBody>
      </p:sp>
      <p:sp>
        <p:nvSpPr>
          <p:cNvPr id="19" name="Shape 15"/>
          <p:cNvSpPr/>
          <p:nvPr/>
        </p:nvSpPr>
        <p:spPr>
          <a:xfrm>
            <a:off x="11137392" y="5852160"/>
            <a:ext cx="914400" cy="914400"/>
          </a:xfrm>
          <a:prstGeom prst="roundRect">
            <a:avLst>
              <a:gd name="adj" fmla="val 10000"/>
            </a:avLst>
          </a:prstGeom>
          <a:solidFill>
            <a:srgbClr val="FFFFFF"/>
          </a:solidFill>
          <a:ln w="12700">
            <a:solidFill>
              <a:srgbClr val="D6DEEC"/>
            </a:solidFill>
            <a:prstDash val="solid"/>
          </a:ln>
          <a:effectLst>
            <a:outerShdw sx="100000" sy="100000" kx="0" ky="0" algn="bl" rotWithShape="0" blurRad="88900" dist="38100" dir="5400000">
              <a:srgbClr val="8A94AD">
                <a:alpha val="26000"/>
              </a:srgbClr>
            </a:outerShdw>
          </a:effectLst>
        </p:spPr>
      </p:sp>
      <p:pic>
        <p:nvPicPr>
          <p:cNvPr id="20" name="Image 1" descr="logos/logo_mdn.png">    </p:cNvPr>
          <p:cNvPicPr>
            <a:picLocks noChangeAspect="1"/>
          </p:cNvPicPr>
          <p:nvPr/>
        </p:nvPicPr>
        <p:blipFill>
          <a:blip r:embed="rId2"/>
          <a:stretch>
            <a:fillRect/>
          </a:stretch>
        </p:blipFill>
        <p:spPr>
          <a:xfrm>
            <a:off x="11237976" y="5952744"/>
            <a:ext cx="713232" cy="71323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F9AB00"/>
          </a:solidFill>
          <a:ln/>
        </p:spPr>
      </p:sp>
      <p:sp>
        <p:nvSpPr>
          <p:cNvPr id="3" name="Shape 1"/>
          <p:cNvSpPr/>
          <p:nvPr/>
        </p:nvSpPr>
        <p:spPr>
          <a:xfrm>
            <a:off x="146304" y="0"/>
            <a:ext cx="12042648" cy="1078992"/>
          </a:xfrm>
          <a:prstGeom prst="rect">
            <a:avLst/>
          </a:prstGeom>
          <a:solidFill>
            <a:srgbClr val="1B2A4A"/>
          </a:solidFill>
          <a:ln/>
        </p:spPr>
      </p:sp>
      <p:sp>
        <p:nvSpPr>
          <p:cNvPr id="4" name="Text 2"/>
          <p:cNvSpPr/>
          <p:nvPr/>
        </p:nvSpPr>
        <p:spPr>
          <a:xfrm>
            <a:off x="548640" y="182880"/>
            <a:ext cx="9601200" cy="292608"/>
          </a:xfrm>
          <a:prstGeom prst="rect">
            <a:avLst/>
          </a:prstGeom>
          <a:noFill/>
          <a:ln/>
        </p:spPr>
        <p:txBody>
          <a:bodyPr wrap="square" lIns="0" tIns="0" rIns="0" bIns="0" rtlCol="0" anchor="ctr"/>
          <a:lstStyle/>
          <a:p>
            <a:pPr indent="0" marL="0">
              <a:buNone/>
            </a:pPr>
            <a:r>
              <a:rPr lang="en-US" sz="1200" b="1" spc="150" kern="0" dirty="0">
                <a:solidFill>
                  <a:srgbClr val="FDD663"/>
                </a:solidFill>
                <a:latin typeface="Calibri" pitchFamily="34" charset="0"/>
                <a:ea typeface="Calibri" pitchFamily="34" charset="-122"/>
                <a:cs typeface="Calibri" pitchFamily="34" charset="-120"/>
              </a:rPr>
              <a:t>CI/CD : BUILD → PUSH → DEPLOY</a:t>
            </a:r>
            <a:endParaRPr lang="en-US" sz="1200" dirty="0"/>
          </a:p>
        </p:txBody>
      </p:sp>
      <p:sp>
        <p:nvSpPr>
          <p:cNvPr id="5" name="Text 3"/>
          <p:cNvSpPr/>
          <p:nvPr/>
        </p:nvSpPr>
        <p:spPr>
          <a:xfrm>
            <a:off x="530352" y="438912"/>
            <a:ext cx="9692640" cy="566928"/>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Cloud Build — concepts</a:t>
            </a:r>
            <a:endParaRPr lang="en-US" sz="2700" dirty="0"/>
          </a:p>
        </p:txBody>
      </p:sp>
      <p:sp>
        <p:nvSpPr>
          <p:cNvPr id="6" name="Text 4"/>
          <p:cNvSpPr/>
          <p:nvPr/>
        </p:nvSpPr>
        <p:spPr>
          <a:xfrm>
            <a:off x="8229600" y="182880"/>
            <a:ext cx="1828800" cy="274320"/>
          </a:xfrm>
          <a:prstGeom prst="rect">
            <a:avLst/>
          </a:prstGeom>
          <a:noFill/>
          <a:ln/>
        </p:spPr>
        <p:txBody>
          <a:bodyPr wrap="square" lIns="0" tIns="0" rIns="0" bIns="0" rtlCol="0" anchor="ctr"/>
          <a:lstStyle/>
          <a:p>
            <a:pPr algn="r" indent="0" marL="0">
              <a:buNone/>
            </a:pPr>
            <a:r>
              <a:rPr lang="en-US" sz="1050" b="1" spc="100" kern="0" dirty="0">
                <a:solidFill>
                  <a:srgbClr val="8FA0C4"/>
                </a:solidFill>
                <a:latin typeface="Calibri" pitchFamily="34" charset="0"/>
                <a:ea typeface="Calibri" pitchFamily="34" charset="-122"/>
                <a:cs typeface="Calibri" pitchFamily="34" charset="-120"/>
              </a:rPr>
              <a:t>PARTIE 2</a:t>
            </a:r>
            <a:endParaRPr lang="en-US" sz="1050" dirty="0"/>
          </a:p>
        </p:txBody>
      </p:sp>
      <p:sp>
        <p:nvSpPr>
          <p:cNvPr id="7" name="Shape 5"/>
          <p:cNvSpPr/>
          <p:nvPr/>
        </p:nvSpPr>
        <p:spPr>
          <a:xfrm>
            <a:off x="10927080" y="237744"/>
            <a:ext cx="603504" cy="603504"/>
          </a:xfrm>
          <a:prstGeom prst="roundRect">
            <a:avLst>
              <a:gd name="adj" fmla="val 12121"/>
            </a:avLst>
          </a:prstGeom>
          <a:solidFill>
            <a:srgbClr val="FFFFFF"/>
          </a:solidFill>
          <a:ln/>
        </p:spPr>
      </p:sp>
      <p:pic>
        <p:nvPicPr>
          <p:cNvPr id="8" name="Image 0" descr="logos/05_cloud_build.png">    </p:cNvPr>
          <p:cNvPicPr>
            <a:picLocks noChangeAspect="1"/>
          </p:cNvPicPr>
          <p:nvPr/>
        </p:nvPicPr>
        <p:blipFill>
          <a:blip r:embed="rId1"/>
          <a:stretch>
            <a:fillRect/>
          </a:stretch>
        </p:blipFill>
        <p:spPr>
          <a:xfrm>
            <a:off x="10991088" y="301752"/>
            <a:ext cx="475488" cy="475488"/>
          </a:xfrm>
          <a:prstGeom prst="rect">
            <a:avLst/>
          </a:prstGeom>
        </p:spPr>
      </p:pic>
      <p:sp>
        <p:nvSpPr>
          <p:cNvPr id="9" name="Text 6"/>
          <p:cNvSpPr/>
          <p:nvPr/>
        </p:nvSpPr>
        <p:spPr>
          <a:xfrm>
            <a:off x="548640" y="1325880"/>
            <a:ext cx="11064240" cy="777240"/>
          </a:xfrm>
          <a:prstGeom prst="rect">
            <a:avLst/>
          </a:prstGeom>
          <a:noFill/>
          <a:ln/>
        </p:spPr>
        <p:txBody>
          <a:bodyPr wrap="square" lIns="0" tIns="0" rIns="0" bIns="0" rtlCol="0" anchor="t"/>
          <a:lstStyle/>
          <a:p>
            <a:pPr indent="0" marL="0">
              <a:buNone/>
            </a:pPr>
            <a:r>
              <a:rPr lang="en-US" sz="1350" dirty="0">
                <a:solidFill>
                  <a:srgbClr val="202124"/>
                </a:solidFill>
                <a:latin typeface="Calibri" pitchFamily="34" charset="0"/>
                <a:ea typeface="Calibri" pitchFamily="34" charset="-122"/>
                <a:cs typeface="Calibri" pitchFamily="34" charset="-120"/>
              </a:rPr>
              <a:t>Service qui exécute vos builds sur Google Cloud. Pour MGVaovao : il construit l'image d'inférence (les 4 modèles sont intégrés à l'image, ~8 Go), la pousse dans Artifact Registry, puis déploie sur Cloud Run GPU — sans interruption (Blue/Green).</a:t>
            </a:r>
            <a:endParaRPr lang="en-US" sz="1350" dirty="0"/>
          </a:p>
        </p:txBody>
      </p:sp>
      <p:sp>
        <p:nvSpPr>
          <p:cNvPr id="10" name="Text 7"/>
          <p:cNvSpPr/>
          <p:nvPr/>
        </p:nvSpPr>
        <p:spPr>
          <a:xfrm>
            <a:off x="548640" y="2331720"/>
            <a:ext cx="5486400" cy="274320"/>
          </a:xfrm>
          <a:prstGeom prst="rect">
            <a:avLst/>
          </a:prstGeom>
          <a:noFill/>
          <a:ln/>
        </p:spPr>
        <p:txBody>
          <a:bodyPr wrap="square" lIns="0" tIns="0" rIns="0" bIns="0" rtlCol="0" anchor="ctr"/>
          <a:lstStyle/>
          <a:p>
            <a:pPr indent="0" marL="0">
              <a:buNone/>
            </a:pPr>
            <a:r>
              <a:rPr lang="en-US" sz="1300" b="1" spc="100" kern="0" dirty="0">
                <a:solidFill>
                  <a:srgbClr val="B06000"/>
                </a:solidFill>
                <a:latin typeface="Calibri" pitchFamily="34" charset="0"/>
                <a:ea typeface="Calibri" pitchFamily="34" charset="-122"/>
                <a:cs typeface="Calibri" pitchFamily="34" charset="-120"/>
              </a:rPr>
              <a:t>CONCEPTS CLÉS</a:t>
            </a:r>
            <a:endParaRPr lang="en-US" sz="1300" dirty="0"/>
          </a:p>
        </p:txBody>
      </p:sp>
      <p:sp>
        <p:nvSpPr>
          <p:cNvPr id="11" name="Text 8"/>
          <p:cNvSpPr/>
          <p:nvPr/>
        </p:nvSpPr>
        <p:spPr>
          <a:xfrm>
            <a:off x="548640" y="2651760"/>
            <a:ext cx="5486400" cy="2103120"/>
          </a:xfrm>
          <a:prstGeom prst="rect">
            <a:avLst/>
          </a:prstGeom>
          <a:noFill/>
          <a:ln/>
        </p:spPr>
        <p:txBody>
          <a:bodyPr wrap="square" lIns="0" tIns="0" rIns="0" bIns="0" rtlCol="0" anchor="t"/>
          <a:lstStyle/>
          <a:p>
            <a:pPr marL="190500" indent="-190500">
              <a:spcAft>
                <a:spcPts val="600"/>
              </a:spcAft>
              <a:buSzPct val="100000"/>
              <a:buChar char="•"/>
            </a:pPr>
            <a:r>
              <a:rPr lang="en-US" sz="1300" dirty="0">
                <a:solidFill>
                  <a:srgbClr val="202124"/>
                </a:solidFill>
                <a:latin typeface="Calibri" pitchFamily="34" charset="0"/>
                <a:ea typeface="Calibri" pitchFamily="34" charset="-122"/>
                <a:cs typeface="Calibri" pitchFamily="34" charset="-120"/>
              </a:rPr>
              <a:t>Config déclarative cloudbuild-inference.yaml (étapes)</a:t>
            </a:r>
            <a:endParaRPr lang="en-US" sz="1300" dirty="0"/>
          </a:p>
          <a:p>
            <a:pPr marL="190500" indent="-190500">
              <a:spcAft>
                <a:spcPts val="600"/>
              </a:spcAft>
              <a:buSzPct val="100000"/>
              <a:buChar char="•"/>
            </a:pPr>
            <a:r>
              <a:rPr lang="en-US" sz="1300" dirty="0">
                <a:solidFill>
                  <a:srgbClr val="202124"/>
                </a:solidFill>
                <a:latin typeface="Calibri" pitchFamily="34" charset="0"/>
                <a:ea typeface="Calibri" pitchFamily="34" charset="-122"/>
                <a:cs typeface="Calibri" pitchFamily="34" charset="-120"/>
              </a:rPr>
              <a:t>Chaque étape = un conteneur (builder)</a:t>
            </a:r>
            <a:endParaRPr lang="en-US" sz="1300" dirty="0"/>
          </a:p>
          <a:p>
            <a:pPr marL="190500" indent="-190500">
              <a:spcAft>
                <a:spcPts val="600"/>
              </a:spcAft>
              <a:buSzPct val="100000"/>
              <a:buChar char="•"/>
            </a:pPr>
            <a:r>
              <a:rPr lang="en-US" sz="1300" dirty="0">
                <a:solidFill>
                  <a:srgbClr val="202124"/>
                </a:solidFill>
                <a:latin typeface="Calibri" pitchFamily="34" charset="0"/>
                <a:ea typeface="Calibri" pitchFamily="34" charset="-122"/>
                <a:cs typeface="Calibri" pitchFamily="34" charset="-120"/>
              </a:rPr>
              <a:t>Substitutions de variables ($SHORT_SHA, $PROJECT_ID)</a:t>
            </a:r>
            <a:endParaRPr lang="en-US" sz="1300" dirty="0"/>
          </a:p>
          <a:p>
            <a:pPr marL="190500" indent="-190500">
              <a:spcAft>
                <a:spcPts val="600"/>
              </a:spcAft>
              <a:buSzPct val="100000"/>
              <a:buChar char="•"/>
            </a:pPr>
            <a:r>
              <a:rPr lang="en-US" sz="1300" dirty="0">
                <a:solidFill>
                  <a:srgbClr val="202124"/>
                </a:solidFill>
                <a:latin typeface="Calibri" pitchFamily="34" charset="0"/>
                <a:ea typeface="Calibri" pitchFamily="34" charset="-122"/>
                <a:cs typeface="Calibri" pitchFamily="34" charset="-120"/>
              </a:rPr>
              <a:t>Déclencheurs (push GitHub) + cache de couches Docker</a:t>
            </a:r>
            <a:endParaRPr lang="en-US" sz="1300" dirty="0"/>
          </a:p>
        </p:txBody>
      </p:sp>
      <p:sp>
        <p:nvSpPr>
          <p:cNvPr id="12" name="Text 9"/>
          <p:cNvSpPr/>
          <p:nvPr/>
        </p:nvSpPr>
        <p:spPr>
          <a:xfrm>
            <a:off x="6309360" y="2331720"/>
            <a:ext cx="5486400" cy="274320"/>
          </a:xfrm>
          <a:prstGeom prst="rect">
            <a:avLst/>
          </a:prstGeom>
          <a:noFill/>
          <a:ln/>
        </p:spPr>
        <p:txBody>
          <a:bodyPr wrap="square" lIns="0" tIns="0" rIns="0" bIns="0" rtlCol="0" anchor="ctr"/>
          <a:lstStyle/>
          <a:p>
            <a:pPr indent="0" marL="0">
              <a:buNone/>
            </a:pPr>
            <a:r>
              <a:rPr lang="en-US" sz="1300" b="1" spc="100" kern="0" dirty="0">
                <a:solidFill>
                  <a:srgbClr val="B06000"/>
                </a:solidFill>
                <a:latin typeface="Calibri" pitchFamily="34" charset="0"/>
                <a:ea typeface="Calibri" pitchFamily="34" charset="-122"/>
                <a:cs typeface="Calibri" pitchFamily="34" charset="-120"/>
              </a:rPr>
              <a:t>TEMPS DE BUILD</a:t>
            </a:r>
            <a:endParaRPr lang="en-US" sz="13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309360" y="2651760"/>
          <a:ext cx="5349240" cy="914400"/>
        </p:xfrm>
        <a:graphic>
          <a:graphicData uri="http://schemas.openxmlformats.org/drawingml/2006/table">
            <a:tbl>
              <a:tblPr/>
              <a:tblGrid>
                <a:gridCol w="3108960"/>
                <a:gridCol w="2240280"/>
              </a:tblGrid>
              <a:tr h="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Build</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B06000"/>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Durée</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B06000"/>
                    </a:solidFill>
                  </a:tcPr>
                </a:tc>
              </a:tr>
              <a:tr h="0">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1er build (téléch. modèles)</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~45–60 min</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r>
              <a:tr h="0">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Builds suivants (cache)</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~5–10 min</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Taille de l'image</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~8 GB</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r>
            </a:tbl>
          </a:graphicData>
        </a:graphic>
      </p:graphicFrame>
      <p:sp>
        <p:nvSpPr>
          <p:cNvPr id="14" name="Shape 10"/>
          <p:cNvSpPr/>
          <p:nvPr/>
        </p:nvSpPr>
        <p:spPr>
          <a:xfrm>
            <a:off x="548640" y="4983480"/>
            <a:ext cx="11064240" cy="960120"/>
          </a:xfrm>
          <a:prstGeom prst="rect">
            <a:avLst/>
          </a:prstGeom>
          <a:solidFill>
            <a:srgbClr val="EEF2FB"/>
          </a:solidFill>
          <a:ln/>
        </p:spPr>
      </p:sp>
      <p:sp>
        <p:nvSpPr>
          <p:cNvPr id="15" name="Shape 11"/>
          <p:cNvSpPr/>
          <p:nvPr/>
        </p:nvSpPr>
        <p:spPr>
          <a:xfrm>
            <a:off x="548640" y="4983480"/>
            <a:ext cx="91440" cy="960120"/>
          </a:xfrm>
          <a:prstGeom prst="rect">
            <a:avLst/>
          </a:prstGeom>
          <a:solidFill>
            <a:srgbClr val="F9AB00"/>
          </a:solidFill>
          <a:ln/>
        </p:spPr>
      </p:sp>
      <p:sp>
        <p:nvSpPr>
          <p:cNvPr id="16" name="Text 12"/>
          <p:cNvSpPr/>
          <p:nvPr/>
        </p:nvSpPr>
        <p:spPr>
          <a:xfrm>
            <a:off x="786384" y="5056632"/>
            <a:ext cx="10680192" cy="813816"/>
          </a:xfrm>
          <a:prstGeom prst="rect">
            <a:avLst/>
          </a:prstGeom>
          <a:noFill/>
          <a:ln/>
        </p:spPr>
        <p:txBody>
          <a:bodyPr wrap="square" lIns="0" tIns="0" rIns="0" bIns="0" rtlCol="0" anchor="ctr"/>
          <a:lstStyle/>
          <a:p>
            <a:pPr indent="0" marL="0">
              <a:buNone/>
            </a:pPr>
            <a:r>
              <a:rPr lang="en-US" sz="1100" b="1" dirty="0">
                <a:solidFill>
                  <a:srgbClr val="B06000"/>
                </a:solidFill>
                <a:latin typeface="Calibri" pitchFamily="34" charset="0"/>
                <a:ea typeface="Calibri" pitchFamily="34" charset="-122"/>
                <a:cs typeface="Calibri" pitchFamily="34" charset="-120"/>
              </a:rPr>
              <a:t>3 FICHIERS IMPLIQUÉS   </a:t>
            </a:r>
            <a:pPr indent="0" marL="0">
              <a:buNone/>
            </a:pPr>
            <a:r>
              <a:rPr lang="en-US" sz="1200" dirty="0">
                <a:solidFill>
                  <a:srgbClr val="202124"/>
                </a:solidFill>
                <a:latin typeface="Calibri" pitchFamily="34" charset="0"/>
                <a:ea typeface="Calibri" pitchFamily="34" charset="-122"/>
                <a:cs typeface="Calibri" pitchFamily="34" charset="-120"/>
              </a:rPr>
              <a:t>Dockerfile.cloudrun (image multi-stage) · cloudbuild-inference.yaml (pipeline build→push→deploy) · scripts/download_models.py (télécharge les 4 modèles au build).</a:t>
            </a:r>
            <a:endParaRPr lang="en-US" sz="1100" dirty="0"/>
          </a:p>
        </p:txBody>
      </p:sp>
      <p:sp>
        <p:nvSpPr>
          <p:cNvPr id="17" name="Text 13"/>
          <p:cNvSpPr/>
          <p:nvPr/>
        </p:nvSpPr>
        <p:spPr>
          <a:xfrm>
            <a:off x="548640" y="6510528"/>
            <a:ext cx="11155680" cy="274320"/>
          </a:xfrm>
          <a:prstGeom prst="rect">
            <a:avLst/>
          </a:prstGeom>
          <a:noFill/>
          <a:ln/>
        </p:spPr>
        <p:txBody>
          <a:bodyPr wrap="square" lIns="0" tIns="0" rIns="0" bIns="0" rtlCol="0" anchor="ctr"/>
          <a:lstStyle/>
          <a:p>
            <a:pPr indent="0" marL="0">
              <a:buNone/>
            </a:pPr>
            <a:r>
              <a:rPr lang="en-US" sz="950" i="1" dirty="0">
                <a:solidFill>
                  <a:srgbClr val="5F6368"/>
                </a:solidFill>
                <a:latin typeface="Calibri" pitchFamily="34" charset="0"/>
                <a:ea typeface="Calibri" pitchFamily="34" charset="-122"/>
                <a:cs typeface="Calibri" pitchFamily="34" charset="-120"/>
              </a:rPr>
              <a:t>Source : README §18.2 — doc : cloud.google.com/build/docs</a:t>
            </a:r>
            <a:endParaRPr lang="en-US" sz="950" dirty="0"/>
          </a:p>
        </p:txBody>
      </p:sp>
      <p:sp>
        <p:nvSpPr>
          <p:cNvPr id="18" name="Text 14"/>
          <p:cNvSpPr/>
          <p:nvPr/>
        </p:nvSpPr>
        <p:spPr>
          <a:xfrm>
            <a:off x="548640" y="4521708"/>
            <a:ext cx="3200400" cy="182880"/>
          </a:xfrm>
          <a:prstGeom prst="rect">
            <a:avLst/>
          </a:prstGeom>
          <a:noFill/>
          <a:ln/>
        </p:spPr>
        <p:txBody>
          <a:bodyPr wrap="square" lIns="0" tIns="0" rIns="0" bIns="0" rtlCol="0" anchor="ctr"/>
          <a:lstStyle/>
          <a:p>
            <a:pPr indent="0" marL="0">
              <a:buNone/>
            </a:pPr>
            <a:r>
              <a:rPr lang="en-US" sz="850" b="1" dirty="0">
                <a:solidFill>
                  <a:srgbClr val="97A1B5"/>
                </a:solidFill>
                <a:latin typeface="Calibri" pitchFamily="34" charset="0"/>
                <a:ea typeface="Calibri" pitchFamily="34" charset="-122"/>
                <a:cs typeface="Calibri" pitchFamily="34" charset="-120"/>
              </a:rPr>
              <a:t>Tsantaniaina Rakotonjanahary Ambaorasoa Guillaume</a:t>
            </a:r>
            <a:endParaRPr lang="en-US" sz="850" dirty="0"/>
          </a:p>
        </p:txBody>
      </p:sp>
      <p:sp>
        <p:nvSpPr>
          <p:cNvPr id="19" name="Shape 15"/>
          <p:cNvSpPr/>
          <p:nvPr/>
        </p:nvSpPr>
        <p:spPr>
          <a:xfrm>
            <a:off x="11137392" y="5852160"/>
            <a:ext cx="914400" cy="914400"/>
          </a:xfrm>
          <a:prstGeom prst="roundRect">
            <a:avLst>
              <a:gd name="adj" fmla="val 10000"/>
            </a:avLst>
          </a:prstGeom>
          <a:solidFill>
            <a:srgbClr val="FFFFFF"/>
          </a:solidFill>
          <a:ln w="12700">
            <a:solidFill>
              <a:srgbClr val="D6DEEC"/>
            </a:solidFill>
            <a:prstDash val="solid"/>
          </a:ln>
          <a:effectLst>
            <a:outerShdw sx="100000" sy="100000" kx="0" ky="0" algn="bl" rotWithShape="0" blurRad="88900" dist="38100" dir="5400000">
              <a:srgbClr val="8A94AD">
                <a:alpha val="26000"/>
              </a:srgbClr>
            </a:outerShdw>
          </a:effectLst>
        </p:spPr>
      </p:sp>
      <p:pic>
        <p:nvPicPr>
          <p:cNvPr id="20" name="Image 1" descr="logos/logo_mdn.png">    </p:cNvPr>
          <p:cNvPicPr>
            <a:picLocks noChangeAspect="1"/>
          </p:cNvPicPr>
          <p:nvPr/>
        </p:nvPicPr>
        <p:blipFill>
          <a:blip r:embed="rId2"/>
          <a:stretch>
            <a:fillRect/>
          </a:stretch>
        </p:blipFill>
        <p:spPr>
          <a:xfrm>
            <a:off x="11237976" y="5952744"/>
            <a:ext cx="713232" cy="71323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F9AB00"/>
          </a:solidFill>
          <a:ln/>
        </p:spPr>
      </p:sp>
      <p:sp>
        <p:nvSpPr>
          <p:cNvPr id="3" name="Shape 1"/>
          <p:cNvSpPr/>
          <p:nvPr/>
        </p:nvSpPr>
        <p:spPr>
          <a:xfrm>
            <a:off x="146304" y="0"/>
            <a:ext cx="12042648" cy="1078992"/>
          </a:xfrm>
          <a:prstGeom prst="rect">
            <a:avLst/>
          </a:prstGeom>
          <a:solidFill>
            <a:srgbClr val="1B2A4A"/>
          </a:solidFill>
          <a:ln/>
        </p:spPr>
      </p:sp>
      <p:sp>
        <p:nvSpPr>
          <p:cNvPr id="4" name="Text 2"/>
          <p:cNvSpPr/>
          <p:nvPr/>
        </p:nvSpPr>
        <p:spPr>
          <a:xfrm>
            <a:off x="548640" y="182880"/>
            <a:ext cx="9601200" cy="292608"/>
          </a:xfrm>
          <a:prstGeom prst="rect">
            <a:avLst/>
          </a:prstGeom>
          <a:noFill/>
          <a:ln/>
        </p:spPr>
        <p:txBody>
          <a:bodyPr wrap="square" lIns="0" tIns="0" rIns="0" bIns="0" rtlCol="0" anchor="ctr"/>
          <a:lstStyle/>
          <a:p>
            <a:pPr indent="0" marL="0">
              <a:buNone/>
            </a:pPr>
            <a:r>
              <a:rPr lang="en-US" sz="1200" b="1" spc="150" kern="0" dirty="0">
                <a:solidFill>
                  <a:srgbClr val="FDD663"/>
                </a:solidFill>
                <a:latin typeface="Calibri" pitchFamily="34" charset="0"/>
                <a:ea typeface="Calibri" pitchFamily="34" charset="-122"/>
                <a:cs typeface="Calibri" pitchFamily="34" charset="-120"/>
              </a:rPr>
              <a:t>CE QUE FAIT CLOUDBUILD-INFERENCE.YAML</a:t>
            </a:r>
            <a:endParaRPr lang="en-US" sz="1200" dirty="0"/>
          </a:p>
        </p:txBody>
      </p:sp>
      <p:sp>
        <p:nvSpPr>
          <p:cNvPr id="5" name="Text 3"/>
          <p:cNvSpPr/>
          <p:nvPr/>
        </p:nvSpPr>
        <p:spPr>
          <a:xfrm>
            <a:off x="530352" y="438912"/>
            <a:ext cx="9692640" cy="566928"/>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Cloud Build — le pipeline étape par étape</a:t>
            </a:r>
            <a:endParaRPr lang="en-US" sz="2700" dirty="0"/>
          </a:p>
        </p:txBody>
      </p:sp>
      <p:sp>
        <p:nvSpPr>
          <p:cNvPr id="6" name="Text 4"/>
          <p:cNvSpPr/>
          <p:nvPr/>
        </p:nvSpPr>
        <p:spPr>
          <a:xfrm>
            <a:off x="8229600" y="182880"/>
            <a:ext cx="1828800" cy="274320"/>
          </a:xfrm>
          <a:prstGeom prst="rect">
            <a:avLst/>
          </a:prstGeom>
          <a:noFill/>
          <a:ln/>
        </p:spPr>
        <p:txBody>
          <a:bodyPr wrap="square" lIns="0" tIns="0" rIns="0" bIns="0" rtlCol="0" anchor="ctr"/>
          <a:lstStyle/>
          <a:p>
            <a:pPr algn="r" indent="0" marL="0">
              <a:buNone/>
            </a:pPr>
            <a:r>
              <a:rPr lang="en-US" sz="1050" b="1" spc="100" kern="0" dirty="0">
                <a:solidFill>
                  <a:srgbClr val="8FA0C4"/>
                </a:solidFill>
                <a:latin typeface="Calibri" pitchFamily="34" charset="0"/>
                <a:ea typeface="Calibri" pitchFamily="34" charset="-122"/>
                <a:cs typeface="Calibri" pitchFamily="34" charset="-120"/>
              </a:rPr>
              <a:t>PARTIE 2</a:t>
            </a:r>
            <a:endParaRPr lang="en-US" sz="1050" dirty="0"/>
          </a:p>
        </p:txBody>
      </p:sp>
      <p:sp>
        <p:nvSpPr>
          <p:cNvPr id="7" name="Shape 5"/>
          <p:cNvSpPr/>
          <p:nvPr/>
        </p:nvSpPr>
        <p:spPr>
          <a:xfrm>
            <a:off x="10927080" y="237744"/>
            <a:ext cx="603504" cy="603504"/>
          </a:xfrm>
          <a:prstGeom prst="roundRect">
            <a:avLst>
              <a:gd name="adj" fmla="val 12121"/>
            </a:avLst>
          </a:prstGeom>
          <a:solidFill>
            <a:srgbClr val="FFFFFF"/>
          </a:solidFill>
          <a:ln/>
        </p:spPr>
      </p:sp>
      <p:pic>
        <p:nvPicPr>
          <p:cNvPr id="8" name="Image 0" descr="logos/05_cloud_build.png">    </p:cNvPr>
          <p:cNvPicPr>
            <a:picLocks noChangeAspect="1"/>
          </p:cNvPicPr>
          <p:nvPr/>
        </p:nvPicPr>
        <p:blipFill>
          <a:blip r:embed="rId1"/>
          <a:stretch>
            <a:fillRect/>
          </a:stretch>
        </p:blipFill>
        <p:spPr>
          <a:xfrm>
            <a:off x="10991088" y="301752"/>
            <a:ext cx="475488" cy="475488"/>
          </a:xfrm>
          <a:prstGeom prst="rect">
            <a:avLst/>
          </a:prstGeom>
        </p:spPr>
      </p:pic>
      <p:sp>
        <p:nvSpPr>
          <p:cNvPr id="9" name="Shape 6"/>
          <p:cNvSpPr/>
          <p:nvPr/>
        </p:nvSpPr>
        <p:spPr>
          <a:xfrm>
            <a:off x="548640" y="1371600"/>
            <a:ext cx="384048" cy="384048"/>
          </a:xfrm>
          <a:prstGeom prst="ellipse">
            <a:avLst/>
          </a:prstGeom>
          <a:solidFill>
            <a:srgbClr val="F9AB00"/>
          </a:solidFill>
          <a:ln/>
        </p:spPr>
      </p:sp>
      <p:sp>
        <p:nvSpPr>
          <p:cNvPr id="10" name="Text 7"/>
          <p:cNvSpPr/>
          <p:nvPr/>
        </p:nvSpPr>
        <p:spPr>
          <a:xfrm>
            <a:off x="548640" y="13716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1" name="Text 8"/>
          <p:cNvSpPr/>
          <p:nvPr/>
        </p:nvSpPr>
        <p:spPr>
          <a:xfrm>
            <a:off x="1078992" y="1316736"/>
            <a:ext cx="4956048" cy="1051560"/>
          </a:xfrm>
          <a:prstGeom prst="rect">
            <a:avLst/>
          </a:prstGeom>
          <a:noFill/>
          <a:ln/>
        </p:spPr>
        <p:txBody>
          <a:bodyPr wrap="square" lIns="0" tIns="0" rIns="0" bIns="0" rtlCol="0" anchor="t"/>
          <a:lstStyle/>
          <a:p>
            <a:pPr indent="0" marL="0">
              <a:buNone/>
            </a:pPr>
            <a:r>
              <a:rPr lang="en-US" sz="1350" b="1" dirty="0">
                <a:solidFill>
                  <a:srgbClr val="202124"/>
                </a:solidFill>
                <a:latin typeface="Calibri" pitchFamily="34" charset="0"/>
                <a:ea typeface="Calibri" pitchFamily="34" charset="-122"/>
                <a:cs typeface="Calibri" pitchFamily="34" charset="-120"/>
              </a:rPr>
              <a:t>build-inference
</a:t>
            </a:r>
            <a:endParaRPr lang="en-US" sz="1350" dirty="0"/>
          </a:p>
          <a:p>
            <a:pPr indent="0" marL="0">
              <a:buNone/>
            </a:pPr>
            <a:r>
              <a:rPr lang="en-US" sz="1150" dirty="0">
                <a:solidFill>
                  <a:srgbClr val="5F6368"/>
                </a:solidFill>
                <a:latin typeface="Calibri" pitchFamily="34" charset="0"/>
                <a:ea typeface="Calibri" pitchFamily="34" charset="-122"/>
                <a:cs typeface="Calibri" pitchFamily="34" charset="-120"/>
              </a:rPr>
              <a:t>docker build -f Dockerfile.cloudrun, tags {SHA}+latest, --cache-from</a:t>
            </a:r>
            <a:endParaRPr lang="en-US" sz="1350" dirty="0"/>
          </a:p>
        </p:txBody>
      </p:sp>
      <p:sp>
        <p:nvSpPr>
          <p:cNvPr id="12" name="Shape 9"/>
          <p:cNvSpPr/>
          <p:nvPr/>
        </p:nvSpPr>
        <p:spPr>
          <a:xfrm>
            <a:off x="548640" y="2423160"/>
            <a:ext cx="384048" cy="384048"/>
          </a:xfrm>
          <a:prstGeom prst="ellipse">
            <a:avLst/>
          </a:prstGeom>
          <a:solidFill>
            <a:srgbClr val="F9AB00"/>
          </a:solidFill>
          <a:ln/>
        </p:spPr>
      </p:sp>
      <p:sp>
        <p:nvSpPr>
          <p:cNvPr id="13" name="Text 10"/>
          <p:cNvSpPr/>
          <p:nvPr/>
        </p:nvSpPr>
        <p:spPr>
          <a:xfrm>
            <a:off x="548640" y="24231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1"/>
          <p:cNvSpPr/>
          <p:nvPr/>
        </p:nvSpPr>
        <p:spPr>
          <a:xfrm>
            <a:off x="1078992" y="2368296"/>
            <a:ext cx="4956048" cy="1051560"/>
          </a:xfrm>
          <a:prstGeom prst="rect">
            <a:avLst/>
          </a:prstGeom>
          <a:noFill/>
          <a:ln/>
        </p:spPr>
        <p:txBody>
          <a:bodyPr wrap="square" lIns="0" tIns="0" rIns="0" bIns="0" rtlCol="0" anchor="t"/>
          <a:lstStyle/>
          <a:p>
            <a:pPr indent="0" marL="0">
              <a:buNone/>
            </a:pPr>
            <a:r>
              <a:rPr lang="en-US" sz="1350" b="1" dirty="0">
                <a:solidFill>
                  <a:srgbClr val="202124"/>
                </a:solidFill>
                <a:latin typeface="Calibri" pitchFamily="34" charset="0"/>
                <a:ea typeface="Calibri" pitchFamily="34" charset="-122"/>
                <a:cs typeface="Calibri" pitchFamily="34" charset="-120"/>
              </a:rPr>
              <a:t>push-sha
</a:t>
            </a:r>
            <a:endParaRPr lang="en-US" sz="1350" dirty="0"/>
          </a:p>
          <a:p>
            <a:pPr indent="0" marL="0">
              <a:buNone/>
            </a:pPr>
            <a:r>
              <a:rPr lang="en-US" sz="1150" dirty="0">
                <a:solidFill>
                  <a:srgbClr val="5F6368"/>
                </a:solidFill>
                <a:latin typeface="Calibri" pitchFamily="34" charset="0"/>
                <a:ea typeface="Calibri" pitchFamily="34" charset="-122"/>
                <a:cs typeface="Calibri" pitchFamily="34" charset="-120"/>
              </a:rPr>
              <a:t>pousse inference:{SHORT_SHA}</a:t>
            </a:r>
            <a:endParaRPr lang="en-US" sz="1350" dirty="0"/>
          </a:p>
        </p:txBody>
      </p:sp>
      <p:sp>
        <p:nvSpPr>
          <p:cNvPr id="15" name="Shape 12"/>
          <p:cNvSpPr/>
          <p:nvPr/>
        </p:nvSpPr>
        <p:spPr>
          <a:xfrm>
            <a:off x="548640" y="3474720"/>
            <a:ext cx="384048" cy="384048"/>
          </a:xfrm>
          <a:prstGeom prst="ellipse">
            <a:avLst/>
          </a:prstGeom>
          <a:solidFill>
            <a:srgbClr val="F9AB00"/>
          </a:solidFill>
          <a:ln/>
        </p:spPr>
      </p:sp>
      <p:sp>
        <p:nvSpPr>
          <p:cNvPr id="16" name="Text 13"/>
          <p:cNvSpPr/>
          <p:nvPr/>
        </p:nvSpPr>
        <p:spPr>
          <a:xfrm>
            <a:off x="548640" y="34747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4"/>
          <p:cNvSpPr/>
          <p:nvPr/>
        </p:nvSpPr>
        <p:spPr>
          <a:xfrm>
            <a:off x="1078992" y="3419856"/>
            <a:ext cx="4956048" cy="1051560"/>
          </a:xfrm>
          <a:prstGeom prst="rect">
            <a:avLst/>
          </a:prstGeom>
          <a:noFill/>
          <a:ln/>
        </p:spPr>
        <p:txBody>
          <a:bodyPr wrap="square" lIns="0" tIns="0" rIns="0" bIns="0" rtlCol="0" anchor="t"/>
          <a:lstStyle/>
          <a:p>
            <a:pPr indent="0" marL="0">
              <a:buNone/>
            </a:pPr>
            <a:r>
              <a:rPr lang="en-US" sz="1350" b="1" dirty="0">
                <a:solidFill>
                  <a:srgbClr val="202124"/>
                </a:solidFill>
                <a:latin typeface="Calibri" pitchFamily="34" charset="0"/>
                <a:ea typeface="Calibri" pitchFamily="34" charset="-122"/>
                <a:cs typeface="Calibri" pitchFamily="34" charset="-120"/>
              </a:rPr>
              <a:t>push-latest
</a:t>
            </a:r>
            <a:endParaRPr lang="en-US" sz="1350" dirty="0"/>
          </a:p>
          <a:p>
            <a:pPr indent="0" marL="0">
              <a:buNone/>
            </a:pPr>
            <a:r>
              <a:rPr lang="en-US" sz="1150" dirty="0">
                <a:solidFill>
                  <a:srgbClr val="5F6368"/>
                </a:solidFill>
                <a:latin typeface="Calibri" pitchFamily="34" charset="0"/>
                <a:ea typeface="Calibri" pitchFamily="34" charset="-122"/>
                <a:cs typeface="Calibri" pitchFamily="34" charset="-120"/>
              </a:rPr>
              <a:t>pousse inference:latest</a:t>
            </a:r>
            <a:endParaRPr lang="en-US" sz="1350" dirty="0"/>
          </a:p>
        </p:txBody>
      </p:sp>
      <p:sp>
        <p:nvSpPr>
          <p:cNvPr id="18" name="Shape 15"/>
          <p:cNvSpPr/>
          <p:nvPr/>
        </p:nvSpPr>
        <p:spPr>
          <a:xfrm>
            <a:off x="548640" y="4526280"/>
            <a:ext cx="384048" cy="384048"/>
          </a:xfrm>
          <a:prstGeom prst="ellipse">
            <a:avLst/>
          </a:prstGeom>
          <a:solidFill>
            <a:srgbClr val="F9AB00"/>
          </a:solidFill>
          <a:ln/>
        </p:spPr>
      </p:sp>
      <p:sp>
        <p:nvSpPr>
          <p:cNvPr id="19" name="Text 16"/>
          <p:cNvSpPr/>
          <p:nvPr/>
        </p:nvSpPr>
        <p:spPr>
          <a:xfrm>
            <a:off x="548640" y="45262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0" name="Text 17"/>
          <p:cNvSpPr/>
          <p:nvPr/>
        </p:nvSpPr>
        <p:spPr>
          <a:xfrm>
            <a:off x="1078992" y="4471416"/>
            <a:ext cx="4956048" cy="1051560"/>
          </a:xfrm>
          <a:prstGeom prst="rect">
            <a:avLst/>
          </a:prstGeom>
          <a:noFill/>
          <a:ln/>
        </p:spPr>
        <p:txBody>
          <a:bodyPr wrap="square" lIns="0" tIns="0" rIns="0" bIns="0" rtlCol="0" anchor="t"/>
          <a:lstStyle/>
          <a:p>
            <a:pPr indent="0" marL="0">
              <a:buNone/>
            </a:pPr>
            <a:r>
              <a:rPr lang="en-US" sz="1350" b="1" dirty="0">
                <a:solidFill>
                  <a:srgbClr val="202124"/>
                </a:solidFill>
                <a:latin typeface="Calibri" pitchFamily="34" charset="0"/>
                <a:ea typeface="Calibri" pitchFamily="34" charset="-122"/>
                <a:cs typeface="Calibri" pitchFamily="34" charset="-120"/>
              </a:rPr>
              <a:t>deploy
</a:t>
            </a:r>
            <a:endParaRPr lang="en-US" sz="1350" dirty="0"/>
          </a:p>
          <a:p>
            <a:pPr indent="0" marL="0">
              <a:buNone/>
            </a:pPr>
            <a:r>
              <a:rPr lang="en-US" sz="1150" dirty="0">
                <a:solidFill>
                  <a:srgbClr val="5F6368"/>
                </a:solidFill>
                <a:latin typeface="Calibri" pitchFamily="34" charset="0"/>
                <a:ea typeface="Calibri" pitchFamily="34" charset="-122"/>
                <a:cs typeface="Calibri" pitchFamily="34" charset="-120"/>
              </a:rPr>
              <a:t>gcloud run deploy avec GPU L4 (tag immuable)</a:t>
            </a:r>
            <a:endParaRPr lang="en-US" sz="1350" dirty="0"/>
          </a:p>
        </p:txBody>
      </p:sp>
      <p:sp>
        <p:nvSpPr>
          <p:cNvPr id="21" name="Shape 18"/>
          <p:cNvSpPr/>
          <p:nvPr/>
        </p:nvSpPr>
        <p:spPr>
          <a:xfrm>
            <a:off x="6309360" y="1371600"/>
            <a:ext cx="5349240" cy="4572000"/>
          </a:xfrm>
          <a:prstGeom prst="rect">
            <a:avLst/>
          </a:prstGeom>
          <a:solidFill>
            <a:srgbClr val="0E1A33"/>
          </a:solidFill>
          <a:ln/>
          <a:effectLst>
            <a:outerShdw sx="100000" sy="100000" kx="0" ky="0" algn="bl" rotWithShape="0" blurRad="88900" dist="38100" dir="5400000">
              <a:srgbClr val="8A94AD">
                <a:alpha val="26000"/>
              </a:srgbClr>
            </a:outerShdw>
          </a:effectLst>
        </p:spPr>
      </p:sp>
      <p:sp>
        <p:nvSpPr>
          <p:cNvPr id="22" name="Text 19"/>
          <p:cNvSpPr/>
          <p:nvPr/>
        </p:nvSpPr>
        <p:spPr>
          <a:xfrm>
            <a:off x="6473952" y="1481328"/>
            <a:ext cx="5020056" cy="4352544"/>
          </a:xfrm>
          <a:prstGeom prst="rect">
            <a:avLst/>
          </a:prstGeom>
          <a:noFill/>
          <a:ln/>
        </p:spPr>
        <p:txBody>
          <a:bodyPr wrap="square" lIns="0" tIns="0" rIns="0" bIns="0" rtlCol="0" anchor="t"/>
          <a:lstStyle/>
          <a:p>
            <a:pPr indent="0" marL="0">
              <a:buNone/>
            </a:pPr>
            <a:r>
              <a:rPr lang="en-US" sz="950" dirty="0">
                <a:solidFill>
                  <a:srgbClr val="7F8CA8"/>
                </a:solidFill>
                <a:latin typeface="Consolas" pitchFamily="34" charset="0"/>
                <a:ea typeface="Consolas" pitchFamily="34" charset="-122"/>
                <a:cs typeface="Consolas" pitchFamily="34" charset="-120"/>
              </a:rPr>
              <a:t># Étape 1 — build</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docker build -f Dockerfile.cloudrun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--tag inference:{SHORT_SHA}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--tag inference:latest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--cache-from inference:latest</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a:t>
            </a:r>
            <a:endParaRPr lang="en-US" sz="950" dirty="0"/>
          </a:p>
          <a:p>
            <a:pPr indent="0" marL="0">
              <a:buNone/>
            </a:pPr>
            <a:r>
              <a:rPr lang="en-US" sz="950" dirty="0">
                <a:solidFill>
                  <a:srgbClr val="7F8CA8"/>
                </a:solidFill>
                <a:latin typeface="Consolas" pitchFamily="34" charset="0"/>
                <a:ea typeface="Consolas" pitchFamily="34" charset="-122"/>
                <a:cs typeface="Consolas" pitchFamily="34" charset="-120"/>
              </a:rPr>
              <a:t># Étape 2-3 — push vers Artifact Registry</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push inference:{SHORT_SHA}</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push inference:latest</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a:t>
            </a:r>
            <a:endParaRPr lang="en-US" sz="950" dirty="0"/>
          </a:p>
          <a:p>
            <a:pPr indent="0" marL="0">
              <a:buNone/>
            </a:pPr>
            <a:r>
              <a:rPr lang="en-US" sz="950" dirty="0">
                <a:solidFill>
                  <a:srgbClr val="7F8CA8"/>
                </a:solidFill>
                <a:latin typeface="Consolas" pitchFamily="34" charset="0"/>
                <a:ea typeface="Consolas" pitchFamily="34" charset="-122"/>
                <a:cs typeface="Consolas" pitchFamily="34" charset="-120"/>
              </a:rPr>
              <a:t># Étape 4 — déploiement Cloud Run</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gcloud run deploy mgvaovao-inference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--image inference:{SHORT_SHA}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--gpu 1 --gpu-type nvidia-l4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--cpu 8 --memory 32Gi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--min-instances 0 --max-instances 2</a:t>
            </a:r>
            <a:endParaRPr lang="en-US" sz="950" dirty="0"/>
          </a:p>
        </p:txBody>
      </p:sp>
      <p:sp>
        <p:nvSpPr>
          <p:cNvPr id="23" name="Text 20"/>
          <p:cNvSpPr/>
          <p:nvPr/>
        </p:nvSpPr>
        <p:spPr>
          <a:xfrm>
            <a:off x="548640" y="6510528"/>
            <a:ext cx="11155680" cy="274320"/>
          </a:xfrm>
          <a:prstGeom prst="rect">
            <a:avLst/>
          </a:prstGeom>
          <a:noFill/>
          <a:ln/>
        </p:spPr>
        <p:txBody>
          <a:bodyPr wrap="square" lIns="0" tIns="0" rIns="0" bIns="0" rtlCol="0" anchor="ctr"/>
          <a:lstStyle/>
          <a:p>
            <a:pPr indent="0" marL="0">
              <a:buNone/>
            </a:pPr>
            <a:r>
              <a:rPr lang="en-US" sz="950" i="1" dirty="0">
                <a:solidFill>
                  <a:srgbClr val="5F6368"/>
                </a:solidFill>
                <a:latin typeface="Calibri" pitchFamily="34" charset="0"/>
                <a:ea typeface="Calibri" pitchFamily="34" charset="-122"/>
                <a:cs typeface="Calibri" pitchFamily="34" charset="-120"/>
              </a:rPr>
              <a:t>Source : README §18.2 — décomposition de cloudbuild-inference.yaml</a:t>
            </a:r>
            <a:endParaRPr lang="en-US" sz="950" dirty="0"/>
          </a:p>
        </p:txBody>
      </p:sp>
      <p:sp>
        <p:nvSpPr>
          <p:cNvPr id="24" name="Text 21"/>
          <p:cNvSpPr/>
          <p:nvPr/>
        </p:nvSpPr>
        <p:spPr>
          <a:xfrm>
            <a:off x="2103120" y="6099048"/>
            <a:ext cx="3200400" cy="182880"/>
          </a:xfrm>
          <a:prstGeom prst="rect">
            <a:avLst/>
          </a:prstGeom>
          <a:noFill/>
          <a:ln/>
        </p:spPr>
        <p:txBody>
          <a:bodyPr wrap="square" lIns="0" tIns="0" rIns="0" bIns="0" rtlCol="0" anchor="ctr"/>
          <a:lstStyle/>
          <a:p>
            <a:pPr indent="0" marL="0">
              <a:buNone/>
            </a:pPr>
            <a:r>
              <a:rPr lang="en-US" sz="850" b="1" dirty="0">
                <a:solidFill>
                  <a:srgbClr val="97A1B5"/>
                </a:solidFill>
                <a:latin typeface="Calibri" pitchFamily="34" charset="0"/>
                <a:ea typeface="Calibri" pitchFamily="34" charset="-122"/>
                <a:cs typeface="Calibri" pitchFamily="34" charset="-120"/>
              </a:rPr>
              <a:t>Tsantaniaina Rakotonjanahary Ambaorasoa Guillaume</a:t>
            </a:r>
            <a:endParaRPr lang="en-US" sz="850" dirty="0"/>
          </a:p>
        </p:txBody>
      </p:sp>
      <p:sp>
        <p:nvSpPr>
          <p:cNvPr id="25" name="Shape 22"/>
          <p:cNvSpPr/>
          <p:nvPr/>
        </p:nvSpPr>
        <p:spPr>
          <a:xfrm>
            <a:off x="11137392" y="5852160"/>
            <a:ext cx="914400" cy="914400"/>
          </a:xfrm>
          <a:prstGeom prst="roundRect">
            <a:avLst>
              <a:gd name="adj" fmla="val 10000"/>
            </a:avLst>
          </a:prstGeom>
          <a:solidFill>
            <a:srgbClr val="FFFFFF"/>
          </a:solidFill>
          <a:ln w="12700">
            <a:solidFill>
              <a:srgbClr val="D6DEEC"/>
            </a:solidFill>
            <a:prstDash val="solid"/>
          </a:ln>
          <a:effectLst>
            <a:outerShdw sx="100000" sy="100000" kx="0" ky="0" algn="bl" rotWithShape="0" blurRad="88900" dist="38100" dir="5400000">
              <a:srgbClr val="8A94AD">
                <a:alpha val="26000"/>
              </a:srgbClr>
            </a:outerShdw>
          </a:effectLst>
        </p:spPr>
      </p:sp>
      <p:pic>
        <p:nvPicPr>
          <p:cNvPr id="26" name="Image 1" descr="logos/logo_mdn.png">    </p:cNvPr>
          <p:cNvPicPr>
            <a:picLocks noChangeAspect="1"/>
          </p:cNvPicPr>
          <p:nvPr/>
        </p:nvPicPr>
        <p:blipFill>
          <a:blip r:embed="rId2"/>
          <a:stretch>
            <a:fillRect/>
          </a:stretch>
        </p:blipFill>
        <p:spPr>
          <a:xfrm>
            <a:off x="11237976" y="5952744"/>
            <a:ext cx="713232" cy="713232"/>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F9AB00"/>
          </a:solidFill>
          <a:ln/>
        </p:spPr>
      </p:sp>
      <p:sp>
        <p:nvSpPr>
          <p:cNvPr id="3" name="Shape 1"/>
          <p:cNvSpPr/>
          <p:nvPr/>
        </p:nvSpPr>
        <p:spPr>
          <a:xfrm>
            <a:off x="146304" y="0"/>
            <a:ext cx="12042648" cy="1078992"/>
          </a:xfrm>
          <a:prstGeom prst="rect">
            <a:avLst/>
          </a:prstGeom>
          <a:solidFill>
            <a:srgbClr val="1B2A4A"/>
          </a:solidFill>
          <a:ln/>
        </p:spPr>
      </p:sp>
      <p:sp>
        <p:nvSpPr>
          <p:cNvPr id="4" name="Text 2"/>
          <p:cNvSpPr/>
          <p:nvPr/>
        </p:nvSpPr>
        <p:spPr>
          <a:xfrm>
            <a:off x="548640" y="182880"/>
            <a:ext cx="9601200" cy="292608"/>
          </a:xfrm>
          <a:prstGeom prst="rect">
            <a:avLst/>
          </a:prstGeom>
          <a:noFill/>
          <a:ln/>
        </p:spPr>
        <p:txBody>
          <a:bodyPr wrap="square" lIns="0" tIns="0" rIns="0" bIns="0" rtlCol="0" anchor="ctr"/>
          <a:lstStyle/>
          <a:p>
            <a:pPr indent="0" marL="0">
              <a:buNone/>
            </a:pPr>
            <a:r>
              <a:rPr lang="en-US" sz="1200" b="1" spc="150" kern="0" dirty="0">
                <a:solidFill>
                  <a:srgbClr val="FDD663"/>
                </a:solidFill>
                <a:latin typeface="Calibri" pitchFamily="34" charset="0"/>
                <a:ea typeface="Calibri" pitchFamily="34" charset="-122"/>
                <a:cs typeface="Calibri" pitchFamily="34" charset="-120"/>
              </a:rPr>
              <a:t>BUILD MANUEL ET MONITORING</a:t>
            </a:r>
            <a:endParaRPr lang="en-US" sz="1200" dirty="0"/>
          </a:p>
        </p:txBody>
      </p:sp>
      <p:sp>
        <p:nvSpPr>
          <p:cNvPr id="5" name="Text 3"/>
          <p:cNvSpPr/>
          <p:nvPr/>
        </p:nvSpPr>
        <p:spPr>
          <a:xfrm>
            <a:off x="530352" y="438912"/>
            <a:ext cx="9692640" cy="566928"/>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Cloud Build — lancer &amp; suivre</a:t>
            </a:r>
            <a:endParaRPr lang="en-US" sz="2700" dirty="0"/>
          </a:p>
        </p:txBody>
      </p:sp>
      <p:sp>
        <p:nvSpPr>
          <p:cNvPr id="6" name="Text 4"/>
          <p:cNvSpPr/>
          <p:nvPr/>
        </p:nvSpPr>
        <p:spPr>
          <a:xfrm>
            <a:off x="8229600" y="182880"/>
            <a:ext cx="1828800" cy="274320"/>
          </a:xfrm>
          <a:prstGeom prst="rect">
            <a:avLst/>
          </a:prstGeom>
          <a:noFill/>
          <a:ln/>
        </p:spPr>
        <p:txBody>
          <a:bodyPr wrap="square" lIns="0" tIns="0" rIns="0" bIns="0" rtlCol="0" anchor="ctr"/>
          <a:lstStyle/>
          <a:p>
            <a:pPr algn="r" indent="0" marL="0">
              <a:buNone/>
            </a:pPr>
            <a:r>
              <a:rPr lang="en-US" sz="1050" b="1" spc="100" kern="0" dirty="0">
                <a:solidFill>
                  <a:srgbClr val="8FA0C4"/>
                </a:solidFill>
                <a:latin typeface="Calibri" pitchFamily="34" charset="0"/>
                <a:ea typeface="Calibri" pitchFamily="34" charset="-122"/>
                <a:cs typeface="Calibri" pitchFamily="34" charset="-120"/>
              </a:rPr>
              <a:t>PARTIE 2</a:t>
            </a:r>
            <a:endParaRPr lang="en-US" sz="1050" dirty="0"/>
          </a:p>
        </p:txBody>
      </p:sp>
      <p:sp>
        <p:nvSpPr>
          <p:cNvPr id="7" name="Shape 5"/>
          <p:cNvSpPr/>
          <p:nvPr/>
        </p:nvSpPr>
        <p:spPr>
          <a:xfrm>
            <a:off x="10927080" y="237744"/>
            <a:ext cx="603504" cy="603504"/>
          </a:xfrm>
          <a:prstGeom prst="roundRect">
            <a:avLst>
              <a:gd name="adj" fmla="val 12121"/>
            </a:avLst>
          </a:prstGeom>
          <a:solidFill>
            <a:srgbClr val="FFFFFF"/>
          </a:solidFill>
          <a:ln/>
        </p:spPr>
      </p:sp>
      <p:pic>
        <p:nvPicPr>
          <p:cNvPr id="8" name="Image 0" descr="logos/05_cloud_build.png">    </p:cNvPr>
          <p:cNvPicPr>
            <a:picLocks noChangeAspect="1"/>
          </p:cNvPicPr>
          <p:nvPr/>
        </p:nvPicPr>
        <p:blipFill>
          <a:blip r:embed="rId1"/>
          <a:stretch>
            <a:fillRect/>
          </a:stretch>
        </p:blipFill>
        <p:spPr>
          <a:xfrm>
            <a:off x="10991088" y="301752"/>
            <a:ext cx="475488" cy="475488"/>
          </a:xfrm>
          <a:prstGeom prst="rect">
            <a:avLst/>
          </a:prstGeom>
        </p:spPr>
      </p:pic>
      <p:sp>
        <p:nvSpPr>
          <p:cNvPr id="9" name="Text 6"/>
          <p:cNvSpPr/>
          <p:nvPr/>
        </p:nvSpPr>
        <p:spPr>
          <a:xfrm>
            <a:off x="548640" y="1325880"/>
            <a:ext cx="5486400" cy="274320"/>
          </a:xfrm>
          <a:prstGeom prst="rect">
            <a:avLst/>
          </a:prstGeom>
          <a:noFill/>
          <a:ln/>
        </p:spPr>
        <p:txBody>
          <a:bodyPr wrap="square" lIns="0" tIns="0" rIns="0" bIns="0" rtlCol="0" anchor="ctr"/>
          <a:lstStyle/>
          <a:p>
            <a:pPr indent="0" marL="0">
              <a:buNone/>
            </a:pPr>
            <a:r>
              <a:rPr lang="en-US" sz="1300" b="1" spc="100" kern="0" dirty="0">
                <a:solidFill>
                  <a:srgbClr val="B06000"/>
                </a:solidFill>
                <a:latin typeface="Calibri" pitchFamily="34" charset="0"/>
                <a:ea typeface="Calibri" pitchFamily="34" charset="-122"/>
                <a:cs typeface="Calibri" pitchFamily="34" charset="-120"/>
              </a:rPr>
              <a:t>LANCER UN BUILD MANUEL</a:t>
            </a:r>
            <a:endParaRPr lang="en-US" sz="1300" dirty="0"/>
          </a:p>
        </p:txBody>
      </p:sp>
      <p:sp>
        <p:nvSpPr>
          <p:cNvPr id="10" name="Shape 7"/>
          <p:cNvSpPr/>
          <p:nvPr/>
        </p:nvSpPr>
        <p:spPr>
          <a:xfrm>
            <a:off x="548640" y="1645920"/>
            <a:ext cx="5486400" cy="2011680"/>
          </a:xfrm>
          <a:prstGeom prst="rect">
            <a:avLst/>
          </a:prstGeom>
          <a:solidFill>
            <a:srgbClr val="0E1A33"/>
          </a:solidFill>
          <a:ln/>
          <a:effectLst>
            <a:outerShdw sx="100000" sy="100000" kx="0" ky="0" algn="bl" rotWithShape="0" blurRad="88900" dist="38100" dir="5400000">
              <a:srgbClr val="8A94AD">
                <a:alpha val="26000"/>
              </a:srgbClr>
            </a:outerShdw>
          </a:effectLst>
        </p:spPr>
      </p:sp>
      <p:sp>
        <p:nvSpPr>
          <p:cNvPr id="11" name="Text 8"/>
          <p:cNvSpPr/>
          <p:nvPr/>
        </p:nvSpPr>
        <p:spPr>
          <a:xfrm>
            <a:off x="713232" y="1755648"/>
            <a:ext cx="5157216" cy="1792224"/>
          </a:xfrm>
          <a:prstGeom prst="rect">
            <a:avLst/>
          </a:prstGeom>
          <a:noFill/>
          <a:ln/>
        </p:spPr>
        <p:txBody>
          <a:bodyPr wrap="square" lIns="0" tIns="0" rIns="0" bIns="0" rtlCol="0" anchor="t"/>
          <a:lstStyle/>
          <a:p>
            <a:pPr indent="0" marL="0">
              <a:buNone/>
            </a:pPr>
            <a:r>
              <a:rPr lang="en-US" sz="950" dirty="0">
                <a:solidFill>
                  <a:srgbClr val="7F8CA8"/>
                </a:solidFill>
                <a:latin typeface="Consolas" pitchFamily="34" charset="0"/>
                <a:ea typeface="Consolas" pitchFamily="34" charset="-122"/>
                <a:cs typeface="Consolas" pitchFamily="34" charset="-120"/>
              </a:rPr>
              <a:t># Linux / macOS / WSL</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gcloud builds submit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--config=cloudbuild-inference.yaml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--project=mgvaovao-ia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--substitutions=SHORT_SHA=$(git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rev-parse --short HEAD) .</a:t>
            </a:r>
            <a:endParaRPr lang="en-US" sz="950" dirty="0"/>
          </a:p>
        </p:txBody>
      </p:sp>
      <p:sp>
        <p:nvSpPr>
          <p:cNvPr id="12" name="Shape 9"/>
          <p:cNvSpPr/>
          <p:nvPr/>
        </p:nvSpPr>
        <p:spPr>
          <a:xfrm>
            <a:off x="548640" y="3794760"/>
            <a:ext cx="5486400" cy="1463040"/>
          </a:xfrm>
          <a:prstGeom prst="rect">
            <a:avLst/>
          </a:prstGeom>
          <a:solidFill>
            <a:srgbClr val="0E1A33"/>
          </a:solidFill>
          <a:ln/>
          <a:effectLst>
            <a:outerShdw sx="100000" sy="100000" kx="0" ky="0" algn="bl" rotWithShape="0" blurRad="88900" dist="38100" dir="5400000">
              <a:srgbClr val="8A94AD">
                <a:alpha val="26000"/>
              </a:srgbClr>
            </a:outerShdw>
          </a:effectLst>
        </p:spPr>
      </p:sp>
      <p:sp>
        <p:nvSpPr>
          <p:cNvPr id="13" name="Text 10"/>
          <p:cNvSpPr/>
          <p:nvPr/>
        </p:nvSpPr>
        <p:spPr>
          <a:xfrm>
            <a:off x="713232" y="3904488"/>
            <a:ext cx="5157216" cy="1243584"/>
          </a:xfrm>
          <a:prstGeom prst="rect">
            <a:avLst/>
          </a:prstGeom>
          <a:noFill/>
          <a:ln/>
        </p:spPr>
        <p:txBody>
          <a:bodyPr wrap="square" lIns="0" tIns="0" rIns="0" bIns="0" rtlCol="0" anchor="t"/>
          <a:lstStyle/>
          <a:p>
            <a:pPr indent="0" marL="0">
              <a:buNone/>
            </a:pPr>
            <a:r>
              <a:rPr lang="en-US" sz="950" dirty="0">
                <a:solidFill>
                  <a:srgbClr val="7F8CA8"/>
                </a:solidFill>
                <a:latin typeface="Consolas" pitchFamily="34" charset="0"/>
                <a:ea typeface="Consolas" pitchFamily="34" charset="-122"/>
                <a:cs typeface="Consolas" pitchFamily="34" charset="-120"/>
              </a:rPr>
              <a:t># PowerShell (Windows)</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$SHA = git rev-parse --short HEAD</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gcloud builds submit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--config=cloudbuild-inference.yaml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"--substitutions=SHORT_SHA=$SHA" .</a:t>
            </a:r>
            <a:endParaRPr lang="en-US" sz="950" dirty="0"/>
          </a:p>
        </p:txBody>
      </p:sp>
      <p:sp>
        <p:nvSpPr>
          <p:cNvPr id="14" name="Text 11"/>
          <p:cNvSpPr/>
          <p:nvPr/>
        </p:nvSpPr>
        <p:spPr>
          <a:xfrm>
            <a:off x="6309360" y="1325880"/>
            <a:ext cx="5486400" cy="274320"/>
          </a:xfrm>
          <a:prstGeom prst="rect">
            <a:avLst/>
          </a:prstGeom>
          <a:noFill/>
          <a:ln/>
        </p:spPr>
        <p:txBody>
          <a:bodyPr wrap="square" lIns="0" tIns="0" rIns="0" bIns="0" rtlCol="0" anchor="ctr"/>
          <a:lstStyle/>
          <a:p>
            <a:pPr indent="0" marL="0">
              <a:buNone/>
            </a:pPr>
            <a:r>
              <a:rPr lang="en-US" sz="1300" b="1" spc="100" kern="0" dirty="0">
                <a:solidFill>
                  <a:srgbClr val="B06000"/>
                </a:solidFill>
                <a:latin typeface="Calibri" pitchFamily="34" charset="0"/>
                <a:ea typeface="Calibri" pitchFamily="34" charset="-122"/>
                <a:cs typeface="Calibri" pitchFamily="34" charset="-120"/>
              </a:rPr>
              <a:t>SUIVRE UN BUILD</a:t>
            </a:r>
            <a:endParaRPr lang="en-US" sz="1300" dirty="0"/>
          </a:p>
        </p:txBody>
      </p:sp>
      <p:sp>
        <p:nvSpPr>
          <p:cNvPr id="15" name="Shape 12"/>
          <p:cNvSpPr/>
          <p:nvPr/>
        </p:nvSpPr>
        <p:spPr>
          <a:xfrm>
            <a:off x="6309360" y="1645920"/>
            <a:ext cx="5349240" cy="1691640"/>
          </a:xfrm>
          <a:prstGeom prst="rect">
            <a:avLst/>
          </a:prstGeom>
          <a:solidFill>
            <a:srgbClr val="0E1A33"/>
          </a:solidFill>
          <a:ln/>
          <a:effectLst>
            <a:outerShdw sx="100000" sy="100000" kx="0" ky="0" algn="bl" rotWithShape="0" blurRad="88900" dist="38100" dir="5400000">
              <a:srgbClr val="8A94AD">
                <a:alpha val="26000"/>
              </a:srgbClr>
            </a:outerShdw>
          </a:effectLst>
        </p:spPr>
      </p:sp>
      <p:sp>
        <p:nvSpPr>
          <p:cNvPr id="16" name="Text 13"/>
          <p:cNvSpPr/>
          <p:nvPr/>
        </p:nvSpPr>
        <p:spPr>
          <a:xfrm>
            <a:off x="6473952" y="1755648"/>
            <a:ext cx="5020056" cy="1472184"/>
          </a:xfrm>
          <a:prstGeom prst="rect">
            <a:avLst/>
          </a:prstGeom>
          <a:noFill/>
          <a:ln/>
        </p:spPr>
        <p:txBody>
          <a:bodyPr wrap="square" lIns="0" tIns="0" rIns="0" bIns="0" rtlCol="0" anchor="t"/>
          <a:lstStyle/>
          <a:p>
            <a:pPr indent="0" marL="0">
              <a:buNone/>
            </a:pPr>
            <a:r>
              <a:rPr lang="en-US" sz="950" dirty="0">
                <a:solidFill>
                  <a:srgbClr val="DCE3F2"/>
                </a:solidFill>
                <a:latin typeface="Consolas" pitchFamily="34" charset="0"/>
                <a:ea typeface="Consolas" pitchFamily="34" charset="-122"/>
                <a:cs typeface="Consolas" pitchFamily="34" charset="-120"/>
              </a:rPr>
              <a:t>gcloud builds list --limit=5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--project=mgvaovao-ia</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gcloud builds log BUILD_ID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--project=mgvaovao-ia --stream</a:t>
            </a:r>
            <a:endParaRPr lang="en-US" sz="950" dirty="0"/>
          </a:p>
        </p:txBody>
      </p:sp>
      <p:sp>
        <p:nvSpPr>
          <p:cNvPr id="17" name="Shape 14"/>
          <p:cNvSpPr/>
          <p:nvPr/>
        </p:nvSpPr>
        <p:spPr>
          <a:xfrm>
            <a:off x="6309360" y="3520440"/>
            <a:ext cx="5349240" cy="1737360"/>
          </a:xfrm>
          <a:prstGeom prst="rect">
            <a:avLst/>
          </a:prstGeom>
          <a:solidFill>
            <a:srgbClr val="EEF2FB"/>
          </a:solidFill>
          <a:ln/>
        </p:spPr>
      </p:sp>
      <p:sp>
        <p:nvSpPr>
          <p:cNvPr id="18" name="Shape 15"/>
          <p:cNvSpPr/>
          <p:nvPr/>
        </p:nvSpPr>
        <p:spPr>
          <a:xfrm>
            <a:off x="6309360" y="3520440"/>
            <a:ext cx="91440" cy="1737360"/>
          </a:xfrm>
          <a:prstGeom prst="rect">
            <a:avLst/>
          </a:prstGeom>
          <a:solidFill>
            <a:srgbClr val="F9AB00"/>
          </a:solidFill>
          <a:ln/>
        </p:spPr>
      </p:sp>
      <p:sp>
        <p:nvSpPr>
          <p:cNvPr id="19" name="Text 16"/>
          <p:cNvSpPr/>
          <p:nvPr/>
        </p:nvSpPr>
        <p:spPr>
          <a:xfrm>
            <a:off x="6547104" y="3593592"/>
            <a:ext cx="4965192" cy="1591056"/>
          </a:xfrm>
          <a:prstGeom prst="rect">
            <a:avLst/>
          </a:prstGeom>
          <a:noFill/>
          <a:ln/>
        </p:spPr>
        <p:txBody>
          <a:bodyPr wrap="square" lIns="0" tIns="0" rIns="0" bIns="0" rtlCol="0" anchor="ctr"/>
          <a:lstStyle/>
          <a:p>
            <a:pPr indent="0" marL="0">
              <a:buNone/>
            </a:pPr>
            <a:r>
              <a:rPr lang="en-US" sz="1100" b="1" dirty="0">
                <a:solidFill>
                  <a:srgbClr val="B06000"/>
                </a:solidFill>
                <a:latin typeface="Calibri" pitchFamily="34" charset="0"/>
                <a:ea typeface="Calibri" pitchFamily="34" charset="-122"/>
                <a:cs typeface="Calibri" pitchFamily="34" charset="-120"/>
              </a:rPr>
              <a:t>PIÈGE — SHORT_SHA VIDE   </a:t>
            </a:r>
            <a:pPr indent="0" marL="0">
              <a:buNone/>
            </a:pPr>
            <a:r>
              <a:rPr lang="en-US" sz="1200" dirty="0">
                <a:solidFill>
                  <a:srgbClr val="202124"/>
                </a:solidFill>
                <a:latin typeface="Calibri" pitchFamily="34" charset="0"/>
                <a:ea typeface="Calibri" pitchFamily="34" charset="-122"/>
                <a:cs typeface="Calibri" pitchFamily="34" charset="-120"/>
              </a:rPr>
              <a:t>$SHORT_SHA n'est rempli automatiquement que par un déclencheur. En build manuel il est vide → erreur « invalid image name ». Toujours le passer explicitement (sur PowerShell, via une variable intermédiaire).</a:t>
            </a:r>
            <a:endParaRPr lang="en-US" sz="1100" dirty="0"/>
          </a:p>
        </p:txBody>
      </p:sp>
      <p:sp>
        <p:nvSpPr>
          <p:cNvPr id="20" name="Text 17"/>
          <p:cNvSpPr/>
          <p:nvPr/>
        </p:nvSpPr>
        <p:spPr>
          <a:xfrm>
            <a:off x="548640" y="6510528"/>
            <a:ext cx="11155680" cy="274320"/>
          </a:xfrm>
          <a:prstGeom prst="rect">
            <a:avLst/>
          </a:prstGeom>
          <a:noFill/>
          <a:ln/>
        </p:spPr>
        <p:txBody>
          <a:bodyPr wrap="square" lIns="0" tIns="0" rIns="0" bIns="0" rtlCol="0" anchor="ctr"/>
          <a:lstStyle/>
          <a:p>
            <a:pPr indent="0" marL="0">
              <a:buNone/>
            </a:pPr>
            <a:r>
              <a:rPr lang="en-US" sz="950" i="1" dirty="0">
                <a:solidFill>
                  <a:srgbClr val="5F6368"/>
                </a:solidFill>
                <a:latin typeface="Calibri" pitchFamily="34" charset="0"/>
                <a:ea typeface="Calibri" pitchFamily="34" charset="-122"/>
                <a:cs typeface="Calibri" pitchFamily="34" charset="-120"/>
              </a:rPr>
              <a:t>Source : README §18.2, §18.9 (Bug 3) — build manuel &amp; monitoring</a:t>
            </a:r>
            <a:endParaRPr lang="en-US" sz="950" dirty="0"/>
          </a:p>
        </p:txBody>
      </p:sp>
      <p:sp>
        <p:nvSpPr>
          <p:cNvPr id="21" name="Text 18"/>
          <p:cNvSpPr/>
          <p:nvPr/>
        </p:nvSpPr>
        <p:spPr>
          <a:xfrm>
            <a:off x="3657600" y="5756148"/>
            <a:ext cx="3200400" cy="182880"/>
          </a:xfrm>
          <a:prstGeom prst="rect">
            <a:avLst/>
          </a:prstGeom>
          <a:noFill/>
          <a:ln/>
        </p:spPr>
        <p:txBody>
          <a:bodyPr wrap="square" lIns="0" tIns="0" rIns="0" bIns="0" rtlCol="0" anchor="ctr"/>
          <a:lstStyle/>
          <a:p>
            <a:pPr indent="0" marL="0">
              <a:buNone/>
            </a:pPr>
            <a:r>
              <a:rPr lang="en-US" sz="850" b="1" dirty="0">
                <a:solidFill>
                  <a:srgbClr val="97A1B5"/>
                </a:solidFill>
                <a:latin typeface="Calibri" pitchFamily="34" charset="0"/>
                <a:ea typeface="Calibri" pitchFamily="34" charset="-122"/>
                <a:cs typeface="Calibri" pitchFamily="34" charset="-120"/>
              </a:rPr>
              <a:t>Tsantaniaina Rakotonjanahary Ambaorasoa Guillaume</a:t>
            </a:r>
            <a:endParaRPr lang="en-US" sz="850" dirty="0"/>
          </a:p>
        </p:txBody>
      </p:sp>
      <p:sp>
        <p:nvSpPr>
          <p:cNvPr id="22" name="Shape 19"/>
          <p:cNvSpPr/>
          <p:nvPr/>
        </p:nvSpPr>
        <p:spPr>
          <a:xfrm>
            <a:off x="11137392" y="5852160"/>
            <a:ext cx="914400" cy="914400"/>
          </a:xfrm>
          <a:prstGeom prst="roundRect">
            <a:avLst>
              <a:gd name="adj" fmla="val 10000"/>
            </a:avLst>
          </a:prstGeom>
          <a:solidFill>
            <a:srgbClr val="FFFFFF"/>
          </a:solidFill>
          <a:ln w="12700">
            <a:solidFill>
              <a:srgbClr val="D6DEEC"/>
            </a:solidFill>
            <a:prstDash val="solid"/>
          </a:ln>
          <a:effectLst>
            <a:outerShdw sx="100000" sy="100000" kx="0" ky="0" algn="bl" rotWithShape="0" blurRad="88900" dist="38100" dir="5400000">
              <a:srgbClr val="8A94AD">
                <a:alpha val="26000"/>
              </a:srgbClr>
            </a:outerShdw>
          </a:effectLst>
        </p:spPr>
      </p:sp>
      <p:pic>
        <p:nvPicPr>
          <p:cNvPr id="23" name="Image 1" descr="logos/logo_mdn.png">    </p:cNvPr>
          <p:cNvPicPr>
            <a:picLocks noChangeAspect="1"/>
          </p:cNvPicPr>
          <p:nvPr/>
        </p:nvPicPr>
        <p:blipFill>
          <a:blip r:embed="rId2"/>
          <a:stretch>
            <a:fillRect/>
          </a:stretch>
        </p:blipFill>
        <p:spPr>
          <a:xfrm>
            <a:off x="11237976" y="5952744"/>
            <a:ext cx="713232" cy="713232"/>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4285F4"/>
          </a:solidFill>
          <a:ln/>
        </p:spPr>
      </p:sp>
      <p:sp>
        <p:nvSpPr>
          <p:cNvPr id="3" name="Shape 1"/>
          <p:cNvSpPr/>
          <p:nvPr/>
        </p:nvSpPr>
        <p:spPr>
          <a:xfrm>
            <a:off x="146304" y="0"/>
            <a:ext cx="12042648" cy="1078992"/>
          </a:xfrm>
          <a:prstGeom prst="rect">
            <a:avLst/>
          </a:prstGeom>
          <a:solidFill>
            <a:srgbClr val="1B2A4A"/>
          </a:solidFill>
          <a:ln/>
        </p:spPr>
      </p:sp>
      <p:sp>
        <p:nvSpPr>
          <p:cNvPr id="4" name="Text 2"/>
          <p:cNvSpPr/>
          <p:nvPr/>
        </p:nvSpPr>
        <p:spPr>
          <a:xfrm>
            <a:off x="548640" y="182880"/>
            <a:ext cx="9601200" cy="292608"/>
          </a:xfrm>
          <a:prstGeom prst="rect">
            <a:avLst/>
          </a:prstGeom>
          <a:noFill/>
          <a:ln/>
        </p:spPr>
        <p:txBody>
          <a:bodyPr wrap="square" lIns="0" tIns="0" rIns="0" bIns="0" rtlCol="0" anchor="ctr"/>
          <a:lstStyle/>
          <a:p>
            <a:pPr indent="0" marL="0">
              <a:buNone/>
            </a:pPr>
            <a:r>
              <a:rPr lang="en-US" sz="1200" b="1" spc="150" kern="0" dirty="0">
                <a:solidFill>
                  <a:srgbClr val="8AB4F8"/>
                </a:solidFill>
                <a:latin typeface="Calibri" pitchFamily="34" charset="0"/>
                <a:ea typeface="Calibri" pitchFamily="34" charset="-122"/>
                <a:cs typeface="Calibri" pitchFamily="34" charset="-120"/>
              </a:rPr>
              <a:t>CALCUL SERVERLESS (CPU + GPU)</a:t>
            </a:r>
            <a:endParaRPr lang="en-US" sz="1200" dirty="0"/>
          </a:p>
        </p:txBody>
      </p:sp>
      <p:sp>
        <p:nvSpPr>
          <p:cNvPr id="5" name="Text 3"/>
          <p:cNvSpPr/>
          <p:nvPr/>
        </p:nvSpPr>
        <p:spPr>
          <a:xfrm>
            <a:off x="530352" y="438912"/>
            <a:ext cx="9692640" cy="566928"/>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Cloud Run — concepts</a:t>
            </a:r>
            <a:endParaRPr lang="en-US" sz="2700" dirty="0"/>
          </a:p>
        </p:txBody>
      </p:sp>
      <p:sp>
        <p:nvSpPr>
          <p:cNvPr id="6" name="Text 4"/>
          <p:cNvSpPr/>
          <p:nvPr/>
        </p:nvSpPr>
        <p:spPr>
          <a:xfrm>
            <a:off x="8229600" y="182880"/>
            <a:ext cx="1828800" cy="274320"/>
          </a:xfrm>
          <a:prstGeom prst="rect">
            <a:avLst/>
          </a:prstGeom>
          <a:noFill/>
          <a:ln/>
        </p:spPr>
        <p:txBody>
          <a:bodyPr wrap="square" lIns="0" tIns="0" rIns="0" bIns="0" rtlCol="0" anchor="ctr"/>
          <a:lstStyle/>
          <a:p>
            <a:pPr algn="r" indent="0" marL="0">
              <a:buNone/>
            </a:pPr>
            <a:r>
              <a:rPr lang="en-US" sz="1050" b="1" spc="100" kern="0" dirty="0">
                <a:solidFill>
                  <a:srgbClr val="8FA0C4"/>
                </a:solidFill>
                <a:latin typeface="Calibri" pitchFamily="34" charset="0"/>
                <a:ea typeface="Calibri" pitchFamily="34" charset="-122"/>
                <a:cs typeface="Calibri" pitchFamily="34" charset="-120"/>
              </a:rPr>
              <a:t>PARTIE 2</a:t>
            </a:r>
            <a:endParaRPr lang="en-US" sz="1050" dirty="0"/>
          </a:p>
        </p:txBody>
      </p:sp>
      <p:sp>
        <p:nvSpPr>
          <p:cNvPr id="7" name="Shape 5"/>
          <p:cNvSpPr/>
          <p:nvPr/>
        </p:nvSpPr>
        <p:spPr>
          <a:xfrm>
            <a:off x="10927080" y="237744"/>
            <a:ext cx="603504" cy="603504"/>
          </a:xfrm>
          <a:prstGeom prst="roundRect">
            <a:avLst>
              <a:gd name="adj" fmla="val 12121"/>
            </a:avLst>
          </a:prstGeom>
          <a:solidFill>
            <a:srgbClr val="FFFFFF"/>
          </a:solidFill>
          <a:ln/>
        </p:spPr>
      </p:sp>
      <p:pic>
        <p:nvPicPr>
          <p:cNvPr id="8" name="Image 0" descr="logos/01_cloud_run.png">    </p:cNvPr>
          <p:cNvPicPr>
            <a:picLocks noChangeAspect="1"/>
          </p:cNvPicPr>
          <p:nvPr/>
        </p:nvPicPr>
        <p:blipFill>
          <a:blip r:embed="rId1"/>
          <a:stretch>
            <a:fillRect/>
          </a:stretch>
        </p:blipFill>
        <p:spPr>
          <a:xfrm>
            <a:off x="10991088" y="301752"/>
            <a:ext cx="475488" cy="475488"/>
          </a:xfrm>
          <a:prstGeom prst="rect">
            <a:avLst/>
          </a:prstGeom>
        </p:spPr>
      </p:pic>
      <p:sp>
        <p:nvSpPr>
          <p:cNvPr id="9" name="Text 6"/>
          <p:cNvSpPr/>
          <p:nvPr/>
        </p:nvSpPr>
        <p:spPr>
          <a:xfrm>
            <a:off x="548640" y="1325880"/>
            <a:ext cx="11064240" cy="777240"/>
          </a:xfrm>
          <a:prstGeom prst="rect">
            <a:avLst/>
          </a:prstGeom>
          <a:noFill/>
          <a:ln/>
        </p:spPr>
        <p:txBody>
          <a:bodyPr wrap="square" lIns="0" tIns="0" rIns="0" bIns="0" rtlCol="0" anchor="t"/>
          <a:lstStyle/>
          <a:p>
            <a:pPr indent="0" marL="0">
              <a:buNone/>
            </a:pPr>
            <a:r>
              <a:rPr lang="en-US" sz="1350" dirty="0">
                <a:solidFill>
                  <a:srgbClr val="202124"/>
                </a:solidFill>
                <a:latin typeface="Calibri" pitchFamily="34" charset="0"/>
                <a:ea typeface="Calibri" pitchFamily="34" charset="-122"/>
                <a:cs typeface="Calibri" pitchFamily="34" charset="-120"/>
              </a:rPr>
              <a:t>Plateforme serverless pour conteneurs, sans gérer de serveurs. Deux services dans MGVaovao : un service CPU léger (signaling WebRTC, ~2 $/mois) et un service GPU L4 (pipeline d'inférence complet, ~33 $/mois). Les deux passent à l'échelle zéro.</a:t>
            </a:r>
            <a:endParaRPr lang="en-US" sz="1350" dirty="0"/>
          </a:p>
        </p:txBody>
      </p:sp>
      <p:sp>
        <p:nvSpPr>
          <p:cNvPr id="10" name="Text 7"/>
          <p:cNvSpPr/>
          <p:nvPr/>
        </p:nvSpPr>
        <p:spPr>
          <a:xfrm>
            <a:off x="548640" y="2331720"/>
            <a:ext cx="5486400" cy="274320"/>
          </a:xfrm>
          <a:prstGeom prst="rect">
            <a:avLst/>
          </a:prstGeom>
          <a:noFill/>
          <a:ln/>
        </p:spPr>
        <p:txBody>
          <a:bodyPr wrap="square" lIns="0" tIns="0" rIns="0" bIns="0" rtlCol="0" anchor="ctr"/>
          <a:lstStyle/>
          <a:p>
            <a:pPr indent="0" marL="0">
              <a:buNone/>
            </a:pPr>
            <a:r>
              <a:rPr lang="en-US" sz="1300" b="1" spc="100" kern="0" dirty="0">
                <a:solidFill>
                  <a:srgbClr val="1A73E8"/>
                </a:solidFill>
                <a:latin typeface="Calibri" pitchFamily="34" charset="0"/>
                <a:ea typeface="Calibri" pitchFamily="34" charset="-122"/>
                <a:cs typeface="Calibri" pitchFamily="34" charset="-120"/>
              </a:rPr>
              <a:t>CONCEPTS CLÉS</a:t>
            </a:r>
            <a:endParaRPr lang="en-US" sz="1300" dirty="0"/>
          </a:p>
        </p:txBody>
      </p:sp>
      <p:sp>
        <p:nvSpPr>
          <p:cNvPr id="11" name="Text 8"/>
          <p:cNvSpPr/>
          <p:nvPr/>
        </p:nvSpPr>
        <p:spPr>
          <a:xfrm>
            <a:off x="548640" y="2651760"/>
            <a:ext cx="5486400" cy="2103120"/>
          </a:xfrm>
          <a:prstGeom prst="rect">
            <a:avLst/>
          </a:prstGeom>
          <a:noFill/>
          <a:ln/>
        </p:spPr>
        <p:txBody>
          <a:bodyPr wrap="square" lIns="0" tIns="0" rIns="0" bIns="0" rtlCol="0" anchor="t"/>
          <a:lstStyle/>
          <a:p>
            <a:pPr marL="190500" indent="-190500">
              <a:spcAft>
                <a:spcPts val="600"/>
              </a:spcAft>
              <a:buSzPct val="100000"/>
              <a:buChar char="•"/>
            </a:pPr>
            <a:r>
              <a:rPr lang="en-US" sz="1300" dirty="0">
                <a:solidFill>
                  <a:srgbClr val="202124"/>
                </a:solidFill>
                <a:latin typeface="Calibri" pitchFamily="34" charset="0"/>
                <a:ea typeface="Calibri" pitchFamily="34" charset="-122"/>
                <a:cs typeface="Calibri" pitchFamily="34" charset="-120"/>
              </a:rPr>
              <a:t>Conteneurs serverless, autoscaling à la demande</a:t>
            </a:r>
            <a:endParaRPr lang="en-US" sz="1300" dirty="0"/>
          </a:p>
          <a:p>
            <a:pPr marL="190500" indent="-190500">
              <a:spcAft>
                <a:spcPts val="600"/>
              </a:spcAft>
              <a:buSzPct val="100000"/>
              <a:buChar char="•"/>
            </a:pPr>
            <a:r>
              <a:rPr lang="en-US" sz="1300" dirty="0">
                <a:solidFill>
                  <a:srgbClr val="202124"/>
                </a:solidFill>
                <a:latin typeface="Calibri" pitchFamily="34" charset="0"/>
                <a:ea typeface="Calibri" pitchFamily="34" charset="-122"/>
                <a:cs typeface="Calibri" pitchFamily="34" charset="-120"/>
              </a:rPr>
              <a:t>Scale-to-zero (0 € à l'idle) — même avec GPU</a:t>
            </a:r>
            <a:endParaRPr lang="en-US" sz="1300" dirty="0"/>
          </a:p>
          <a:p>
            <a:pPr marL="190500" indent="-190500">
              <a:spcAft>
                <a:spcPts val="600"/>
              </a:spcAft>
              <a:buSzPct val="100000"/>
              <a:buChar char="•"/>
            </a:pPr>
            <a:r>
              <a:rPr lang="en-US" sz="1300" dirty="0">
                <a:solidFill>
                  <a:srgbClr val="202124"/>
                </a:solidFill>
                <a:latin typeface="Calibri" pitchFamily="34" charset="0"/>
                <a:ea typeface="Calibri" pitchFamily="34" charset="-122"/>
                <a:cs typeface="Calibri" pitchFamily="34" charset="-120"/>
              </a:rPr>
              <a:t>Facturation à l'usage · HTTP/2, gRPC, WebSockets</a:t>
            </a:r>
            <a:endParaRPr lang="en-US" sz="1300" dirty="0"/>
          </a:p>
          <a:p>
            <a:pPr marL="190500" indent="-190500">
              <a:spcAft>
                <a:spcPts val="600"/>
              </a:spcAft>
              <a:buSzPct val="100000"/>
              <a:buChar char="•"/>
            </a:pPr>
            <a:r>
              <a:rPr lang="en-US" sz="1300" dirty="0">
                <a:solidFill>
                  <a:srgbClr val="202124"/>
                </a:solidFill>
                <a:latin typeface="Calibri" pitchFamily="34" charset="0"/>
                <a:ea typeface="Calibri" pitchFamily="34" charset="-122"/>
                <a:cs typeface="Calibri" pitchFamily="34" charset="-120"/>
              </a:rPr>
              <a:t>Cloud Run écoute toujours sur le port 8080</a:t>
            </a:r>
            <a:endParaRPr lang="en-US" sz="1300" dirty="0"/>
          </a:p>
        </p:txBody>
      </p:sp>
      <p:sp>
        <p:nvSpPr>
          <p:cNvPr id="12" name="Text 9"/>
          <p:cNvSpPr/>
          <p:nvPr/>
        </p:nvSpPr>
        <p:spPr>
          <a:xfrm>
            <a:off x="6309360" y="2331720"/>
            <a:ext cx="5486400" cy="274320"/>
          </a:xfrm>
          <a:prstGeom prst="rect">
            <a:avLst/>
          </a:prstGeom>
          <a:noFill/>
          <a:ln/>
        </p:spPr>
        <p:txBody>
          <a:bodyPr wrap="square" lIns="0" tIns="0" rIns="0" bIns="0" rtlCol="0" anchor="ctr"/>
          <a:lstStyle/>
          <a:p>
            <a:pPr indent="0" marL="0">
              <a:buNone/>
            </a:pPr>
            <a:r>
              <a:rPr lang="en-US" sz="1300" b="1" spc="100" kern="0" dirty="0">
                <a:solidFill>
                  <a:srgbClr val="1A73E8"/>
                </a:solidFill>
                <a:latin typeface="Calibri" pitchFamily="34" charset="0"/>
                <a:ea typeface="Calibri" pitchFamily="34" charset="-122"/>
                <a:cs typeface="Calibri" pitchFamily="34" charset="-120"/>
              </a:rPr>
              <a:t>LES 2 SERVICES</a:t>
            </a:r>
            <a:endParaRPr lang="en-US" sz="13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309360" y="2651760"/>
          <a:ext cx="5349240" cy="914400"/>
        </p:xfrm>
        <a:graphic>
          <a:graphicData uri="http://schemas.openxmlformats.org/drawingml/2006/table">
            <a:tbl>
              <a:tblPr/>
              <a:tblGrid>
                <a:gridCol w="2286000"/>
                <a:gridCol w="3063240"/>
              </a:tblGrid>
              <a:tr h="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Service</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A73E8"/>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Rôle / coût</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A73E8"/>
                    </a:solidFill>
                  </a:tcPr>
                </a:tc>
              </a:tr>
              <a:tr h="0">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Cloud Run CPU</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Signaling WebRTC · ~2 $/mois</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r>
              <a:tr h="0">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Cloud Run GPU L4</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VAD+ASR+MT+TTS · ~33 $/mois</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r>
            </a:tbl>
          </a:graphicData>
        </a:graphic>
      </p:graphicFrame>
      <p:sp>
        <p:nvSpPr>
          <p:cNvPr id="14" name="Shape 10"/>
          <p:cNvSpPr/>
          <p:nvPr/>
        </p:nvSpPr>
        <p:spPr>
          <a:xfrm>
            <a:off x="548640" y="4983480"/>
            <a:ext cx="11064240" cy="960120"/>
          </a:xfrm>
          <a:prstGeom prst="rect">
            <a:avLst/>
          </a:prstGeom>
          <a:solidFill>
            <a:srgbClr val="EEF2FB"/>
          </a:solidFill>
          <a:ln/>
        </p:spPr>
      </p:sp>
      <p:sp>
        <p:nvSpPr>
          <p:cNvPr id="15" name="Shape 11"/>
          <p:cNvSpPr/>
          <p:nvPr/>
        </p:nvSpPr>
        <p:spPr>
          <a:xfrm>
            <a:off x="548640" y="4983480"/>
            <a:ext cx="91440" cy="960120"/>
          </a:xfrm>
          <a:prstGeom prst="rect">
            <a:avLst/>
          </a:prstGeom>
          <a:solidFill>
            <a:srgbClr val="4285F4"/>
          </a:solidFill>
          <a:ln/>
        </p:spPr>
      </p:sp>
      <p:sp>
        <p:nvSpPr>
          <p:cNvPr id="16" name="Text 12"/>
          <p:cNvSpPr/>
          <p:nvPr/>
        </p:nvSpPr>
        <p:spPr>
          <a:xfrm>
            <a:off x="786384" y="5056632"/>
            <a:ext cx="10680192" cy="813816"/>
          </a:xfrm>
          <a:prstGeom prst="rect">
            <a:avLst/>
          </a:prstGeom>
          <a:noFill/>
          <a:ln/>
        </p:spPr>
        <p:txBody>
          <a:bodyPr wrap="square" lIns="0" tIns="0" rIns="0" bIns="0" rtlCol="0" anchor="ctr"/>
          <a:lstStyle/>
          <a:p>
            <a:pPr indent="0" marL="0">
              <a:buNone/>
            </a:pPr>
            <a:r>
              <a:rPr lang="en-US" sz="1100" b="1" dirty="0">
                <a:solidFill>
                  <a:srgbClr val="1A73E8"/>
                </a:solidFill>
                <a:latin typeface="Calibri" pitchFamily="34" charset="0"/>
                <a:ea typeface="Calibri" pitchFamily="34" charset="-122"/>
                <a:cs typeface="Calibri" pitchFamily="34" charset="-120"/>
              </a:rPr>
              <a:t>GPU SANS PILOTE À INSTALLER   </a:t>
            </a:r>
            <a:pPr indent="0" marL="0">
              <a:buNone/>
            </a:pPr>
            <a:r>
              <a:rPr lang="en-US" sz="1200" dirty="0">
                <a:solidFill>
                  <a:srgbClr val="202124"/>
                </a:solidFill>
                <a:latin typeface="Calibri" pitchFamily="34" charset="0"/>
                <a:ea typeface="Calibri" pitchFamily="34" charset="-122"/>
                <a:cs typeface="Calibri" pitchFamily="34" charset="-120"/>
              </a:rPr>
              <a:t>Les pilotes NVIDIA sont montés automatiquement (/usr/local/nvidia). L4 exige au minimum 8 vCPU et 32 Gio de RAM sur Cloud Run, et 1 seul GPU par instance.</a:t>
            </a:r>
            <a:endParaRPr lang="en-US" sz="1100" dirty="0"/>
          </a:p>
        </p:txBody>
      </p:sp>
      <p:sp>
        <p:nvSpPr>
          <p:cNvPr id="17" name="Text 13"/>
          <p:cNvSpPr/>
          <p:nvPr/>
        </p:nvSpPr>
        <p:spPr>
          <a:xfrm>
            <a:off x="548640" y="6510528"/>
            <a:ext cx="11155680" cy="274320"/>
          </a:xfrm>
          <a:prstGeom prst="rect">
            <a:avLst/>
          </a:prstGeom>
          <a:noFill/>
          <a:ln/>
        </p:spPr>
        <p:txBody>
          <a:bodyPr wrap="square" lIns="0" tIns="0" rIns="0" bIns="0" rtlCol="0" anchor="ctr"/>
          <a:lstStyle/>
          <a:p>
            <a:pPr indent="0" marL="0">
              <a:buNone/>
            </a:pPr>
            <a:r>
              <a:rPr lang="en-US" sz="950" i="1" dirty="0">
                <a:solidFill>
                  <a:srgbClr val="5F6368"/>
                </a:solidFill>
                <a:latin typeface="Calibri" pitchFamily="34" charset="0"/>
                <a:ea typeface="Calibri" pitchFamily="34" charset="-122"/>
                <a:cs typeface="Calibri" pitchFamily="34" charset="-120"/>
              </a:rPr>
              <a:t>Source : README §5.2, §18.3 — doc : cloud.google.com/run/docs</a:t>
            </a:r>
            <a:endParaRPr lang="en-US" sz="950" dirty="0"/>
          </a:p>
        </p:txBody>
      </p:sp>
      <p:sp>
        <p:nvSpPr>
          <p:cNvPr id="18" name="Text 14"/>
          <p:cNvSpPr/>
          <p:nvPr/>
        </p:nvSpPr>
        <p:spPr>
          <a:xfrm>
            <a:off x="5212080" y="4450588"/>
            <a:ext cx="3200400" cy="182880"/>
          </a:xfrm>
          <a:prstGeom prst="rect">
            <a:avLst/>
          </a:prstGeom>
          <a:noFill/>
          <a:ln/>
        </p:spPr>
        <p:txBody>
          <a:bodyPr wrap="square" lIns="0" tIns="0" rIns="0" bIns="0" rtlCol="0" anchor="ctr"/>
          <a:lstStyle/>
          <a:p>
            <a:pPr indent="0" marL="0">
              <a:buNone/>
            </a:pPr>
            <a:r>
              <a:rPr lang="en-US" sz="850" b="1" dirty="0">
                <a:solidFill>
                  <a:srgbClr val="97A1B5"/>
                </a:solidFill>
                <a:latin typeface="Calibri" pitchFamily="34" charset="0"/>
                <a:ea typeface="Calibri" pitchFamily="34" charset="-122"/>
                <a:cs typeface="Calibri" pitchFamily="34" charset="-120"/>
              </a:rPr>
              <a:t>Tsantaniaina Rakotonjanahary Ambaorasoa Guillaume</a:t>
            </a:r>
            <a:endParaRPr lang="en-US" sz="850" dirty="0"/>
          </a:p>
        </p:txBody>
      </p:sp>
      <p:sp>
        <p:nvSpPr>
          <p:cNvPr id="19" name="Shape 15"/>
          <p:cNvSpPr/>
          <p:nvPr/>
        </p:nvSpPr>
        <p:spPr>
          <a:xfrm>
            <a:off x="11137392" y="5852160"/>
            <a:ext cx="914400" cy="914400"/>
          </a:xfrm>
          <a:prstGeom prst="roundRect">
            <a:avLst>
              <a:gd name="adj" fmla="val 10000"/>
            </a:avLst>
          </a:prstGeom>
          <a:solidFill>
            <a:srgbClr val="FFFFFF"/>
          </a:solidFill>
          <a:ln w="12700">
            <a:solidFill>
              <a:srgbClr val="D6DEEC"/>
            </a:solidFill>
            <a:prstDash val="solid"/>
          </a:ln>
          <a:effectLst>
            <a:outerShdw sx="100000" sy="100000" kx="0" ky="0" algn="bl" rotWithShape="0" blurRad="88900" dist="38100" dir="5400000">
              <a:srgbClr val="8A94AD">
                <a:alpha val="26000"/>
              </a:srgbClr>
            </a:outerShdw>
          </a:effectLst>
        </p:spPr>
      </p:sp>
      <p:pic>
        <p:nvPicPr>
          <p:cNvPr id="20" name="Image 1" descr="logos/logo_mdn.png">    </p:cNvPr>
          <p:cNvPicPr>
            <a:picLocks noChangeAspect="1"/>
          </p:cNvPicPr>
          <p:nvPr/>
        </p:nvPicPr>
        <p:blipFill>
          <a:blip r:embed="rId2"/>
          <a:stretch>
            <a:fillRect/>
          </a:stretch>
        </p:blipFill>
        <p:spPr>
          <a:xfrm>
            <a:off x="11237976" y="5952744"/>
            <a:ext cx="713232" cy="713232"/>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4285F4"/>
          </a:solidFill>
          <a:ln/>
        </p:spPr>
      </p:sp>
      <p:sp>
        <p:nvSpPr>
          <p:cNvPr id="3" name="Shape 1"/>
          <p:cNvSpPr/>
          <p:nvPr/>
        </p:nvSpPr>
        <p:spPr>
          <a:xfrm>
            <a:off x="146304" y="0"/>
            <a:ext cx="12042648" cy="1078992"/>
          </a:xfrm>
          <a:prstGeom prst="rect">
            <a:avLst/>
          </a:prstGeom>
          <a:solidFill>
            <a:srgbClr val="1B2A4A"/>
          </a:solidFill>
          <a:ln/>
        </p:spPr>
      </p:sp>
      <p:sp>
        <p:nvSpPr>
          <p:cNvPr id="4" name="Text 2"/>
          <p:cNvSpPr/>
          <p:nvPr/>
        </p:nvSpPr>
        <p:spPr>
          <a:xfrm>
            <a:off x="548640" y="182880"/>
            <a:ext cx="9601200" cy="292608"/>
          </a:xfrm>
          <a:prstGeom prst="rect">
            <a:avLst/>
          </a:prstGeom>
          <a:noFill/>
          <a:ln/>
        </p:spPr>
        <p:txBody>
          <a:bodyPr wrap="square" lIns="0" tIns="0" rIns="0" bIns="0" rtlCol="0" anchor="ctr"/>
          <a:lstStyle/>
          <a:p>
            <a:pPr indent="0" marL="0">
              <a:buNone/>
            </a:pPr>
            <a:r>
              <a:rPr lang="en-US" sz="1200" b="1" spc="150" kern="0" dirty="0">
                <a:solidFill>
                  <a:srgbClr val="8AB4F8"/>
                </a:solidFill>
                <a:latin typeface="Calibri" pitchFamily="34" charset="0"/>
                <a:ea typeface="Calibri" pitchFamily="34" charset="-122"/>
                <a:cs typeface="Calibri" pitchFamily="34" charset="-120"/>
              </a:rPr>
              <a:t>CHAQUE FLAG EXPLIQUÉ</a:t>
            </a:r>
            <a:endParaRPr lang="en-US" sz="1200" dirty="0"/>
          </a:p>
        </p:txBody>
      </p:sp>
      <p:sp>
        <p:nvSpPr>
          <p:cNvPr id="5" name="Text 3"/>
          <p:cNvSpPr/>
          <p:nvPr/>
        </p:nvSpPr>
        <p:spPr>
          <a:xfrm>
            <a:off x="530352" y="438912"/>
            <a:ext cx="9692640" cy="566928"/>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Cloud Run GPU — la commande de déploiement</a:t>
            </a:r>
            <a:endParaRPr lang="en-US" sz="2700" dirty="0"/>
          </a:p>
        </p:txBody>
      </p:sp>
      <p:sp>
        <p:nvSpPr>
          <p:cNvPr id="6" name="Text 4"/>
          <p:cNvSpPr/>
          <p:nvPr/>
        </p:nvSpPr>
        <p:spPr>
          <a:xfrm>
            <a:off x="8229600" y="182880"/>
            <a:ext cx="1828800" cy="274320"/>
          </a:xfrm>
          <a:prstGeom prst="rect">
            <a:avLst/>
          </a:prstGeom>
          <a:noFill/>
          <a:ln/>
        </p:spPr>
        <p:txBody>
          <a:bodyPr wrap="square" lIns="0" tIns="0" rIns="0" bIns="0" rtlCol="0" anchor="ctr"/>
          <a:lstStyle/>
          <a:p>
            <a:pPr algn="r" indent="0" marL="0">
              <a:buNone/>
            </a:pPr>
            <a:r>
              <a:rPr lang="en-US" sz="1050" b="1" spc="100" kern="0" dirty="0">
                <a:solidFill>
                  <a:srgbClr val="8FA0C4"/>
                </a:solidFill>
                <a:latin typeface="Calibri" pitchFamily="34" charset="0"/>
                <a:ea typeface="Calibri" pitchFamily="34" charset="-122"/>
                <a:cs typeface="Calibri" pitchFamily="34" charset="-120"/>
              </a:rPr>
              <a:t>PARTIE 2</a:t>
            </a:r>
            <a:endParaRPr lang="en-US" sz="1050" dirty="0"/>
          </a:p>
        </p:txBody>
      </p:sp>
      <p:sp>
        <p:nvSpPr>
          <p:cNvPr id="7" name="Shape 5"/>
          <p:cNvSpPr/>
          <p:nvPr/>
        </p:nvSpPr>
        <p:spPr>
          <a:xfrm>
            <a:off x="10927080" y="237744"/>
            <a:ext cx="603504" cy="603504"/>
          </a:xfrm>
          <a:prstGeom prst="roundRect">
            <a:avLst>
              <a:gd name="adj" fmla="val 12121"/>
            </a:avLst>
          </a:prstGeom>
          <a:solidFill>
            <a:srgbClr val="FFFFFF"/>
          </a:solidFill>
          <a:ln/>
        </p:spPr>
      </p:sp>
      <p:pic>
        <p:nvPicPr>
          <p:cNvPr id="8" name="Image 0" descr="logos/02_cloud_run_gpu.png">    </p:cNvPr>
          <p:cNvPicPr>
            <a:picLocks noChangeAspect="1"/>
          </p:cNvPicPr>
          <p:nvPr/>
        </p:nvPicPr>
        <p:blipFill>
          <a:blip r:embed="rId1"/>
          <a:stretch>
            <a:fillRect/>
          </a:stretch>
        </p:blipFill>
        <p:spPr>
          <a:xfrm>
            <a:off x="10991088" y="301752"/>
            <a:ext cx="475488" cy="475488"/>
          </a:xfrm>
          <a:prstGeom prst="rect">
            <a:avLst/>
          </a:prstGeom>
        </p:spPr>
      </p:pic>
      <p:sp>
        <p:nvSpPr>
          <p:cNvPr id="9" name="Shape 6"/>
          <p:cNvSpPr/>
          <p:nvPr/>
        </p:nvSpPr>
        <p:spPr>
          <a:xfrm>
            <a:off x="548640" y="1325880"/>
            <a:ext cx="5577840" cy="3611880"/>
          </a:xfrm>
          <a:prstGeom prst="rect">
            <a:avLst/>
          </a:prstGeom>
          <a:solidFill>
            <a:srgbClr val="0E1A33"/>
          </a:solidFill>
          <a:ln/>
          <a:effectLst>
            <a:outerShdw sx="100000" sy="100000" kx="0" ky="0" algn="bl" rotWithShape="0" blurRad="88900" dist="38100" dir="5400000">
              <a:srgbClr val="8A94AD">
                <a:alpha val="26000"/>
              </a:srgbClr>
            </a:outerShdw>
          </a:effectLst>
        </p:spPr>
      </p:sp>
      <p:sp>
        <p:nvSpPr>
          <p:cNvPr id="10" name="Text 7"/>
          <p:cNvSpPr/>
          <p:nvPr/>
        </p:nvSpPr>
        <p:spPr>
          <a:xfrm>
            <a:off x="713232" y="1435608"/>
            <a:ext cx="5248656" cy="3392424"/>
          </a:xfrm>
          <a:prstGeom prst="rect">
            <a:avLst/>
          </a:prstGeom>
          <a:noFill/>
          <a:ln/>
        </p:spPr>
        <p:txBody>
          <a:bodyPr wrap="square" lIns="0" tIns="0" rIns="0" bIns="0" rtlCol="0" anchor="t"/>
          <a:lstStyle/>
          <a:p>
            <a:pPr indent="0" marL="0">
              <a:buNone/>
            </a:pPr>
            <a:r>
              <a:rPr lang="en-US" sz="950" dirty="0">
                <a:solidFill>
                  <a:srgbClr val="DCE3F2"/>
                </a:solidFill>
                <a:latin typeface="Consolas" pitchFamily="34" charset="0"/>
                <a:ea typeface="Consolas" pitchFamily="34" charset="-122"/>
                <a:cs typeface="Consolas" pitchFamily="34" charset="-120"/>
              </a:rPr>
              <a:t>gcloud run deploy mgvaovao-inference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--image=.../inference:{SHA}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--region=us-central1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--platform=managed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--gpu=1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--gpu-type=nvidia-l4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--cpu=8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--memory=32Gi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--no-cpu-throttling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--no-gpu-zonal-redundancy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--concurrency=1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--min-instances=0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--max-instances=2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--timeout=300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--port=8080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--set-env-vars=MGVAOVAO_DEVICE=cuda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--allow-unauthenticated</a:t>
            </a:r>
            <a:endParaRPr lang="en-US" sz="9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309360" y="1325880"/>
          <a:ext cx="5349240" cy="914400"/>
        </p:xfrm>
        <a:graphic>
          <a:graphicData uri="http://schemas.openxmlformats.org/drawingml/2006/table">
            <a:tbl>
              <a:tblPr/>
              <a:tblGrid>
                <a:gridCol w="2331720"/>
                <a:gridCol w="3017520"/>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Flag</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A73E8"/>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Pourquoi</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A73E8"/>
                    </a:solidFill>
                  </a:tcPr>
                </a:tc>
              </a:tr>
              <a:tr h="0">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--gpu-type nvidia-l4</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24 GB VRAM, GA 2025</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r>
              <a:tr h="0">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--cpu 8 / --memory 32Gi</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minimum L4 sur Run</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--no-cpu-throttling</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CPU pour scheduling GPU</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r>
              <a:tr h="0">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--concurrency 1</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1 session WS / instance</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--min/--max 0 / 2</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scale-to-zero, max 2</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r>
              <a:tr h="0">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--timeout 300</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sessions WS longues</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--port 8080</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port fixe Cloud Run</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r>
            </a:tbl>
          </a:graphicData>
        </a:graphic>
      </p:graphicFrame>
      <p:sp>
        <p:nvSpPr>
          <p:cNvPr id="12" name="Text 8"/>
          <p:cNvSpPr/>
          <p:nvPr/>
        </p:nvSpPr>
        <p:spPr>
          <a:xfrm>
            <a:off x="548640" y="6510528"/>
            <a:ext cx="11155680" cy="274320"/>
          </a:xfrm>
          <a:prstGeom prst="rect">
            <a:avLst/>
          </a:prstGeom>
          <a:noFill/>
          <a:ln/>
        </p:spPr>
        <p:txBody>
          <a:bodyPr wrap="square" lIns="0" tIns="0" rIns="0" bIns="0" rtlCol="0" anchor="ctr"/>
          <a:lstStyle/>
          <a:p>
            <a:pPr indent="0" marL="0">
              <a:buNone/>
            </a:pPr>
            <a:r>
              <a:rPr lang="en-US" sz="950" i="1" dirty="0">
                <a:solidFill>
                  <a:srgbClr val="5F6368"/>
                </a:solidFill>
                <a:latin typeface="Calibri" pitchFamily="34" charset="0"/>
                <a:ea typeface="Calibri" pitchFamily="34" charset="-122"/>
                <a:cs typeface="Calibri" pitchFamily="34" charset="-120"/>
              </a:rPr>
              <a:t>Source : README §18.3 — commande de déploiement + tableau des flags</a:t>
            </a:r>
            <a:endParaRPr lang="en-US" sz="950" dirty="0"/>
          </a:p>
        </p:txBody>
      </p:sp>
      <p:sp>
        <p:nvSpPr>
          <p:cNvPr id="13" name="Text 9"/>
          <p:cNvSpPr/>
          <p:nvPr/>
        </p:nvSpPr>
        <p:spPr>
          <a:xfrm>
            <a:off x="548640" y="5596128"/>
            <a:ext cx="3200400" cy="182880"/>
          </a:xfrm>
          <a:prstGeom prst="rect">
            <a:avLst/>
          </a:prstGeom>
          <a:noFill/>
          <a:ln/>
        </p:spPr>
        <p:txBody>
          <a:bodyPr wrap="square" lIns="0" tIns="0" rIns="0" bIns="0" rtlCol="0" anchor="ctr"/>
          <a:lstStyle/>
          <a:p>
            <a:pPr indent="0" marL="0">
              <a:buNone/>
            </a:pPr>
            <a:r>
              <a:rPr lang="en-US" sz="850" b="1" dirty="0">
                <a:solidFill>
                  <a:srgbClr val="97A1B5"/>
                </a:solidFill>
                <a:latin typeface="Calibri" pitchFamily="34" charset="0"/>
                <a:ea typeface="Calibri" pitchFamily="34" charset="-122"/>
                <a:cs typeface="Calibri" pitchFamily="34" charset="-120"/>
              </a:rPr>
              <a:t>Tsantaniaina Rakotonjanahary Ambaorasoa Guillaume</a:t>
            </a:r>
            <a:endParaRPr lang="en-US" sz="850" dirty="0"/>
          </a:p>
        </p:txBody>
      </p:sp>
      <p:sp>
        <p:nvSpPr>
          <p:cNvPr id="14" name="Shape 10"/>
          <p:cNvSpPr/>
          <p:nvPr/>
        </p:nvSpPr>
        <p:spPr>
          <a:xfrm>
            <a:off x="11137392" y="5852160"/>
            <a:ext cx="914400" cy="914400"/>
          </a:xfrm>
          <a:prstGeom prst="roundRect">
            <a:avLst>
              <a:gd name="adj" fmla="val 10000"/>
            </a:avLst>
          </a:prstGeom>
          <a:solidFill>
            <a:srgbClr val="FFFFFF"/>
          </a:solidFill>
          <a:ln w="12700">
            <a:solidFill>
              <a:srgbClr val="D6DEEC"/>
            </a:solidFill>
            <a:prstDash val="solid"/>
          </a:ln>
          <a:effectLst>
            <a:outerShdw sx="100000" sy="100000" kx="0" ky="0" algn="bl" rotWithShape="0" blurRad="88900" dist="38100" dir="5400000">
              <a:srgbClr val="8A94AD">
                <a:alpha val="26000"/>
              </a:srgbClr>
            </a:outerShdw>
          </a:effectLst>
        </p:spPr>
      </p:sp>
      <p:pic>
        <p:nvPicPr>
          <p:cNvPr id="15" name="Image 1" descr="logos/logo_mdn.png">    </p:cNvPr>
          <p:cNvPicPr>
            <a:picLocks noChangeAspect="1"/>
          </p:cNvPicPr>
          <p:nvPr/>
        </p:nvPicPr>
        <p:blipFill>
          <a:blip r:embed="rId2"/>
          <a:stretch>
            <a:fillRect/>
          </a:stretch>
        </p:blipFill>
        <p:spPr>
          <a:xfrm>
            <a:off x="11237976" y="5952744"/>
            <a:ext cx="713232" cy="713232"/>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4285F4"/>
          </a:solidFill>
          <a:ln/>
        </p:spPr>
      </p:sp>
      <p:sp>
        <p:nvSpPr>
          <p:cNvPr id="3" name="Shape 1"/>
          <p:cNvSpPr/>
          <p:nvPr/>
        </p:nvSpPr>
        <p:spPr>
          <a:xfrm>
            <a:off x="146304" y="0"/>
            <a:ext cx="12042648" cy="1078992"/>
          </a:xfrm>
          <a:prstGeom prst="rect">
            <a:avLst/>
          </a:prstGeom>
          <a:solidFill>
            <a:srgbClr val="1B2A4A"/>
          </a:solidFill>
          <a:ln/>
        </p:spPr>
      </p:sp>
      <p:sp>
        <p:nvSpPr>
          <p:cNvPr id="4" name="Text 2"/>
          <p:cNvSpPr/>
          <p:nvPr/>
        </p:nvSpPr>
        <p:spPr>
          <a:xfrm>
            <a:off x="548640" y="182880"/>
            <a:ext cx="9601200" cy="292608"/>
          </a:xfrm>
          <a:prstGeom prst="rect">
            <a:avLst/>
          </a:prstGeom>
          <a:noFill/>
          <a:ln/>
        </p:spPr>
        <p:txBody>
          <a:bodyPr wrap="square" lIns="0" tIns="0" rIns="0" bIns="0" rtlCol="0" anchor="ctr"/>
          <a:lstStyle/>
          <a:p>
            <a:pPr indent="0" marL="0">
              <a:buNone/>
            </a:pPr>
            <a:r>
              <a:rPr lang="en-US" sz="1200" b="1" spc="150" kern="0" dirty="0">
                <a:solidFill>
                  <a:srgbClr val="8AB4F8"/>
                </a:solidFill>
                <a:latin typeface="Calibri" pitchFamily="34" charset="0"/>
                <a:ea typeface="Calibri" pitchFamily="34" charset="-122"/>
                <a:cs typeface="Calibri" pitchFamily="34" charset="-120"/>
              </a:rPr>
              <a:t>TESTER LE SERVICE ET COMPRENDRE LE COLD START</a:t>
            </a:r>
            <a:endParaRPr lang="en-US" sz="1200" dirty="0"/>
          </a:p>
        </p:txBody>
      </p:sp>
      <p:sp>
        <p:nvSpPr>
          <p:cNvPr id="5" name="Text 3"/>
          <p:cNvSpPr/>
          <p:nvPr/>
        </p:nvSpPr>
        <p:spPr>
          <a:xfrm>
            <a:off x="530352" y="438912"/>
            <a:ext cx="9692640" cy="566928"/>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Cloud Run — vérifier &amp; démarrage à froid</a:t>
            </a:r>
            <a:endParaRPr lang="en-US" sz="2700" dirty="0"/>
          </a:p>
        </p:txBody>
      </p:sp>
      <p:sp>
        <p:nvSpPr>
          <p:cNvPr id="6" name="Text 4"/>
          <p:cNvSpPr/>
          <p:nvPr/>
        </p:nvSpPr>
        <p:spPr>
          <a:xfrm>
            <a:off x="8229600" y="182880"/>
            <a:ext cx="1828800" cy="274320"/>
          </a:xfrm>
          <a:prstGeom prst="rect">
            <a:avLst/>
          </a:prstGeom>
          <a:noFill/>
          <a:ln/>
        </p:spPr>
        <p:txBody>
          <a:bodyPr wrap="square" lIns="0" tIns="0" rIns="0" bIns="0" rtlCol="0" anchor="ctr"/>
          <a:lstStyle/>
          <a:p>
            <a:pPr algn="r" indent="0" marL="0">
              <a:buNone/>
            </a:pPr>
            <a:r>
              <a:rPr lang="en-US" sz="1050" b="1" spc="100" kern="0" dirty="0">
                <a:solidFill>
                  <a:srgbClr val="8FA0C4"/>
                </a:solidFill>
                <a:latin typeface="Calibri" pitchFamily="34" charset="0"/>
                <a:ea typeface="Calibri" pitchFamily="34" charset="-122"/>
                <a:cs typeface="Calibri" pitchFamily="34" charset="-120"/>
              </a:rPr>
              <a:t>PARTIE 2</a:t>
            </a:r>
            <a:endParaRPr lang="en-US" sz="1050" dirty="0"/>
          </a:p>
        </p:txBody>
      </p:sp>
      <p:sp>
        <p:nvSpPr>
          <p:cNvPr id="7" name="Shape 5"/>
          <p:cNvSpPr/>
          <p:nvPr/>
        </p:nvSpPr>
        <p:spPr>
          <a:xfrm>
            <a:off x="10927080" y="237744"/>
            <a:ext cx="603504" cy="603504"/>
          </a:xfrm>
          <a:prstGeom prst="roundRect">
            <a:avLst>
              <a:gd name="adj" fmla="val 12121"/>
            </a:avLst>
          </a:prstGeom>
          <a:solidFill>
            <a:srgbClr val="FFFFFF"/>
          </a:solidFill>
          <a:ln/>
        </p:spPr>
      </p:sp>
      <p:pic>
        <p:nvPicPr>
          <p:cNvPr id="8" name="Image 0" descr="logos/01_cloud_run.png">    </p:cNvPr>
          <p:cNvPicPr>
            <a:picLocks noChangeAspect="1"/>
          </p:cNvPicPr>
          <p:nvPr/>
        </p:nvPicPr>
        <p:blipFill>
          <a:blip r:embed="rId1"/>
          <a:stretch>
            <a:fillRect/>
          </a:stretch>
        </p:blipFill>
        <p:spPr>
          <a:xfrm>
            <a:off x="10991088" y="301752"/>
            <a:ext cx="475488" cy="475488"/>
          </a:xfrm>
          <a:prstGeom prst="rect">
            <a:avLst/>
          </a:prstGeom>
        </p:spPr>
      </p:pic>
      <p:sp>
        <p:nvSpPr>
          <p:cNvPr id="9" name="Text 6"/>
          <p:cNvSpPr/>
          <p:nvPr/>
        </p:nvSpPr>
        <p:spPr>
          <a:xfrm>
            <a:off x="548640" y="1325880"/>
            <a:ext cx="5486400" cy="274320"/>
          </a:xfrm>
          <a:prstGeom prst="rect">
            <a:avLst/>
          </a:prstGeom>
          <a:noFill/>
          <a:ln/>
        </p:spPr>
        <p:txBody>
          <a:bodyPr wrap="square" lIns="0" tIns="0" rIns="0" bIns="0" rtlCol="0" anchor="ctr"/>
          <a:lstStyle/>
          <a:p>
            <a:pPr indent="0" marL="0">
              <a:buNone/>
            </a:pPr>
            <a:r>
              <a:rPr lang="en-US" sz="1300" b="1" spc="100" kern="0" dirty="0">
                <a:solidFill>
                  <a:srgbClr val="1A73E8"/>
                </a:solidFill>
                <a:latin typeface="Calibri" pitchFamily="34" charset="0"/>
                <a:ea typeface="Calibri" pitchFamily="34" charset="-122"/>
                <a:cs typeface="Calibri" pitchFamily="34" charset="-120"/>
              </a:rPr>
              <a:t>VÉRIFIER LE DÉPLOIEMENT</a:t>
            </a:r>
            <a:endParaRPr lang="en-US" sz="1300" dirty="0"/>
          </a:p>
        </p:txBody>
      </p:sp>
      <p:sp>
        <p:nvSpPr>
          <p:cNvPr id="10" name="Shape 7"/>
          <p:cNvSpPr/>
          <p:nvPr/>
        </p:nvSpPr>
        <p:spPr>
          <a:xfrm>
            <a:off x="548640" y="1645920"/>
            <a:ext cx="5486400" cy="2286000"/>
          </a:xfrm>
          <a:prstGeom prst="rect">
            <a:avLst/>
          </a:prstGeom>
          <a:solidFill>
            <a:srgbClr val="0E1A33"/>
          </a:solidFill>
          <a:ln/>
          <a:effectLst>
            <a:outerShdw sx="100000" sy="100000" kx="0" ky="0" algn="bl" rotWithShape="0" blurRad="88900" dist="38100" dir="5400000">
              <a:srgbClr val="8A94AD">
                <a:alpha val="26000"/>
              </a:srgbClr>
            </a:outerShdw>
          </a:effectLst>
        </p:spPr>
      </p:sp>
      <p:sp>
        <p:nvSpPr>
          <p:cNvPr id="11" name="Text 8"/>
          <p:cNvSpPr/>
          <p:nvPr/>
        </p:nvSpPr>
        <p:spPr>
          <a:xfrm>
            <a:off x="713232" y="1755648"/>
            <a:ext cx="5157216" cy="2066544"/>
          </a:xfrm>
          <a:prstGeom prst="rect">
            <a:avLst/>
          </a:prstGeom>
          <a:noFill/>
          <a:ln/>
        </p:spPr>
        <p:txBody>
          <a:bodyPr wrap="square" lIns="0" tIns="0" rIns="0" bIns="0" rtlCol="0" anchor="t"/>
          <a:lstStyle/>
          <a:p>
            <a:pPr indent="0" marL="0">
              <a:buNone/>
            </a:pPr>
            <a:r>
              <a:rPr lang="en-US" sz="950" dirty="0">
                <a:solidFill>
                  <a:srgbClr val="7F8CA8"/>
                </a:solidFill>
                <a:latin typeface="Consolas" pitchFamily="34" charset="0"/>
                <a:ea typeface="Consolas" pitchFamily="34" charset="-122"/>
                <a:cs typeface="Consolas" pitchFamily="34" charset="-120"/>
              </a:rPr>
              <a:t># URL du service</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gcloud run services describe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mgvaovao-inference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--region=us-central1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--format="value(status.url)"</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a:t>
            </a:r>
            <a:endParaRPr lang="en-US" sz="950" dirty="0"/>
          </a:p>
          <a:p>
            <a:pPr indent="0" marL="0">
              <a:buNone/>
            </a:pPr>
            <a:r>
              <a:rPr lang="en-US" sz="950" dirty="0">
                <a:solidFill>
                  <a:srgbClr val="7F8CA8"/>
                </a:solidFill>
                <a:latin typeface="Consolas" pitchFamily="34" charset="0"/>
                <a:ea typeface="Consolas" pitchFamily="34" charset="-122"/>
                <a:cs typeface="Consolas" pitchFamily="34" charset="-120"/>
              </a:rPr>
              <a:t># Santé / disponibilité</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curl $URL/health   # {"status":"ok"}</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curl $URL/ready    # 503 puis 200</a:t>
            </a:r>
            <a:endParaRPr lang="en-US" sz="950" dirty="0"/>
          </a:p>
          <a:p>
            <a:pPr indent="0" marL="0">
              <a:buNone/>
            </a:pPr>
            <a:r>
              <a:rPr lang="en-US" sz="950" dirty="0">
                <a:solidFill>
                  <a:srgbClr val="7F8CA8"/>
                </a:solidFill>
                <a:latin typeface="Consolas" pitchFamily="34" charset="0"/>
                <a:ea typeface="Consolas" pitchFamily="34" charset="-122"/>
                <a:cs typeface="Consolas" pitchFamily="34" charset="-120"/>
              </a:rPr>
              <a:t># UI temps réel : $URL/live</a:t>
            </a:r>
            <a:endParaRPr lang="en-US" sz="950" dirty="0"/>
          </a:p>
        </p:txBody>
      </p:sp>
      <p:sp>
        <p:nvSpPr>
          <p:cNvPr id="12" name="Text 9"/>
          <p:cNvSpPr/>
          <p:nvPr/>
        </p:nvSpPr>
        <p:spPr>
          <a:xfrm>
            <a:off x="6309360" y="1325880"/>
            <a:ext cx="5486400" cy="274320"/>
          </a:xfrm>
          <a:prstGeom prst="rect">
            <a:avLst/>
          </a:prstGeom>
          <a:noFill/>
          <a:ln/>
        </p:spPr>
        <p:txBody>
          <a:bodyPr wrap="square" lIns="0" tIns="0" rIns="0" bIns="0" rtlCol="0" anchor="ctr"/>
          <a:lstStyle/>
          <a:p>
            <a:pPr indent="0" marL="0">
              <a:buNone/>
            </a:pPr>
            <a:r>
              <a:rPr lang="en-US" sz="1300" b="1" spc="100" kern="0" dirty="0">
                <a:solidFill>
                  <a:srgbClr val="1A73E8"/>
                </a:solidFill>
                <a:latin typeface="Calibri" pitchFamily="34" charset="0"/>
                <a:ea typeface="Calibri" pitchFamily="34" charset="-122"/>
                <a:cs typeface="Calibri" pitchFamily="34" charset="-120"/>
              </a:rPr>
              <a:t>DÉMARRAGE À FROID (60–120 s)</a:t>
            </a:r>
            <a:endParaRPr lang="en-US" sz="1300" dirty="0"/>
          </a:p>
        </p:txBody>
      </p:sp>
      <p:sp>
        <p:nvSpPr>
          <p:cNvPr id="13" name="Shape 10"/>
          <p:cNvSpPr/>
          <p:nvPr/>
        </p:nvSpPr>
        <p:spPr>
          <a:xfrm>
            <a:off x="6309360" y="1691640"/>
            <a:ext cx="384048" cy="384048"/>
          </a:xfrm>
          <a:prstGeom prst="ellipse">
            <a:avLst/>
          </a:prstGeom>
          <a:solidFill>
            <a:srgbClr val="4285F4"/>
          </a:solidFill>
          <a:ln/>
        </p:spPr>
      </p:sp>
      <p:sp>
        <p:nvSpPr>
          <p:cNvPr id="14" name="Text 11"/>
          <p:cNvSpPr/>
          <p:nvPr/>
        </p:nvSpPr>
        <p:spPr>
          <a:xfrm>
            <a:off x="6309360" y="16916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5" name="Text 12"/>
          <p:cNvSpPr/>
          <p:nvPr/>
        </p:nvSpPr>
        <p:spPr>
          <a:xfrm>
            <a:off x="6839712" y="1636776"/>
            <a:ext cx="4818888" cy="841248"/>
          </a:xfrm>
          <a:prstGeom prst="rect">
            <a:avLst/>
          </a:prstGeom>
          <a:noFill/>
          <a:ln/>
        </p:spPr>
        <p:txBody>
          <a:bodyPr wrap="square" lIns="0" tIns="0" rIns="0" bIns="0" rtlCol="0" anchor="t"/>
          <a:lstStyle/>
          <a:p>
            <a:pPr indent="0" marL="0">
              <a:buNone/>
            </a:pPr>
            <a:r>
              <a:rPr lang="en-US" sz="1350" b="1" dirty="0">
                <a:solidFill>
                  <a:srgbClr val="202124"/>
                </a:solidFill>
                <a:latin typeface="Calibri" pitchFamily="34" charset="0"/>
                <a:ea typeface="Calibri" pitchFamily="34" charset="-122"/>
                <a:cs typeface="Calibri" pitchFamily="34" charset="-120"/>
              </a:rPr>
              <a:t>Conteneur + CUDA
</a:t>
            </a:r>
            <a:endParaRPr lang="en-US" sz="1350" dirty="0"/>
          </a:p>
          <a:p>
            <a:pPr indent="0" marL="0">
              <a:buNone/>
            </a:pPr>
            <a:r>
              <a:rPr lang="en-US" sz="1150" dirty="0">
                <a:solidFill>
                  <a:srgbClr val="5F6368"/>
                </a:solidFill>
                <a:latin typeface="Calibri" pitchFamily="34" charset="0"/>
                <a:ea typeface="Calibri" pitchFamily="34" charset="-122"/>
                <a:cs typeface="Calibri" pitchFamily="34" charset="-120"/>
              </a:rPr>
              <a:t>init driver (~10–15 s)</a:t>
            </a:r>
            <a:endParaRPr lang="en-US" sz="1350" dirty="0"/>
          </a:p>
        </p:txBody>
      </p:sp>
      <p:sp>
        <p:nvSpPr>
          <p:cNvPr id="16" name="Shape 13"/>
          <p:cNvSpPr/>
          <p:nvPr/>
        </p:nvSpPr>
        <p:spPr>
          <a:xfrm>
            <a:off x="6309360" y="2532888"/>
            <a:ext cx="384048" cy="384048"/>
          </a:xfrm>
          <a:prstGeom prst="ellipse">
            <a:avLst/>
          </a:prstGeom>
          <a:solidFill>
            <a:srgbClr val="4285F4"/>
          </a:solidFill>
          <a:ln/>
        </p:spPr>
      </p:sp>
      <p:sp>
        <p:nvSpPr>
          <p:cNvPr id="17" name="Text 14"/>
          <p:cNvSpPr/>
          <p:nvPr/>
        </p:nvSpPr>
        <p:spPr>
          <a:xfrm>
            <a:off x="6309360" y="25328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8" name="Text 15"/>
          <p:cNvSpPr/>
          <p:nvPr/>
        </p:nvSpPr>
        <p:spPr>
          <a:xfrm>
            <a:off x="6839712" y="2478024"/>
            <a:ext cx="4818888" cy="841248"/>
          </a:xfrm>
          <a:prstGeom prst="rect">
            <a:avLst/>
          </a:prstGeom>
          <a:noFill/>
          <a:ln/>
        </p:spPr>
        <p:txBody>
          <a:bodyPr wrap="square" lIns="0" tIns="0" rIns="0" bIns="0" rtlCol="0" anchor="t"/>
          <a:lstStyle/>
          <a:p>
            <a:pPr indent="0" marL="0">
              <a:buNone/>
            </a:pPr>
            <a:r>
              <a:rPr lang="en-US" sz="1350" b="1" dirty="0">
                <a:solidFill>
                  <a:srgbClr val="202124"/>
                </a:solidFill>
                <a:latin typeface="Calibri" pitchFamily="34" charset="0"/>
                <a:ea typeface="Calibri" pitchFamily="34" charset="-122"/>
                <a:cs typeface="Calibri" pitchFamily="34" charset="-120"/>
              </a:rPr>
              <a:t>Port 8080 ouvert
</a:t>
            </a:r>
            <a:endParaRPr lang="en-US" sz="1350" dirty="0"/>
          </a:p>
          <a:p>
            <a:pPr indent="0" marL="0">
              <a:buNone/>
            </a:pPr>
            <a:r>
              <a:rPr lang="en-US" sz="1150" dirty="0">
                <a:solidFill>
                  <a:srgbClr val="5F6368"/>
                </a:solidFill>
                <a:latin typeface="Calibri" pitchFamily="34" charset="0"/>
                <a:ea typeface="Calibri" pitchFamily="34" charset="-122"/>
                <a:cs typeface="Calibri" pitchFamily="34" charset="-120"/>
              </a:rPr>
              <a:t>/health répond aussitôt</a:t>
            </a:r>
            <a:endParaRPr lang="en-US" sz="1350" dirty="0"/>
          </a:p>
        </p:txBody>
      </p:sp>
      <p:sp>
        <p:nvSpPr>
          <p:cNvPr id="19" name="Shape 16"/>
          <p:cNvSpPr/>
          <p:nvPr/>
        </p:nvSpPr>
        <p:spPr>
          <a:xfrm>
            <a:off x="6309360" y="3374136"/>
            <a:ext cx="384048" cy="384048"/>
          </a:xfrm>
          <a:prstGeom prst="ellipse">
            <a:avLst/>
          </a:prstGeom>
          <a:solidFill>
            <a:srgbClr val="4285F4"/>
          </a:solidFill>
          <a:ln/>
        </p:spPr>
      </p:sp>
      <p:sp>
        <p:nvSpPr>
          <p:cNvPr id="20" name="Text 17"/>
          <p:cNvSpPr/>
          <p:nvPr/>
        </p:nvSpPr>
        <p:spPr>
          <a:xfrm>
            <a:off x="6309360" y="337413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6839712" y="3319272"/>
            <a:ext cx="4818888" cy="841248"/>
          </a:xfrm>
          <a:prstGeom prst="rect">
            <a:avLst/>
          </a:prstGeom>
          <a:noFill/>
          <a:ln/>
        </p:spPr>
        <p:txBody>
          <a:bodyPr wrap="square" lIns="0" tIns="0" rIns="0" bIns="0" rtlCol="0" anchor="t"/>
          <a:lstStyle/>
          <a:p>
            <a:pPr indent="0" marL="0">
              <a:buNone/>
            </a:pPr>
            <a:r>
              <a:rPr lang="en-US" sz="1350" b="1" dirty="0">
                <a:solidFill>
                  <a:srgbClr val="202124"/>
                </a:solidFill>
                <a:latin typeface="Calibri" pitchFamily="34" charset="0"/>
                <a:ea typeface="Calibri" pitchFamily="34" charset="-122"/>
                <a:cs typeface="Calibri" pitchFamily="34" charset="-120"/>
              </a:rPr>
              <a:t>Chargement modèles
</a:t>
            </a:r>
            <a:endParaRPr lang="en-US" sz="1350" dirty="0"/>
          </a:p>
          <a:p>
            <a:pPr indent="0" marL="0">
              <a:buNone/>
            </a:pPr>
            <a:r>
              <a:rPr lang="en-US" sz="1150" dirty="0">
                <a:solidFill>
                  <a:srgbClr val="5F6368"/>
                </a:solidFill>
                <a:latin typeface="Calibri" pitchFamily="34" charset="0"/>
                <a:ea typeface="Calibri" pitchFamily="34" charset="-122"/>
                <a:cs typeface="Calibri" pitchFamily="34" charset="-120"/>
              </a:rPr>
              <a:t>pull GCS + VAD/ASR/MT/TTS</a:t>
            </a:r>
            <a:endParaRPr lang="en-US" sz="1350" dirty="0"/>
          </a:p>
        </p:txBody>
      </p:sp>
      <p:sp>
        <p:nvSpPr>
          <p:cNvPr id="22" name="Shape 19"/>
          <p:cNvSpPr/>
          <p:nvPr/>
        </p:nvSpPr>
        <p:spPr>
          <a:xfrm>
            <a:off x="6309360" y="4215384"/>
            <a:ext cx="384048" cy="384048"/>
          </a:xfrm>
          <a:prstGeom prst="ellipse">
            <a:avLst/>
          </a:prstGeom>
          <a:solidFill>
            <a:srgbClr val="4285F4"/>
          </a:solidFill>
          <a:ln/>
        </p:spPr>
      </p:sp>
      <p:sp>
        <p:nvSpPr>
          <p:cNvPr id="23" name="Text 20"/>
          <p:cNvSpPr/>
          <p:nvPr/>
        </p:nvSpPr>
        <p:spPr>
          <a:xfrm>
            <a:off x="6309360" y="421538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4" name="Text 21"/>
          <p:cNvSpPr/>
          <p:nvPr/>
        </p:nvSpPr>
        <p:spPr>
          <a:xfrm>
            <a:off x="6839712" y="4160520"/>
            <a:ext cx="4818888" cy="841248"/>
          </a:xfrm>
          <a:prstGeom prst="rect">
            <a:avLst/>
          </a:prstGeom>
          <a:noFill/>
          <a:ln/>
        </p:spPr>
        <p:txBody>
          <a:bodyPr wrap="square" lIns="0" tIns="0" rIns="0" bIns="0" rtlCol="0" anchor="t"/>
          <a:lstStyle/>
          <a:p>
            <a:pPr indent="0" marL="0">
              <a:buNone/>
            </a:pPr>
            <a:r>
              <a:rPr lang="en-US" sz="1350" b="1" dirty="0">
                <a:solidFill>
                  <a:srgbClr val="202124"/>
                </a:solidFill>
                <a:latin typeface="Calibri" pitchFamily="34" charset="0"/>
                <a:ea typeface="Calibri" pitchFamily="34" charset="-122"/>
                <a:cs typeface="Calibri" pitchFamily="34" charset="-120"/>
              </a:rPr>
              <a:t>/ready → 200
</a:t>
            </a:r>
            <a:endParaRPr lang="en-US" sz="1350" dirty="0"/>
          </a:p>
          <a:p>
            <a:pPr indent="0" marL="0">
              <a:buNone/>
            </a:pPr>
            <a:r>
              <a:rPr lang="en-US" sz="1150" dirty="0">
                <a:solidFill>
                  <a:srgbClr val="5F6368"/>
                </a:solidFill>
                <a:latin typeface="Calibri" pitchFamily="34" charset="0"/>
                <a:ea typeface="Calibri" pitchFamily="34" charset="-122"/>
                <a:cs typeface="Calibri" pitchFamily="34" charset="-120"/>
              </a:rPr>
              <a:t>l'UI se débloque, micro auto</a:t>
            </a:r>
            <a:endParaRPr lang="en-US" sz="1350" dirty="0"/>
          </a:p>
        </p:txBody>
      </p:sp>
      <p:sp>
        <p:nvSpPr>
          <p:cNvPr id="25" name="Shape 22"/>
          <p:cNvSpPr/>
          <p:nvPr/>
        </p:nvSpPr>
        <p:spPr>
          <a:xfrm>
            <a:off x="548640" y="5120640"/>
            <a:ext cx="11064240" cy="960120"/>
          </a:xfrm>
          <a:prstGeom prst="rect">
            <a:avLst/>
          </a:prstGeom>
          <a:solidFill>
            <a:srgbClr val="EEF2FB"/>
          </a:solidFill>
          <a:ln/>
        </p:spPr>
      </p:sp>
      <p:sp>
        <p:nvSpPr>
          <p:cNvPr id="26" name="Shape 23"/>
          <p:cNvSpPr/>
          <p:nvPr/>
        </p:nvSpPr>
        <p:spPr>
          <a:xfrm>
            <a:off x="548640" y="5120640"/>
            <a:ext cx="91440" cy="960120"/>
          </a:xfrm>
          <a:prstGeom prst="rect">
            <a:avLst/>
          </a:prstGeom>
          <a:solidFill>
            <a:srgbClr val="4285F4"/>
          </a:solidFill>
          <a:ln/>
        </p:spPr>
      </p:sp>
      <p:sp>
        <p:nvSpPr>
          <p:cNvPr id="27" name="Text 24"/>
          <p:cNvSpPr/>
          <p:nvPr/>
        </p:nvSpPr>
        <p:spPr>
          <a:xfrm>
            <a:off x="786384" y="5193792"/>
            <a:ext cx="10680192" cy="813816"/>
          </a:xfrm>
          <a:prstGeom prst="rect">
            <a:avLst/>
          </a:prstGeom>
          <a:noFill/>
          <a:ln/>
        </p:spPr>
        <p:txBody>
          <a:bodyPr wrap="square" lIns="0" tIns="0" rIns="0" bIns="0" rtlCol="0" anchor="ctr"/>
          <a:lstStyle/>
          <a:p>
            <a:pPr indent="0" marL="0">
              <a:buNone/>
            </a:pPr>
            <a:r>
              <a:rPr lang="en-US" sz="1100" b="1" dirty="0">
                <a:solidFill>
                  <a:srgbClr val="1A73E8"/>
                </a:solidFill>
                <a:latin typeface="Calibri" pitchFamily="34" charset="0"/>
                <a:ea typeface="Calibri" pitchFamily="34" charset="-122"/>
                <a:cs typeface="Calibri" pitchFamily="34" charset="-120"/>
              </a:rPr>
              <a:t>ANTI COLD-START   </a:t>
            </a:r>
            <a:pPr indent="0" marL="0">
              <a:buNone/>
            </a:pPr>
            <a:r>
              <a:rPr lang="en-US" sz="1200" dirty="0">
                <a:solidFill>
                  <a:srgbClr val="202124"/>
                </a:solidFill>
                <a:latin typeface="Calibri" pitchFamily="34" charset="0"/>
                <a:ea typeface="Calibri" pitchFamily="34" charset="-122"/>
                <a:cs typeface="Calibri" pitchFamily="34" charset="-120"/>
              </a:rPr>
              <a:t>min-instances=0 éteint l'instance après ~15 min d'inactivité. Cloud Scheduler envoie un ping toutes les 15 min pendant les heures actives pour garder une instance chaude ; scale-to-zero la nuit/week-end.</a:t>
            </a:r>
            <a:endParaRPr lang="en-US" sz="1100" dirty="0"/>
          </a:p>
        </p:txBody>
      </p:sp>
      <p:sp>
        <p:nvSpPr>
          <p:cNvPr id="28" name="Text 25"/>
          <p:cNvSpPr/>
          <p:nvPr/>
        </p:nvSpPr>
        <p:spPr>
          <a:xfrm>
            <a:off x="548640" y="6510528"/>
            <a:ext cx="11155680" cy="274320"/>
          </a:xfrm>
          <a:prstGeom prst="rect">
            <a:avLst/>
          </a:prstGeom>
          <a:noFill/>
          <a:ln/>
        </p:spPr>
        <p:txBody>
          <a:bodyPr wrap="square" lIns="0" tIns="0" rIns="0" bIns="0" rtlCol="0" anchor="ctr"/>
          <a:lstStyle/>
          <a:p>
            <a:pPr indent="0" marL="0">
              <a:buNone/>
            </a:pPr>
            <a:r>
              <a:rPr lang="en-US" sz="950" i="1" dirty="0">
                <a:solidFill>
                  <a:srgbClr val="5F6368"/>
                </a:solidFill>
                <a:latin typeface="Calibri" pitchFamily="34" charset="0"/>
                <a:ea typeface="Calibri" pitchFamily="34" charset="-122"/>
                <a:cs typeface="Calibri" pitchFamily="34" charset="-120"/>
              </a:rPr>
              <a:t>Source : README §18.3, §20 — vérification + comportement cold start</a:t>
            </a:r>
            <a:endParaRPr lang="en-US" sz="950" dirty="0"/>
          </a:p>
        </p:txBody>
      </p:sp>
      <p:sp>
        <p:nvSpPr>
          <p:cNvPr id="29" name="Text 26"/>
          <p:cNvSpPr/>
          <p:nvPr/>
        </p:nvSpPr>
        <p:spPr>
          <a:xfrm>
            <a:off x="2103120" y="6167628"/>
            <a:ext cx="3200400" cy="182880"/>
          </a:xfrm>
          <a:prstGeom prst="rect">
            <a:avLst/>
          </a:prstGeom>
          <a:noFill/>
          <a:ln/>
        </p:spPr>
        <p:txBody>
          <a:bodyPr wrap="square" lIns="0" tIns="0" rIns="0" bIns="0" rtlCol="0" anchor="ctr"/>
          <a:lstStyle/>
          <a:p>
            <a:pPr indent="0" marL="0">
              <a:buNone/>
            </a:pPr>
            <a:r>
              <a:rPr lang="en-US" sz="850" b="1" dirty="0">
                <a:solidFill>
                  <a:srgbClr val="97A1B5"/>
                </a:solidFill>
                <a:latin typeface="Calibri" pitchFamily="34" charset="0"/>
                <a:ea typeface="Calibri" pitchFamily="34" charset="-122"/>
                <a:cs typeface="Calibri" pitchFamily="34" charset="-120"/>
              </a:rPr>
              <a:t>Tsantaniaina Rakotonjanahary Ambaorasoa Guillaume</a:t>
            </a:r>
            <a:endParaRPr lang="en-US" sz="850" dirty="0"/>
          </a:p>
        </p:txBody>
      </p:sp>
      <p:sp>
        <p:nvSpPr>
          <p:cNvPr id="30" name="Shape 27"/>
          <p:cNvSpPr/>
          <p:nvPr/>
        </p:nvSpPr>
        <p:spPr>
          <a:xfrm>
            <a:off x="11137392" y="5852160"/>
            <a:ext cx="914400" cy="914400"/>
          </a:xfrm>
          <a:prstGeom prst="roundRect">
            <a:avLst>
              <a:gd name="adj" fmla="val 10000"/>
            </a:avLst>
          </a:prstGeom>
          <a:solidFill>
            <a:srgbClr val="FFFFFF"/>
          </a:solidFill>
          <a:ln w="12700">
            <a:solidFill>
              <a:srgbClr val="D6DEEC"/>
            </a:solidFill>
            <a:prstDash val="solid"/>
          </a:ln>
          <a:effectLst>
            <a:outerShdw sx="100000" sy="100000" kx="0" ky="0" algn="bl" rotWithShape="0" blurRad="88900" dist="38100" dir="5400000">
              <a:srgbClr val="8A94AD">
                <a:alpha val="26000"/>
              </a:srgbClr>
            </a:outerShdw>
          </a:effectLst>
        </p:spPr>
      </p:sp>
      <p:pic>
        <p:nvPicPr>
          <p:cNvPr id="31" name="Image 1" descr="logos/logo_mdn.png">    </p:cNvPr>
          <p:cNvPicPr>
            <a:picLocks noChangeAspect="1"/>
          </p:cNvPicPr>
          <p:nvPr/>
        </p:nvPicPr>
        <p:blipFill>
          <a:blip r:embed="rId2"/>
          <a:stretch>
            <a:fillRect/>
          </a:stretch>
        </p:blipFill>
        <p:spPr>
          <a:xfrm>
            <a:off x="11237976" y="5952744"/>
            <a:ext cx="713232" cy="71323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9334E6"/>
          </a:solidFill>
          <a:ln/>
        </p:spPr>
      </p:sp>
      <p:sp>
        <p:nvSpPr>
          <p:cNvPr id="3" name="Shape 1"/>
          <p:cNvSpPr/>
          <p:nvPr/>
        </p:nvSpPr>
        <p:spPr>
          <a:xfrm>
            <a:off x="146304" y="0"/>
            <a:ext cx="12042648" cy="1078992"/>
          </a:xfrm>
          <a:prstGeom prst="rect">
            <a:avLst/>
          </a:prstGeom>
          <a:solidFill>
            <a:srgbClr val="1B2A4A"/>
          </a:solidFill>
          <a:ln/>
        </p:spPr>
      </p:sp>
      <p:sp>
        <p:nvSpPr>
          <p:cNvPr id="4" name="Text 2"/>
          <p:cNvSpPr/>
          <p:nvPr/>
        </p:nvSpPr>
        <p:spPr>
          <a:xfrm>
            <a:off x="548640" y="182880"/>
            <a:ext cx="9601200" cy="292608"/>
          </a:xfrm>
          <a:prstGeom prst="rect">
            <a:avLst/>
          </a:prstGeom>
          <a:noFill/>
          <a:ln/>
        </p:spPr>
        <p:txBody>
          <a:bodyPr wrap="square" lIns="0" tIns="0" rIns="0" bIns="0" rtlCol="0" anchor="ctr"/>
          <a:lstStyle/>
          <a:p>
            <a:pPr indent="0" marL="0">
              <a:buNone/>
            </a:pPr>
            <a:r>
              <a:rPr lang="en-US" sz="1200" b="1" spc="150" kern="0" dirty="0">
                <a:solidFill>
                  <a:srgbClr val="C58AF9"/>
                </a:solidFill>
                <a:latin typeface="Calibri" pitchFamily="34" charset="0"/>
                <a:ea typeface="Calibri" pitchFamily="34" charset="-122"/>
                <a:cs typeface="Calibri" pitchFamily="34" charset="-120"/>
              </a:rPr>
              <a:t>MLOPS : ENTRAÎNEMENT, PIPELINES, REGISTRY</a:t>
            </a:r>
            <a:endParaRPr lang="en-US" sz="1200" dirty="0"/>
          </a:p>
        </p:txBody>
      </p:sp>
      <p:sp>
        <p:nvSpPr>
          <p:cNvPr id="5" name="Text 3"/>
          <p:cNvSpPr/>
          <p:nvPr/>
        </p:nvSpPr>
        <p:spPr>
          <a:xfrm>
            <a:off x="530352" y="438912"/>
            <a:ext cx="9692640" cy="566928"/>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Vertex AI — concepts</a:t>
            </a:r>
            <a:endParaRPr lang="en-US" sz="2700" dirty="0"/>
          </a:p>
        </p:txBody>
      </p:sp>
      <p:sp>
        <p:nvSpPr>
          <p:cNvPr id="6" name="Text 4"/>
          <p:cNvSpPr/>
          <p:nvPr/>
        </p:nvSpPr>
        <p:spPr>
          <a:xfrm>
            <a:off x="8229600" y="182880"/>
            <a:ext cx="1828800" cy="274320"/>
          </a:xfrm>
          <a:prstGeom prst="rect">
            <a:avLst/>
          </a:prstGeom>
          <a:noFill/>
          <a:ln/>
        </p:spPr>
        <p:txBody>
          <a:bodyPr wrap="square" lIns="0" tIns="0" rIns="0" bIns="0" rtlCol="0" anchor="ctr"/>
          <a:lstStyle/>
          <a:p>
            <a:pPr algn="r" indent="0" marL="0">
              <a:buNone/>
            </a:pPr>
            <a:r>
              <a:rPr lang="en-US" sz="1050" b="1" spc="100" kern="0" dirty="0">
                <a:solidFill>
                  <a:srgbClr val="8FA0C4"/>
                </a:solidFill>
                <a:latin typeface="Calibri" pitchFamily="34" charset="0"/>
                <a:ea typeface="Calibri" pitchFamily="34" charset="-122"/>
                <a:cs typeface="Calibri" pitchFamily="34" charset="-120"/>
              </a:rPr>
              <a:t>PARTIE 2</a:t>
            </a:r>
            <a:endParaRPr lang="en-US" sz="1050" dirty="0"/>
          </a:p>
        </p:txBody>
      </p:sp>
      <p:sp>
        <p:nvSpPr>
          <p:cNvPr id="7" name="Shape 5"/>
          <p:cNvSpPr/>
          <p:nvPr/>
        </p:nvSpPr>
        <p:spPr>
          <a:xfrm>
            <a:off x="10927080" y="237744"/>
            <a:ext cx="603504" cy="603504"/>
          </a:xfrm>
          <a:prstGeom prst="roundRect">
            <a:avLst>
              <a:gd name="adj" fmla="val 12121"/>
            </a:avLst>
          </a:prstGeom>
          <a:solidFill>
            <a:srgbClr val="FFFFFF"/>
          </a:solidFill>
          <a:ln/>
        </p:spPr>
      </p:sp>
      <p:pic>
        <p:nvPicPr>
          <p:cNvPr id="8" name="Image 0" descr="logos/04_vertex_ai.png">    </p:cNvPr>
          <p:cNvPicPr>
            <a:picLocks noChangeAspect="1"/>
          </p:cNvPicPr>
          <p:nvPr/>
        </p:nvPicPr>
        <p:blipFill>
          <a:blip r:embed="rId1"/>
          <a:stretch>
            <a:fillRect/>
          </a:stretch>
        </p:blipFill>
        <p:spPr>
          <a:xfrm>
            <a:off x="10991088" y="301752"/>
            <a:ext cx="475488" cy="475488"/>
          </a:xfrm>
          <a:prstGeom prst="rect">
            <a:avLst/>
          </a:prstGeom>
        </p:spPr>
      </p:pic>
      <p:sp>
        <p:nvSpPr>
          <p:cNvPr id="9" name="Text 6"/>
          <p:cNvSpPr/>
          <p:nvPr/>
        </p:nvSpPr>
        <p:spPr>
          <a:xfrm>
            <a:off x="548640" y="1325880"/>
            <a:ext cx="11064240" cy="777240"/>
          </a:xfrm>
          <a:prstGeom prst="rect">
            <a:avLst/>
          </a:prstGeom>
          <a:noFill/>
          <a:ln/>
        </p:spPr>
        <p:txBody>
          <a:bodyPr wrap="square" lIns="0" tIns="0" rIns="0" bIns="0" rtlCol="0" anchor="t"/>
          <a:lstStyle/>
          <a:p>
            <a:pPr indent="0" marL="0">
              <a:buNone/>
            </a:pPr>
            <a:r>
              <a:rPr lang="en-US" sz="1350" dirty="0">
                <a:solidFill>
                  <a:srgbClr val="202124"/>
                </a:solidFill>
                <a:latin typeface="Calibri" pitchFamily="34" charset="0"/>
                <a:ea typeface="Calibri" pitchFamily="34" charset="-122"/>
                <a:cs typeface="Calibri" pitchFamily="34" charset="-120"/>
              </a:rPr>
              <a:t>Plateforme ML unifiée. Pour MGVaovao : exécute le fine-tuning NLLB (LoRA) et TTS (VITS) sur GPU cloud, orchestre le cycle via un pipeline Kubeflow, versionne les modèles (Model Registry) et surveille le drift (Model Monitoring).</a:t>
            </a:r>
            <a:endParaRPr lang="en-US" sz="1350" dirty="0"/>
          </a:p>
        </p:txBody>
      </p:sp>
      <p:sp>
        <p:nvSpPr>
          <p:cNvPr id="10" name="Text 7"/>
          <p:cNvSpPr/>
          <p:nvPr/>
        </p:nvSpPr>
        <p:spPr>
          <a:xfrm>
            <a:off x="548640" y="2331720"/>
            <a:ext cx="5486400" cy="274320"/>
          </a:xfrm>
          <a:prstGeom prst="rect">
            <a:avLst/>
          </a:prstGeom>
          <a:noFill/>
          <a:ln/>
        </p:spPr>
        <p:txBody>
          <a:bodyPr wrap="square" lIns="0" tIns="0" rIns="0" bIns="0" rtlCol="0" anchor="ctr"/>
          <a:lstStyle/>
          <a:p>
            <a:pPr indent="0" marL="0">
              <a:buNone/>
            </a:pPr>
            <a:r>
              <a:rPr lang="en-US" sz="1300" b="1" spc="100" kern="0" dirty="0">
                <a:solidFill>
                  <a:srgbClr val="8430CE"/>
                </a:solidFill>
                <a:latin typeface="Calibri" pitchFamily="34" charset="0"/>
                <a:ea typeface="Calibri" pitchFamily="34" charset="-122"/>
                <a:cs typeface="Calibri" pitchFamily="34" charset="-120"/>
              </a:rPr>
              <a:t>COMPOSANTS UTILISÉS</a:t>
            </a:r>
            <a:endParaRPr lang="en-US" sz="1300" dirty="0"/>
          </a:p>
        </p:txBody>
      </p:sp>
      <p:sp>
        <p:nvSpPr>
          <p:cNvPr id="11" name="Text 8"/>
          <p:cNvSpPr/>
          <p:nvPr/>
        </p:nvSpPr>
        <p:spPr>
          <a:xfrm>
            <a:off x="548640" y="2651760"/>
            <a:ext cx="5486400" cy="2103120"/>
          </a:xfrm>
          <a:prstGeom prst="rect">
            <a:avLst/>
          </a:prstGeom>
          <a:noFill/>
          <a:ln/>
        </p:spPr>
        <p:txBody>
          <a:bodyPr wrap="square" lIns="0" tIns="0" rIns="0" bIns="0" rtlCol="0" anchor="t"/>
          <a:lstStyle/>
          <a:p>
            <a:pPr marL="190500" indent="-190500">
              <a:spcAft>
                <a:spcPts val="600"/>
              </a:spcAft>
              <a:buSzPct val="100000"/>
              <a:buChar char="•"/>
            </a:pPr>
            <a:r>
              <a:rPr lang="en-US" sz="1250" dirty="0">
                <a:solidFill>
                  <a:srgbClr val="202124"/>
                </a:solidFill>
                <a:latin typeface="Calibri" pitchFamily="34" charset="0"/>
                <a:ea typeface="Calibri" pitchFamily="34" charset="-122"/>
                <a:cs typeface="Calibri" pitchFamily="34" charset="-120"/>
              </a:rPr>
              <a:t>Custom Training Jobs : votre code sur T4/L4</a:t>
            </a:r>
            <a:endParaRPr lang="en-US" sz="1250" dirty="0"/>
          </a:p>
          <a:p>
            <a:pPr marL="190500" indent="-190500">
              <a:spcAft>
                <a:spcPts val="600"/>
              </a:spcAft>
              <a:buSzPct val="100000"/>
              <a:buChar char="•"/>
            </a:pPr>
            <a:r>
              <a:rPr lang="en-US" sz="1250" dirty="0">
                <a:solidFill>
                  <a:srgbClr val="202124"/>
                </a:solidFill>
                <a:latin typeface="Calibri" pitchFamily="34" charset="0"/>
                <a:ea typeface="Calibri" pitchFamily="34" charset="-122"/>
                <a:cs typeface="Calibri" pitchFamily="34" charset="-120"/>
              </a:rPr>
              <a:t>Pipelines : DAG Kubeflow (6 étapes) — $0,03/run</a:t>
            </a:r>
            <a:endParaRPr lang="en-US" sz="1250" dirty="0"/>
          </a:p>
          <a:p>
            <a:pPr marL="190500" indent="-190500">
              <a:spcAft>
                <a:spcPts val="600"/>
              </a:spcAft>
              <a:buSzPct val="100000"/>
              <a:buChar char="•"/>
            </a:pPr>
            <a:r>
              <a:rPr lang="en-US" sz="1250" dirty="0">
                <a:solidFill>
                  <a:srgbClr val="202124"/>
                </a:solidFill>
                <a:latin typeface="Calibri" pitchFamily="34" charset="0"/>
                <a:ea typeface="Calibri" pitchFamily="34" charset="-122"/>
                <a:cs typeface="Calibri" pitchFamily="34" charset="-120"/>
              </a:rPr>
              <a:t>Model Registry : candidate → staging → prod (gratuit)</a:t>
            </a:r>
            <a:endParaRPr lang="en-US" sz="1250" dirty="0"/>
          </a:p>
          <a:p>
            <a:pPr marL="190500" indent="-190500">
              <a:spcAft>
                <a:spcPts val="600"/>
              </a:spcAft>
              <a:buSzPct val="100000"/>
              <a:buChar char="•"/>
            </a:pPr>
            <a:r>
              <a:rPr lang="en-US" sz="1250" dirty="0">
                <a:solidFill>
                  <a:srgbClr val="202124"/>
                </a:solidFill>
                <a:latin typeface="Calibri" pitchFamily="34" charset="0"/>
                <a:ea typeface="Calibri" pitchFamily="34" charset="-122"/>
                <a:cs typeface="Calibri" pitchFamily="34" charset="-120"/>
              </a:rPr>
              <a:t>Model Monitoring : drift chrF++ &amp; UTMOS (~3 $/mois)</a:t>
            </a:r>
            <a:endParaRPr lang="en-US" sz="1250" dirty="0"/>
          </a:p>
          <a:p>
            <a:pPr marL="190500" indent="-190500">
              <a:spcAft>
                <a:spcPts val="600"/>
              </a:spcAft>
              <a:buSzPct val="100000"/>
              <a:buChar char="•"/>
            </a:pPr>
            <a:r>
              <a:rPr lang="en-US" sz="1250" dirty="0">
                <a:solidFill>
                  <a:srgbClr val="202124"/>
                </a:solidFill>
                <a:latin typeface="Calibri" pitchFamily="34" charset="0"/>
                <a:ea typeface="Calibri" pitchFamily="34" charset="-122"/>
                <a:cs typeface="Calibri" pitchFamily="34" charset="-120"/>
              </a:rPr>
              <a:t>Experiments : comparaison des runs (gratuit)</a:t>
            </a:r>
            <a:endParaRPr lang="en-US" sz="1250" dirty="0"/>
          </a:p>
        </p:txBody>
      </p:sp>
      <p:sp>
        <p:nvSpPr>
          <p:cNvPr id="12" name="Text 9"/>
          <p:cNvSpPr/>
          <p:nvPr/>
        </p:nvSpPr>
        <p:spPr>
          <a:xfrm>
            <a:off x="6309360" y="2331720"/>
            <a:ext cx="5486400" cy="274320"/>
          </a:xfrm>
          <a:prstGeom prst="rect">
            <a:avLst/>
          </a:prstGeom>
          <a:noFill/>
          <a:ln/>
        </p:spPr>
        <p:txBody>
          <a:bodyPr wrap="square" lIns="0" tIns="0" rIns="0" bIns="0" rtlCol="0" anchor="ctr"/>
          <a:lstStyle/>
          <a:p>
            <a:pPr indent="0" marL="0">
              <a:buNone/>
            </a:pPr>
            <a:r>
              <a:rPr lang="en-US" sz="1300" b="1" spc="100" kern="0" dirty="0">
                <a:solidFill>
                  <a:srgbClr val="8430CE"/>
                </a:solidFill>
                <a:latin typeface="Calibri" pitchFamily="34" charset="0"/>
                <a:ea typeface="Calibri" pitchFamily="34" charset="-122"/>
                <a:cs typeface="Calibri" pitchFamily="34" charset="-120"/>
              </a:rPr>
              <a:t>COÛT DU FINE-TUNING (T4 SPOT)</a:t>
            </a:r>
            <a:endParaRPr lang="en-US" sz="13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309360" y="2651760"/>
          <a:ext cx="5349240" cy="914400"/>
        </p:xfrm>
        <a:graphic>
          <a:graphicData uri="http://schemas.openxmlformats.org/drawingml/2006/table">
            <a:tbl>
              <a:tblPr/>
              <a:tblGrid>
                <a:gridCol w="2377440"/>
                <a:gridCol w="1463040"/>
                <a:gridCol w="1508760"/>
              </a:tblGrid>
              <a:tr h="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Job</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8430CE"/>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Durée</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8430CE"/>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Coût</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8430CE"/>
                    </a:solidFill>
                  </a:tcPr>
                </a:tc>
              </a:tr>
              <a:tr h="0">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NLLB LoRA (5 ép.)</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4–6 h</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~1,7–2,5 $</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r>
              <a:tr h="0">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TTS VITS (50 ép.)</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2–3 h</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02124"/>
                          </a:solidFill>
                          <a:latin typeface="Calibri" pitchFamily="34" charset="0"/>
                          <a:ea typeface="Calibri" pitchFamily="34" charset="-122"/>
                          <a:cs typeface="Calibri" pitchFamily="34" charset="-120"/>
                        </a:rPr>
                        <a:t>~0,84–1,3 $</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r>
            </a:tbl>
          </a:graphicData>
        </a:graphic>
      </p:graphicFrame>
      <p:sp>
        <p:nvSpPr>
          <p:cNvPr id="14" name="Shape 10"/>
          <p:cNvSpPr/>
          <p:nvPr/>
        </p:nvSpPr>
        <p:spPr>
          <a:xfrm>
            <a:off x="548640" y="5029200"/>
            <a:ext cx="11064240" cy="1051560"/>
          </a:xfrm>
          <a:prstGeom prst="rect">
            <a:avLst/>
          </a:prstGeom>
          <a:solidFill>
            <a:srgbClr val="EEF2FB"/>
          </a:solidFill>
          <a:ln/>
        </p:spPr>
      </p:sp>
      <p:sp>
        <p:nvSpPr>
          <p:cNvPr id="15" name="Shape 11"/>
          <p:cNvSpPr/>
          <p:nvPr/>
        </p:nvSpPr>
        <p:spPr>
          <a:xfrm>
            <a:off x="548640" y="5029200"/>
            <a:ext cx="91440" cy="1051560"/>
          </a:xfrm>
          <a:prstGeom prst="rect">
            <a:avLst/>
          </a:prstGeom>
          <a:solidFill>
            <a:srgbClr val="9334E6"/>
          </a:solidFill>
          <a:ln/>
        </p:spPr>
      </p:sp>
      <p:sp>
        <p:nvSpPr>
          <p:cNvPr id="16" name="Text 12"/>
          <p:cNvSpPr/>
          <p:nvPr/>
        </p:nvSpPr>
        <p:spPr>
          <a:xfrm>
            <a:off x="786384" y="5102352"/>
            <a:ext cx="10680192" cy="905256"/>
          </a:xfrm>
          <a:prstGeom prst="rect">
            <a:avLst/>
          </a:prstGeom>
          <a:noFill/>
          <a:ln/>
        </p:spPr>
        <p:txBody>
          <a:bodyPr wrap="square" lIns="0" tIns="0" rIns="0" bIns="0" rtlCol="0" anchor="ctr"/>
          <a:lstStyle/>
          <a:p>
            <a:pPr indent="0" marL="0">
              <a:buNone/>
            </a:pPr>
            <a:r>
              <a:rPr lang="en-US" sz="1100" b="1" dirty="0">
                <a:solidFill>
                  <a:srgbClr val="8430CE"/>
                </a:solidFill>
                <a:latin typeface="Calibri" pitchFamily="34" charset="0"/>
                <a:ea typeface="Calibri" pitchFamily="34" charset="-122"/>
                <a:cs typeface="Calibri" pitchFamily="34" charset="-120"/>
              </a:rPr>
              <a:t>SPOT + CHECKPOINTS   </a:t>
            </a:r>
            <a:pPr indent="0" marL="0">
              <a:buNone/>
            </a:pPr>
            <a:r>
              <a:rPr lang="en-US" sz="1200" dirty="0">
                <a:solidFill>
                  <a:srgbClr val="202124"/>
                </a:solidFill>
                <a:latin typeface="Calibri" pitchFamily="34" charset="0"/>
                <a:ea typeface="Calibri" pitchFamily="34" charset="-122"/>
                <a:cs typeface="Calibri" pitchFamily="34" charset="-120"/>
              </a:rPr>
              <a:t>Ajouter --scheduling=spot (~60 % moins cher, mais préemptible). Toujours sauvegarder un checkpoint vers GCS toutes les 30 min ; pull_checkpoints.py gère la reprise.</a:t>
            </a:r>
            <a:endParaRPr lang="en-US" sz="1100" dirty="0"/>
          </a:p>
        </p:txBody>
      </p:sp>
      <p:sp>
        <p:nvSpPr>
          <p:cNvPr id="17" name="Text 13"/>
          <p:cNvSpPr/>
          <p:nvPr/>
        </p:nvSpPr>
        <p:spPr>
          <a:xfrm>
            <a:off x="548640" y="6510528"/>
            <a:ext cx="11155680" cy="274320"/>
          </a:xfrm>
          <a:prstGeom prst="rect">
            <a:avLst/>
          </a:prstGeom>
          <a:noFill/>
          <a:ln/>
        </p:spPr>
        <p:txBody>
          <a:bodyPr wrap="square" lIns="0" tIns="0" rIns="0" bIns="0" rtlCol="0" anchor="ctr"/>
          <a:lstStyle/>
          <a:p>
            <a:pPr indent="0" marL="0">
              <a:buNone/>
            </a:pPr>
            <a:r>
              <a:rPr lang="en-US" sz="950" i="1" dirty="0">
                <a:solidFill>
                  <a:srgbClr val="5F6368"/>
                </a:solidFill>
                <a:latin typeface="Calibri" pitchFamily="34" charset="0"/>
                <a:ea typeface="Calibri" pitchFamily="34" charset="-122"/>
                <a:cs typeface="Calibri" pitchFamily="34" charset="-120"/>
              </a:rPr>
              <a:t>Source : README §18.6, §20 — doc : cloud.google.com/vertex-ai/docs</a:t>
            </a:r>
            <a:endParaRPr lang="en-US" sz="950" dirty="0"/>
          </a:p>
        </p:txBody>
      </p:sp>
      <p:sp>
        <p:nvSpPr>
          <p:cNvPr id="18" name="Text 14"/>
          <p:cNvSpPr/>
          <p:nvPr/>
        </p:nvSpPr>
        <p:spPr>
          <a:xfrm>
            <a:off x="3657600" y="4575048"/>
            <a:ext cx="3200400" cy="182880"/>
          </a:xfrm>
          <a:prstGeom prst="rect">
            <a:avLst/>
          </a:prstGeom>
          <a:noFill/>
          <a:ln/>
        </p:spPr>
        <p:txBody>
          <a:bodyPr wrap="square" lIns="0" tIns="0" rIns="0" bIns="0" rtlCol="0" anchor="ctr"/>
          <a:lstStyle/>
          <a:p>
            <a:pPr indent="0" marL="0">
              <a:buNone/>
            </a:pPr>
            <a:r>
              <a:rPr lang="en-US" sz="850" b="1" dirty="0">
                <a:solidFill>
                  <a:srgbClr val="97A1B5"/>
                </a:solidFill>
                <a:latin typeface="Calibri" pitchFamily="34" charset="0"/>
                <a:ea typeface="Calibri" pitchFamily="34" charset="-122"/>
                <a:cs typeface="Calibri" pitchFamily="34" charset="-120"/>
              </a:rPr>
              <a:t>Tsantaniaina Rakotonjanahary Ambaorasoa Guillaume</a:t>
            </a:r>
            <a:endParaRPr lang="en-US" sz="850" dirty="0"/>
          </a:p>
        </p:txBody>
      </p:sp>
      <p:sp>
        <p:nvSpPr>
          <p:cNvPr id="19" name="Shape 15"/>
          <p:cNvSpPr/>
          <p:nvPr/>
        </p:nvSpPr>
        <p:spPr>
          <a:xfrm>
            <a:off x="11137392" y="5852160"/>
            <a:ext cx="914400" cy="914400"/>
          </a:xfrm>
          <a:prstGeom prst="roundRect">
            <a:avLst>
              <a:gd name="adj" fmla="val 10000"/>
            </a:avLst>
          </a:prstGeom>
          <a:solidFill>
            <a:srgbClr val="FFFFFF"/>
          </a:solidFill>
          <a:ln w="12700">
            <a:solidFill>
              <a:srgbClr val="D6DEEC"/>
            </a:solidFill>
            <a:prstDash val="solid"/>
          </a:ln>
          <a:effectLst>
            <a:outerShdw sx="100000" sy="100000" kx="0" ky="0" algn="bl" rotWithShape="0" blurRad="88900" dist="38100" dir="5400000">
              <a:srgbClr val="8A94AD">
                <a:alpha val="26000"/>
              </a:srgbClr>
            </a:outerShdw>
          </a:effectLst>
        </p:spPr>
      </p:sp>
      <p:pic>
        <p:nvPicPr>
          <p:cNvPr id="20" name="Image 1" descr="logos/logo_mdn.png">    </p:cNvPr>
          <p:cNvPicPr>
            <a:picLocks noChangeAspect="1"/>
          </p:cNvPicPr>
          <p:nvPr/>
        </p:nvPicPr>
        <p:blipFill>
          <a:blip r:embed="rId2"/>
          <a:stretch>
            <a:fillRect/>
          </a:stretch>
        </p:blipFill>
        <p:spPr>
          <a:xfrm>
            <a:off x="11237976" y="5952744"/>
            <a:ext cx="713232" cy="713232"/>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9334E6"/>
          </a:solidFill>
          <a:ln/>
        </p:spPr>
      </p:sp>
      <p:sp>
        <p:nvSpPr>
          <p:cNvPr id="3" name="Shape 1"/>
          <p:cNvSpPr/>
          <p:nvPr/>
        </p:nvSpPr>
        <p:spPr>
          <a:xfrm>
            <a:off x="146304" y="0"/>
            <a:ext cx="12042648" cy="1078992"/>
          </a:xfrm>
          <a:prstGeom prst="rect">
            <a:avLst/>
          </a:prstGeom>
          <a:solidFill>
            <a:srgbClr val="1B2A4A"/>
          </a:solidFill>
          <a:ln/>
        </p:spPr>
      </p:sp>
      <p:sp>
        <p:nvSpPr>
          <p:cNvPr id="4" name="Text 2"/>
          <p:cNvSpPr/>
          <p:nvPr/>
        </p:nvSpPr>
        <p:spPr>
          <a:xfrm>
            <a:off x="548640" y="182880"/>
            <a:ext cx="9601200" cy="292608"/>
          </a:xfrm>
          <a:prstGeom prst="rect">
            <a:avLst/>
          </a:prstGeom>
          <a:noFill/>
          <a:ln/>
        </p:spPr>
        <p:txBody>
          <a:bodyPr wrap="square" lIns="0" tIns="0" rIns="0" bIns="0" rtlCol="0" anchor="ctr"/>
          <a:lstStyle/>
          <a:p>
            <a:pPr indent="0" marL="0">
              <a:buNone/>
            </a:pPr>
            <a:r>
              <a:rPr lang="en-US" sz="1200" b="1" spc="150" kern="0" dirty="0">
                <a:solidFill>
                  <a:srgbClr val="C58AF9"/>
                </a:solidFill>
                <a:latin typeface="Calibri" pitchFamily="34" charset="0"/>
                <a:ea typeface="Calibri" pitchFamily="34" charset="-122"/>
                <a:cs typeface="Calibri" pitchFamily="34" charset="-120"/>
              </a:rPr>
              <a:t>CUSTOM TRAINING PAS-À-PAS (NLLB / TTS)</a:t>
            </a:r>
            <a:endParaRPr lang="en-US" sz="1200" dirty="0"/>
          </a:p>
        </p:txBody>
      </p:sp>
      <p:sp>
        <p:nvSpPr>
          <p:cNvPr id="5" name="Text 3"/>
          <p:cNvSpPr/>
          <p:nvPr/>
        </p:nvSpPr>
        <p:spPr>
          <a:xfrm>
            <a:off x="530352" y="438912"/>
            <a:ext cx="9692640" cy="566928"/>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Vertex AI — lancer un job de training</a:t>
            </a:r>
            <a:endParaRPr lang="en-US" sz="2700" dirty="0"/>
          </a:p>
        </p:txBody>
      </p:sp>
      <p:sp>
        <p:nvSpPr>
          <p:cNvPr id="6" name="Text 4"/>
          <p:cNvSpPr/>
          <p:nvPr/>
        </p:nvSpPr>
        <p:spPr>
          <a:xfrm>
            <a:off x="8229600" y="182880"/>
            <a:ext cx="1828800" cy="274320"/>
          </a:xfrm>
          <a:prstGeom prst="rect">
            <a:avLst/>
          </a:prstGeom>
          <a:noFill/>
          <a:ln/>
        </p:spPr>
        <p:txBody>
          <a:bodyPr wrap="square" lIns="0" tIns="0" rIns="0" bIns="0" rtlCol="0" anchor="ctr"/>
          <a:lstStyle/>
          <a:p>
            <a:pPr algn="r" indent="0" marL="0">
              <a:buNone/>
            </a:pPr>
            <a:r>
              <a:rPr lang="en-US" sz="1050" b="1" spc="100" kern="0" dirty="0">
                <a:solidFill>
                  <a:srgbClr val="8FA0C4"/>
                </a:solidFill>
                <a:latin typeface="Calibri" pitchFamily="34" charset="0"/>
                <a:ea typeface="Calibri" pitchFamily="34" charset="-122"/>
                <a:cs typeface="Calibri" pitchFamily="34" charset="-120"/>
              </a:rPr>
              <a:t>PARTIE 2</a:t>
            </a:r>
            <a:endParaRPr lang="en-US" sz="1050" dirty="0"/>
          </a:p>
        </p:txBody>
      </p:sp>
      <p:sp>
        <p:nvSpPr>
          <p:cNvPr id="7" name="Shape 5"/>
          <p:cNvSpPr/>
          <p:nvPr/>
        </p:nvSpPr>
        <p:spPr>
          <a:xfrm>
            <a:off x="10927080" y="237744"/>
            <a:ext cx="603504" cy="603504"/>
          </a:xfrm>
          <a:prstGeom prst="roundRect">
            <a:avLst>
              <a:gd name="adj" fmla="val 12121"/>
            </a:avLst>
          </a:prstGeom>
          <a:solidFill>
            <a:srgbClr val="FFFFFF"/>
          </a:solidFill>
          <a:ln/>
        </p:spPr>
      </p:sp>
      <p:pic>
        <p:nvPicPr>
          <p:cNvPr id="8" name="Image 0" descr="logos/04_vertex_ai.png">    </p:cNvPr>
          <p:cNvPicPr>
            <a:picLocks noChangeAspect="1"/>
          </p:cNvPicPr>
          <p:nvPr/>
        </p:nvPicPr>
        <p:blipFill>
          <a:blip r:embed="rId1"/>
          <a:stretch>
            <a:fillRect/>
          </a:stretch>
        </p:blipFill>
        <p:spPr>
          <a:xfrm>
            <a:off x="10991088" y="301752"/>
            <a:ext cx="475488" cy="475488"/>
          </a:xfrm>
          <a:prstGeom prst="rect">
            <a:avLst/>
          </a:prstGeom>
        </p:spPr>
      </p:pic>
      <p:sp>
        <p:nvSpPr>
          <p:cNvPr id="9" name="Shape 6"/>
          <p:cNvSpPr/>
          <p:nvPr/>
        </p:nvSpPr>
        <p:spPr>
          <a:xfrm>
            <a:off x="548640" y="1371600"/>
            <a:ext cx="384048" cy="384048"/>
          </a:xfrm>
          <a:prstGeom prst="ellipse">
            <a:avLst/>
          </a:prstGeom>
          <a:solidFill>
            <a:srgbClr val="9334E6"/>
          </a:solidFill>
          <a:ln/>
        </p:spPr>
      </p:sp>
      <p:sp>
        <p:nvSpPr>
          <p:cNvPr id="10" name="Text 7"/>
          <p:cNvSpPr/>
          <p:nvPr/>
        </p:nvSpPr>
        <p:spPr>
          <a:xfrm>
            <a:off x="548640" y="13716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1" name="Text 8"/>
          <p:cNvSpPr/>
          <p:nvPr/>
        </p:nvSpPr>
        <p:spPr>
          <a:xfrm>
            <a:off x="1078992" y="1316736"/>
            <a:ext cx="4681728" cy="960120"/>
          </a:xfrm>
          <a:prstGeom prst="rect">
            <a:avLst/>
          </a:prstGeom>
          <a:noFill/>
          <a:ln/>
        </p:spPr>
        <p:txBody>
          <a:bodyPr wrap="square" lIns="0" tIns="0" rIns="0" bIns="0" rtlCol="0" anchor="t"/>
          <a:lstStyle/>
          <a:p>
            <a:pPr indent="0" marL="0">
              <a:buNone/>
            </a:pPr>
            <a:r>
              <a:rPr lang="en-US" sz="1350" b="1" dirty="0">
                <a:solidFill>
                  <a:srgbClr val="202124"/>
                </a:solidFill>
                <a:latin typeface="Calibri" pitchFamily="34" charset="0"/>
                <a:ea typeface="Calibri" pitchFamily="34" charset="-122"/>
                <a:cs typeface="Calibri" pitchFamily="34" charset="-120"/>
              </a:rPr>
              <a:t>Donner accès GCS au SA compute
</a:t>
            </a:r>
            <a:endParaRPr lang="en-US" sz="1350" dirty="0"/>
          </a:p>
          <a:p>
            <a:pPr indent="0" marL="0">
              <a:buNone/>
            </a:pPr>
            <a:r>
              <a:rPr lang="en-US" sz="1150" dirty="0">
                <a:solidFill>
                  <a:srgbClr val="5F6368"/>
                </a:solidFill>
                <a:latin typeface="Calibri" pitchFamily="34" charset="0"/>
                <a:ea typeface="Calibri" pitchFamily="34" charset="-122"/>
                <a:cs typeface="Calibri" pitchFamily="34" charset="-120"/>
              </a:rPr>
              <a:t>roles/storage.objectAdmin</a:t>
            </a:r>
            <a:endParaRPr lang="en-US" sz="1350" dirty="0"/>
          </a:p>
        </p:txBody>
      </p:sp>
      <p:sp>
        <p:nvSpPr>
          <p:cNvPr id="12" name="Shape 9"/>
          <p:cNvSpPr/>
          <p:nvPr/>
        </p:nvSpPr>
        <p:spPr>
          <a:xfrm>
            <a:off x="548640" y="2331720"/>
            <a:ext cx="384048" cy="384048"/>
          </a:xfrm>
          <a:prstGeom prst="ellipse">
            <a:avLst/>
          </a:prstGeom>
          <a:solidFill>
            <a:srgbClr val="9334E6"/>
          </a:solidFill>
          <a:ln/>
        </p:spPr>
      </p:sp>
      <p:sp>
        <p:nvSpPr>
          <p:cNvPr id="13" name="Text 10"/>
          <p:cNvSpPr/>
          <p:nvPr/>
        </p:nvSpPr>
        <p:spPr>
          <a:xfrm>
            <a:off x="548640" y="23317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1"/>
          <p:cNvSpPr/>
          <p:nvPr/>
        </p:nvSpPr>
        <p:spPr>
          <a:xfrm>
            <a:off x="1078992" y="2276856"/>
            <a:ext cx="4681728" cy="960120"/>
          </a:xfrm>
          <a:prstGeom prst="rect">
            <a:avLst/>
          </a:prstGeom>
          <a:noFill/>
          <a:ln/>
        </p:spPr>
        <p:txBody>
          <a:bodyPr wrap="square" lIns="0" tIns="0" rIns="0" bIns="0" rtlCol="0" anchor="t"/>
          <a:lstStyle/>
          <a:p>
            <a:pPr indent="0" marL="0">
              <a:buNone/>
            </a:pPr>
            <a:r>
              <a:rPr lang="en-US" sz="1350" b="1" dirty="0">
                <a:solidFill>
                  <a:srgbClr val="202124"/>
                </a:solidFill>
                <a:latin typeface="Calibri" pitchFamily="34" charset="0"/>
                <a:ea typeface="Calibri" pitchFamily="34" charset="-122"/>
                <a:cs typeface="Calibri" pitchFamily="34" charset="-120"/>
              </a:rPr>
              <a:t>Donner accès Artifact Registry
</a:t>
            </a:r>
            <a:endParaRPr lang="en-US" sz="1350" dirty="0"/>
          </a:p>
          <a:p>
            <a:pPr indent="0" marL="0">
              <a:buNone/>
            </a:pPr>
            <a:r>
              <a:rPr lang="en-US" sz="1150" dirty="0">
                <a:solidFill>
                  <a:srgbClr val="5F6368"/>
                </a:solidFill>
                <a:latin typeface="Calibri" pitchFamily="34" charset="0"/>
                <a:ea typeface="Calibri" pitchFamily="34" charset="-122"/>
                <a:cs typeface="Calibri" pitchFamily="34" charset="-120"/>
              </a:rPr>
              <a:t>roles/artifactregistry.reader</a:t>
            </a:r>
            <a:endParaRPr lang="en-US" sz="1350" dirty="0"/>
          </a:p>
        </p:txBody>
      </p:sp>
      <p:sp>
        <p:nvSpPr>
          <p:cNvPr id="15" name="Shape 12"/>
          <p:cNvSpPr/>
          <p:nvPr/>
        </p:nvSpPr>
        <p:spPr>
          <a:xfrm>
            <a:off x="548640" y="3291840"/>
            <a:ext cx="384048" cy="384048"/>
          </a:xfrm>
          <a:prstGeom prst="ellipse">
            <a:avLst/>
          </a:prstGeom>
          <a:solidFill>
            <a:srgbClr val="9334E6"/>
          </a:solidFill>
          <a:ln/>
        </p:spPr>
      </p:sp>
      <p:sp>
        <p:nvSpPr>
          <p:cNvPr id="16" name="Text 13"/>
          <p:cNvSpPr/>
          <p:nvPr/>
        </p:nvSpPr>
        <p:spPr>
          <a:xfrm>
            <a:off x="548640" y="32918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4"/>
          <p:cNvSpPr/>
          <p:nvPr/>
        </p:nvSpPr>
        <p:spPr>
          <a:xfrm>
            <a:off x="1078992" y="3236976"/>
            <a:ext cx="4681728" cy="960120"/>
          </a:xfrm>
          <a:prstGeom prst="rect">
            <a:avLst/>
          </a:prstGeom>
          <a:noFill/>
          <a:ln/>
        </p:spPr>
        <p:txBody>
          <a:bodyPr wrap="square" lIns="0" tIns="0" rIns="0" bIns="0" rtlCol="0" anchor="t"/>
          <a:lstStyle/>
          <a:p>
            <a:pPr indent="0" marL="0">
              <a:buNone/>
            </a:pPr>
            <a:r>
              <a:rPr lang="en-US" sz="1350" b="1" dirty="0">
                <a:solidFill>
                  <a:srgbClr val="202124"/>
                </a:solidFill>
                <a:latin typeface="Calibri" pitchFamily="34" charset="0"/>
                <a:ea typeface="Calibri" pitchFamily="34" charset="-122"/>
                <a:cs typeface="Calibri" pitchFamily="34" charset="-120"/>
              </a:rPr>
              <a:t>Lancer le custom-job
</a:t>
            </a:r>
            <a:endParaRPr lang="en-US" sz="1350" dirty="0"/>
          </a:p>
          <a:p>
            <a:pPr indent="0" marL="0">
              <a:buNone/>
            </a:pPr>
            <a:r>
              <a:rPr lang="en-US" sz="1150" dirty="0">
                <a:solidFill>
                  <a:srgbClr val="5F6368"/>
                </a:solidFill>
                <a:latin typeface="Calibri" pitchFamily="34" charset="0"/>
                <a:ea typeface="Calibri" pitchFamily="34" charset="-122"/>
                <a:cs typeface="Calibri" pitchFamily="34" charset="-120"/>
              </a:rPr>
              <a:t>machine + GPU + image + module</a:t>
            </a:r>
            <a:endParaRPr lang="en-US" sz="1350" dirty="0"/>
          </a:p>
        </p:txBody>
      </p:sp>
      <p:sp>
        <p:nvSpPr>
          <p:cNvPr id="18" name="Shape 15"/>
          <p:cNvSpPr/>
          <p:nvPr/>
        </p:nvSpPr>
        <p:spPr>
          <a:xfrm>
            <a:off x="548640" y="4251960"/>
            <a:ext cx="384048" cy="384048"/>
          </a:xfrm>
          <a:prstGeom prst="ellipse">
            <a:avLst/>
          </a:prstGeom>
          <a:solidFill>
            <a:srgbClr val="9334E6"/>
          </a:solidFill>
          <a:ln/>
        </p:spPr>
      </p:sp>
      <p:sp>
        <p:nvSpPr>
          <p:cNvPr id="19" name="Text 16"/>
          <p:cNvSpPr/>
          <p:nvPr/>
        </p:nvSpPr>
        <p:spPr>
          <a:xfrm>
            <a:off x="548640" y="42519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0" name="Text 17"/>
          <p:cNvSpPr/>
          <p:nvPr/>
        </p:nvSpPr>
        <p:spPr>
          <a:xfrm>
            <a:off x="1078992" y="4197096"/>
            <a:ext cx="4681728" cy="960120"/>
          </a:xfrm>
          <a:prstGeom prst="rect">
            <a:avLst/>
          </a:prstGeom>
          <a:noFill/>
          <a:ln/>
        </p:spPr>
        <p:txBody>
          <a:bodyPr wrap="square" lIns="0" tIns="0" rIns="0" bIns="0" rtlCol="0" anchor="t"/>
          <a:lstStyle/>
          <a:p>
            <a:pPr indent="0" marL="0">
              <a:buNone/>
            </a:pPr>
            <a:r>
              <a:rPr lang="en-US" sz="1350" b="1" dirty="0">
                <a:solidFill>
                  <a:srgbClr val="202124"/>
                </a:solidFill>
                <a:latin typeface="Calibri" pitchFamily="34" charset="0"/>
                <a:ea typeface="Calibri" pitchFamily="34" charset="-122"/>
                <a:cs typeface="Calibri" pitchFamily="34" charset="-120"/>
              </a:rPr>
              <a:t>Suivre les logs
</a:t>
            </a:r>
            <a:endParaRPr lang="en-US" sz="1350" dirty="0"/>
          </a:p>
          <a:p>
            <a:pPr indent="0" marL="0">
              <a:buNone/>
            </a:pPr>
            <a:r>
              <a:rPr lang="en-US" sz="1150" dirty="0">
                <a:solidFill>
                  <a:srgbClr val="5F6368"/>
                </a:solidFill>
                <a:latin typeface="Calibri" pitchFamily="34" charset="0"/>
                <a:ea typeface="Calibri" pitchFamily="34" charset="-122"/>
                <a:cs typeface="Calibri" pitchFamily="34" charset="-120"/>
              </a:rPr>
              <a:t>stream-logs / Console</a:t>
            </a:r>
            <a:endParaRPr lang="en-US" sz="1350" dirty="0"/>
          </a:p>
        </p:txBody>
      </p:sp>
      <p:sp>
        <p:nvSpPr>
          <p:cNvPr id="21" name="Shape 18"/>
          <p:cNvSpPr/>
          <p:nvPr/>
        </p:nvSpPr>
        <p:spPr>
          <a:xfrm>
            <a:off x="6035040" y="1371600"/>
            <a:ext cx="5623560" cy="4572000"/>
          </a:xfrm>
          <a:prstGeom prst="rect">
            <a:avLst/>
          </a:prstGeom>
          <a:solidFill>
            <a:srgbClr val="0E1A33"/>
          </a:solidFill>
          <a:ln/>
          <a:effectLst>
            <a:outerShdw sx="100000" sy="100000" kx="0" ky="0" algn="bl" rotWithShape="0" blurRad="88900" dist="38100" dir="5400000">
              <a:srgbClr val="8A94AD">
                <a:alpha val="26000"/>
              </a:srgbClr>
            </a:outerShdw>
          </a:effectLst>
        </p:spPr>
      </p:sp>
      <p:sp>
        <p:nvSpPr>
          <p:cNvPr id="22" name="Text 19"/>
          <p:cNvSpPr/>
          <p:nvPr/>
        </p:nvSpPr>
        <p:spPr>
          <a:xfrm>
            <a:off x="6199632" y="1481328"/>
            <a:ext cx="5294376" cy="4352544"/>
          </a:xfrm>
          <a:prstGeom prst="rect">
            <a:avLst/>
          </a:prstGeom>
          <a:noFill/>
          <a:ln/>
        </p:spPr>
        <p:txBody>
          <a:bodyPr wrap="square" lIns="0" tIns="0" rIns="0" bIns="0" rtlCol="0" anchor="t"/>
          <a:lstStyle/>
          <a:p>
            <a:pPr indent="0" marL="0">
              <a:buNone/>
            </a:pPr>
            <a:r>
              <a:rPr lang="en-US" sz="850" dirty="0">
                <a:solidFill>
                  <a:srgbClr val="7F8CA8"/>
                </a:solidFill>
                <a:latin typeface="Consolas" pitchFamily="34" charset="0"/>
                <a:ea typeface="Consolas" pitchFamily="34" charset="-122"/>
                <a:cs typeface="Consolas" pitchFamily="34" charset="-120"/>
              </a:rPr>
              <a:t># 3. Fine-tuning NLLB (dialecte betsileo)</a:t>
            </a:r>
            <a:endParaRPr lang="en-US" sz="850" dirty="0"/>
          </a:p>
          <a:p>
            <a:pPr indent="0" marL="0">
              <a:buNone/>
            </a:pPr>
            <a:r>
              <a:rPr lang="en-US" sz="850" dirty="0">
                <a:solidFill>
                  <a:srgbClr val="DCE3F2"/>
                </a:solidFill>
                <a:latin typeface="Consolas" pitchFamily="34" charset="0"/>
                <a:ea typeface="Consolas" pitchFamily="34" charset="-122"/>
                <a:cs typeface="Consolas" pitchFamily="34" charset="-120"/>
              </a:rPr>
              <a:t>gcloud ai custom-jobs create \</a:t>
            </a:r>
            <a:endParaRPr lang="en-US" sz="850" dirty="0"/>
          </a:p>
          <a:p>
            <a:pPr indent="0" marL="0">
              <a:buNone/>
            </a:pPr>
            <a:r>
              <a:rPr lang="en-US" sz="850" dirty="0">
                <a:solidFill>
                  <a:srgbClr val="DCE3F2"/>
                </a:solidFill>
                <a:latin typeface="Consolas" pitchFamily="34" charset="0"/>
                <a:ea typeface="Consolas" pitchFamily="34" charset="-122"/>
                <a:cs typeface="Consolas" pitchFamily="34" charset="-120"/>
              </a:rPr>
              <a:t>  --region=us-central1 \</a:t>
            </a:r>
            <a:endParaRPr lang="en-US" sz="850" dirty="0"/>
          </a:p>
          <a:p>
            <a:pPr indent="0" marL="0">
              <a:buNone/>
            </a:pPr>
            <a:r>
              <a:rPr lang="en-US" sz="850" dirty="0">
                <a:solidFill>
                  <a:srgbClr val="DCE3F2"/>
                </a:solidFill>
                <a:latin typeface="Consolas" pitchFamily="34" charset="0"/>
                <a:ea typeface="Consolas" pitchFamily="34" charset="-122"/>
                <a:cs typeface="Consolas" pitchFamily="34" charset="-120"/>
              </a:rPr>
              <a:t>  --project=mgvaovao-ia \</a:t>
            </a:r>
            <a:endParaRPr lang="en-US" sz="850" dirty="0"/>
          </a:p>
          <a:p>
            <a:pPr indent="0" marL="0">
              <a:buNone/>
            </a:pPr>
            <a:r>
              <a:rPr lang="en-US" sz="850" dirty="0">
                <a:solidFill>
                  <a:srgbClr val="DCE3F2"/>
                </a:solidFill>
                <a:latin typeface="Consolas" pitchFamily="34" charset="0"/>
                <a:ea typeface="Consolas" pitchFamily="34" charset="-122"/>
                <a:cs typeface="Consolas" pitchFamily="34" charset="-120"/>
              </a:rPr>
              <a:t>  --display-name="nllb-ft-betsileo" \</a:t>
            </a:r>
            <a:endParaRPr lang="en-US" sz="850" dirty="0"/>
          </a:p>
          <a:p>
            <a:pPr indent="0" marL="0">
              <a:buNone/>
            </a:pPr>
            <a:r>
              <a:rPr lang="en-US" sz="850" dirty="0">
                <a:solidFill>
                  <a:srgbClr val="DCE3F2"/>
                </a:solidFill>
                <a:latin typeface="Consolas" pitchFamily="34" charset="0"/>
                <a:ea typeface="Consolas" pitchFamily="34" charset="-122"/>
                <a:cs typeface="Consolas" pitchFamily="34" charset="-120"/>
              </a:rPr>
              <a:t>  --worker-pool-spec="</a:t>
            </a:r>
            <a:endParaRPr lang="en-US" sz="850" dirty="0"/>
          </a:p>
          <a:p>
            <a:pPr indent="0" marL="0">
              <a:buNone/>
            </a:pPr>
            <a:r>
              <a:rPr lang="en-US" sz="850" dirty="0">
                <a:solidFill>
                  <a:srgbClr val="DCE3F2"/>
                </a:solidFill>
                <a:latin typeface="Consolas" pitchFamily="34" charset="0"/>
                <a:ea typeface="Consolas" pitchFamily="34" charset="-122"/>
                <a:cs typeface="Consolas" pitchFamily="34" charset="-120"/>
              </a:rPr>
              <a:t>      machine-type=n1-standard-8,</a:t>
            </a:r>
            <a:endParaRPr lang="en-US" sz="850" dirty="0"/>
          </a:p>
          <a:p>
            <a:pPr indent="0" marL="0">
              <a:buNone/>
            </a:pPr>
            <a:r>
              <a:rPr lang="en-US" sz="850" dirty="0">
                <a:solidFill>
                  <a:srgbClr val="DCE3F2"/>
                </a:solidFill>
                <a:latin typeface="Consolas" pitchFamily="34" charset="0"/>
                <a:ea typeface="Consolas" pitchFamily="34" charset="-122"/>
                <a:cs typeface="Consolas" pitchFamily="34" charset="-120"/>
              </a:rPr>
              <a:t>      replica-count=1,</a:t>
            </a:r>
            <a:endParaRPr lang="en-US" sz="850" dirty="0"/>
          </a:p>
          <a:p>
            <a:pPr indent="0" marL="0">
              <a:buNone/>
            </a:pPr>
            <a:r>
              <a:rPr lang="en-US" sz="850" dirty="0">
                <a:solidFill>
                  <a:srgbClr val="DCE3F2"/>
                </a:solidFill>
                <a:latin typeface="Consolas" pitchFamily="34" charset="0"/>
                <a:ea typeface="Consolas" pitchFamily="34" charset="-122"/>
                <a:cs typeface="Consolas" pitchFamily="34" charset="-120"/>
              </a:rPr>
              <a:t>      accelerator-type=NVIDIA_TESLA_T4,</a:t>
            </a:r>
            <a:endParaRPr lang="en-US" sz="850" dirty="0"/>
          </a:p>
          <a:p>
            <a:pPr indent="0" marL="0">
              <a:buNone/>
            </a:pPr>
            <a:r>
              <a:rPr lang="en-US" sz="850" dirty="0">
                <a:solidFill>
                  <a:srgbClr val="DCE3F2"/>
                </a:solidFill>
                <a:latin typeface="Consolas" pitchFamily="34" charset="0"/>
                <a:ea typeface="Consolas" pitchFamily="34" charset="-122"/>
                <a:cs typeface="Consolas" pitchFamily="34" charset="-120"/>
              </a:rPr>
              <a:t>      accelerator-count=1,</a:t>
            </a:r>
            <a:endParaRPr lang="en-US" sz="850" dirty="0"/>
          </a:p>
          <a:p>
            <a:pPr indent="0" marL="0">
              <a:buNone/>
            </a:pPr>
            <a:r>
              <a:rPr lang="en-US" sz="850" dirty="0">
                <a:solidFill>
                  <a:srgbClr val="DCE3F2"/>
                </a:solidFill>
                <a:latin typeface="Consolas" pitchFamily="34" charset="0"/>
                <a:ea typeface="Consolas" pitchFamily="34" charset="-122"/>
                <a:cs typeface="Consolas" pitchFamily="34" charset="-120"/>
              </a:rPr>
              <a:t>      executor-image-uri=</a:t>
            </a:r>
            <a:endParaRPr lang="en-US" sz="850" dirty="0"/>
          </a:p>
          <a:p>
            <a:pPr indent="0" marL="0">
              <a:buNone/>
            </a:pPr>
            <a:r>
              <a:rPr lang="en-US" sz="850" dirty="0">
                <a:solidFill>
                  <a:srgbClr val="DCE3F2"/>
                </a:solidFill>
                <a:latin typeface="Consolas" pitchFamily="34" charset="0"/>
                <a:ea typeface="Consolas" pitchFamily="34" charset="-122"/>
                <a:cs typeface="Consolas" pitchFamily="34" charset="-120"/>
              </a:rPr>
              <a:t>        .../mgvaovao:cuda-latest,</a:t>
            </a:r>
            <a:endParaRPr lang="en-US" sz="850" dirty="0"/>
          </a:p>
          <a:p>
            <a:pPr indent="0" marL="0">
              <a:buNone/>
            </a:pPr>
            <a:r>
              <a:rPr lang="en-US" sz="850" dirty="0">
                <a:solidFill>
                  <a:srgbClr val="DCE3F2"/>
                </a:solidFill>
                <a:latin typeface="Consolas" pitchFamily="34" charset="0"/>
                <a:ea typeface="Consolas" pitchFamily="34" charset="-122"/>
                <a:cs typeface="Consolas" pitchFamily="34" charset="-120"/>
              </a:rPr>
              <a:t>      local-package-path=.,</a:t>
            </a:r>
            <a:endParaRPr lang="en-US" sz="850" dirty="0"/>
          </a:p>
          <a:p>
            <a:pPr indent="0" marL="0">
              <a:buNone/>
            </a:pPr>
            <a:r>
              <a:rPr lang="en-US" sz="850" dirty="0">
                <a:solidFill>
                  <a:srgbClr val="DCE3F2"/>
                </a:solidFill>
                <a:latin typeface="Consolas" pitchFamily="34" charset="0"/>
                <a:ea typeface="Consolas" pitchFamily="34" charset="-122"/>
                <a:cs typeface="Consolas" pitchFamily="34" charset="-120"/>
              </a:rPr>
              <a:t>      python-module=training.train_nllb" \</a:t>
            </a:r>
            <a:endParaRPr lang="en-US" sz="850" dirty="0"/>
          </a:p>
          <a:p>
            <a:pPr indent="0" marL="0">
              <a:buNone/>
            </a:pPr>
            <a:r>
              <a:rPr lang="en-US" sz="850" dirty="0">
                <a:solidFill>
                  <a:srgbClr val="DCE3F2"/>
                </a:solidFill>
                <a:latin typeface="Consolas" pitchFamily="34" charset="0"/>
                <a:ea typeface="Consolas" pitchFamily="34" charset="-122"/>
                <a:cs typeface="Consolas" pitchFamily="34" charset="-120"/>
              </a:rPr>
              <a:t>  --args="--dialect=betsileo"</a:t>
            </a:r>
            <a:endParaRPr lang="en-US" sz="850" dirty="0"/>
          </a:p>
          <a:p>
            <a:pPr indent="0" marL="0">
              <a:buNone/>
            </a:pPr>
            <a:r>
              <a:rPr lang="en-US" sz="850" dirty="0">
                <a:solidFill>
                  <a:srgbClr val="DCE3F2"/>
                </a:solidFill>
                <a:latin typeface="Consolas" pitchFamily="34" charset="0"/>
                <a:ea typeface="Consolas" pitchFamily="34" charset="-122"/>
                <a:cs typeface="Consolas" pitchFamily="34" charset="-120"/>
              </a:rPr>
              <a:t> </a:t>
            </a:r>
            <a:endParaRPr lang="en-US" sz="850" dirty="0"/>
          </a:p>
          <a:p>
            <a:pPr indent="0" marL="0">
              <a:buNone/>
            </a:pPr>
            <a:r>
              <a:rPr lang="en-US" sz="850" dirty="0">
                <a:solidFill>
                  <a:srgbClr val="7F8CA8"/>
                </a:solidFill>
                <a:latin typeface="Consolas" pitchFamily="34" charset="0"/>
                <a:ea typeface="Consolas" pitchFamily="34" charset="-122"/>
                <a:cs typeface="Consolas" pitchFamily="34" charset="-120"/>
              </a:rPr>
              <a:t># 4. Suivre les logs</a:t>
            </a:r>
            <a:endParaRPr lang="en-US" sz="850" dirty="0"/>
          </a:p>
          <a:p>
            <a:pPr indent="0" marL="0">
              <a:buNone/>
            </a:pPr>
            <a:r>
              <a:rPr lang="en-US" sz="850" dirty="0">
                <a:solidFill>
                  <a:srgbClr val="DCE3F2"/>
                </a:solidFill>
                <a:latin typeface="Consolas" pitchFamily="34" charset="0"/>
                <a:ea typeface="Consolas" pitchFamily="34" charset="-122"/>
                <a:cs typeface="Consolas" pitchFamily="34" charset="-120"/>
              </a:rPr>
              <a:t>gcloud ai custom-jobs stream-logs JOB_ID \</a:t>
            </a:r>
            <a:endParaRPr lang="en-US" sz="850" dirty="0"/>
          </a:p>
          <a:p>
            <a:pPr indent="0" marL="0">
              <a:buNone/>
            </a:pPr>
            <a:r>
              <a:rPr lang="en-US" sz="850" dirty="0">
                <a:solidFill>
                  <a:srgbClr val="DCE3F2"/>
                </a:solidFill>
                <a:latin typeface="Consolas" pitchFamily="34" charset="0"/>
                <a:ea typeface="Consolas" pitchFamily="34" charset="-122"/>
                <a:cs typeface="Consolas" pitchFamily="34" charset="-120"/>
              </a:rPr>
              <a:t>  --region=us-central1</a:t>
            </a:r>
            <a:endParaRPr lang="en-US" sz="850" dirty="0"/>
          </a:p>
        </p:txBody>
      </p:sp>
      <p:sp>
        <p:nvSpPr>
          <p:cNvPr id="23" name="Text 20"/>
          <p:cNvSpPr/>
          <p:nvPr/>
        </p:nvSpPr>
        <p:spPr>
          <a:xfrm>
            <a:off x="548640" y="6510528"/>
            <a:ext cx="11155680" cy="274320"/>
          </a:xfrm>
          <a:prstGeom prst="rect">
            <a:avLst/>
          </a:prstGeom>
          <a:noFill/>
          <a:ln/>
        </p:spPr>
        <p:txBody>
          <a:bodyPr wrap="square" lIns="0" tIns="0" rIns="0" bIns="0" rtlCol="0" anchor="ctr"/>
          <a:lstStyle/>
          <a:p>
            <a:pPr indent="0" marL="0">
              <a:buNone/>
            </a:pPr>
            <a:r>
              <a:rPr lang="en-US" sz="950" i="1" dirty="0">
                <a:solidFill>
                  <a:srgbClr val="5F6368"/>
                </a:solidFill>
                <a:latin typeface="Calibri" pitchFamily="34" charset="0"/>
                <a:ea typeface="Calibri" pitchFamily="34" charset="-122"/>
                <a:cs typeface="Calibri" pitchFamily="34" charset="-120"/>
              </a:rPr>
              <a:t>Source : README §18.6 — setup IAM Vertex + lancement custom-job (NLLB &amp; TTS)</a:t>
            </a:r>
            <a:endParaRPr lang="en-US" sz="950" dirty="0"/>
          </a:p>
        </p:txBody>
      </p:sp>
      <p:sp>
        <p:nvSpPr>
          <p:cNvPr id="24" name="Text 21"/>
          <p:cNvSpPr/>
          <p:nvPr/>
        </p:nvSpPr>
        <p:spPr>
          <a:xfrm>
            <a:off x="5212080" y="6099048"/>
            <a:ext cx="3200400" cy="182880"/>
          </a:xfrm>
          <a:prstGeom prst="rect">
            <a:avLst/>
          </a:prstGeom>
          <a:noFill/>
          <a:ln/>
        </p:spPr>
        <p:txBody>
          <a:bodyPr wrap="square" lIns="0" tIns="0" rIns="0" bIns="0" rtlCol="0" anchor="ctr"/>
          <a:lstStyle/>
          <a:p>
            <a:pPr indent="0" marL="0">
              <a:buNone/>
            </a:pPr>
            <a:r>
              <a:rPr lang="en-US" sz="850" b="1" dirty="0">
                <a:solidFill>
                  <a:srgbClr val="97A1B5"/>
                </a:solidFill>
                <a:latin typeface="Calibri" pitchFamily="34" charset="0"/>
                <a:ea typeface="Calibri" pitchFamily="34" charset="-122"/>
                <a:cs typeface="Calibri" pitchFamily="34" charset="-120"/>
              </a:rPr>
              <a:t>Tsantaniaina Rakotonjanahary Ambaorasoa Guillaume</a:t>
            </a:r>
            <a:endParaRPr lang="en-US" sz="850" dirty="0"/>
          </a:p>
        </p:txBody>
      </p:sp>
      <p:sp>
        <p:nvSpPr>
          <p:cNvPr id="25" name="Shape 22"/>
          <p:cNvSpPr/>
          <p:nvPr/>
        </p:nvSpPr>
        <p:spPr>
          <a:xfrm>
            <a:off x="11137392" y="5852160"/>
            <a:ext cx="914400" cy="914400"/>
          </a:xfrm>
          <a:prstGeom prst="roundRect">
            <a:avLst>
              <a:gd name="adj" fmla="val 10000"/>
            </a:avLst>
          </a:prstGeom>
          <a:solidFill>
            <a:srgbClr val="FFFFFF"/>
          </a:solidFill>
          <a:ln w="12700">
            <a:solidFill>
              <a:srgbClr val="D6DEEC"/>
            </a:solidFill>
            <a:prstDash val="solid"/>
          </a:ln>
          <a:effectLst>
            <a:outerShdw sx="100000" sy="100000" kx="0" ky="0" algn="bl" rotWithShape="0" blurRad="88900" dist="38100" dir="5400000">
              <a:srgbClr val="8A94AD">
                <a:alpha val="26000"/>
              </a:srgbClr>
            </a:outerShdw>
          </a:effectLst>
        </p:spPr>
      </p:sp>
      <p:pic>
        <p:nvPicPr>
          <p:cNvPr id="26" name="Image 1" descr="logos/logo_mdn.png">    </p:cNvPr>
          <p:cNvPicPr>
            <a:picLocks noChangeAspect="1"/>
          </p:cNvPicPr>
          <p:nvPr/>
        </p:nvPicPr>
        <p:blipFill>
          <a:blip r:embed="rId2"/>
          <a:stretch>
            <a:fillRect/>
          </a:stretch>
        </p:blipFill>
        <p:spPr>
          <a:xfrm>
            <a:off x="11237976" y="5952744"/>
            <a:ext cx="713232" cy="713232"/>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9334E6"/>
          </a:solidFill>
          <a:ln/>
        </p:spPr>
      </p:sp>
      <p:sp>
        <p:nvSpPr>
          <p:cNvPr id="3" name="Shape 1"/>
          <p:cNvSpPr/>
          <p:nvPr/>
        </p:nvSpPr>
        <p:spPr>
          <a:xfrm>
            <a:off x="146304" y="0"/>
            <a:ext cx="12042648" cy="1078992"/>
          </a:xfrm>
          <a:prstGeom prst="rect">
            <a:avLst/>
          </a:prstGeom>
          <a:solidFill>
            <a:srgbClr val="1B2A4A"/>
          </a:solidFill>
          <a:ln/>
        </p:spPr>
      </p:sp>
      <p:sp>
        <p:nvSpPr>
          <p:cNvPr id="4" name="Text 2"/>
          <p:cNvSpPr/>
          <p:nvPr/>
        </p:nvSpPr>
        <p:spPr>
          <a:xfrm>
            <a:off x="548640" y="182880"/>
            <a:ext cx="9601200" cy="292608"/>
          </a:xfrm>
          <a:prstGeom prst="rect">
            <a:avLst/>
          </a:prstGeom>
          <a:noFill/>
          <a:ln/>
        </p:spPr>
        <p:txBody>
          <a:bodyPr wrap="square" lIns="0" tIns="0" rIns="0" bIns="0" rtlCol="0" anchor="ctr"/>
          <a:lstStyle/>
          <a:p>
            <a:pPr indent="0" marL="0">
              <a:buNone/>
            </a:pPr>
            <a:r>
              <a:rPr lang="en-US" sz="1200" b="1" spc="150" kern="0" dirty="0">
                <a:solidFill>
                  <a:srgbClr val="C58AF9"/>
                </a:solidFill>
                <a:latin typeface="Calibri" pitchFamily="34" charset="0"/>
                <a:ea typeface="Calibri" pitchFamily="34" charset="-122"/>
                <a:cs typeface="Calibri" pitchFamily="34" charset="-120"/>
              </a:rPr>
              <a:t>6 ÉTAPES : VALIDATE → FINE-TUNE → EVAL → REGISTER → DEPLOY</a:t>
            </a:r>
            <a:endParaRPr lang="en-US" sz="1200" dirty="0"/>
          </a:p>
        </p:txBody>
      </p:sp>
      <p:sp>
        <p:nvSpPr>
          <p:cNvPr id="5" name="Text 3"/>
          <p:cNvSpPr/>
          <p:nvPr/>
        </p:nvSpPr>
        <p:spPr>
          <a:xfrm>
            <a:off x="530352" y="438912"/>
            <a:ext cx="9692640" cy="566928"/>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Vertex AI Pipeline — le DAG Kubeflow</a:t>
            </a:r>
            <a:endParaRPr lang="en-US" sz="2700" dirty="0"/>
          </a:p>
        </p:txBody>
      </p:sp>
      <p:sp>
        <p:nvSpPr>
          <p:cNvPr id="6" name="Text 4"/>
          <p:cNvSpPr/>
          <p:nvPr/>
        </p:nvSpPr>
        <p:spPr>
          <a:xfrm>
            <a:off x="8229600" y="182880"/>
            <a:ext cx="1828800" cy="274320"/>
          </a:xfrm>
          <a:prstGeom prst="rect">
            <a:avLst/>
          </a:prstGeom>
          <a:noFill/>
          <a:ln/>
        </p:spPr>
        <p:txBody>
          <a:bodyPr wrap="square" lIns="0" tIns="0" rIns="0" bIns="0" rtlCol="0" anchor="ctr"/>
          <a:lstStyle/>
          <a:p>
            <a:pPr algn="r" indent="0" marL="0">
              <a:buNone/>
            </a:pPr>
            <a:r>
              <a:rPr lang="en-US" sz="1050" b="1" spc="100" kern="0" dirty="0">
                <a:solidFill>
                  <a:srgbClr val="8FA0C4"/>
                </a:solidFill>
                <a:latin typeface="Calibri" pitchFamily="34" charset="0"/>
                <a:ea typeface="Calibri" pitchFamily="34" charset="-122"/>
                <a:cs typeface="Calibri" pitchFamily="34" charset="-120"/>
              </a:rPr>
              <a:t>PARTIE 2</a:t>
            </a:r>
            <a:endParaRPr lang="en-US" sz="1050" dirty="0"/>
          </a:p>
        </p:txBody>
      </p:sp>
      <p:sp>
        <p:nvSpPr>
          <p:cNvPr id="7" name="Shape 5"/>
          <p:cNvSpPr/>
          <p:nvPr/>
        </p:nvSpPr>
        <p:spPr>
          <a:xfrm>
            <a:off x="10927080" y="237744"/>
            <a:ext cx="603504" cy="603504"/>
          </a:xfrm>
          <a:prstGeom prst="roundRect">
            <a:avLst>
              <a:gd name="adj" fmla="val 12121"/>
            </a:avLst>
          </a:prstGeom>
          <a:solidFill>
            <a:srgbClr val="FFFFFF"/>
          </a:solidFill>
          <a:ln/>
        </p:spPr>
      </p:sp>
      <p:pic>
        <p:nvPicPr>
          <p:cNvPr id="8" name="Image 0" descr="logos/04_vertex_ai.png">    </p:cNvPr>
          <p:cNvPicPr>
            <a:picLocks noChangeAspect="1"/>
          </p:cNvPicPr>
          <p:nvPr/>
        </p:nvPicPr>
        <p:blipFill>
          <a:blip r:embed="rId1"/>
          <a:stretch>
            <a:fillRect/>
          </a:stretch>
        </p:blipFill>
        <p:spPr>
          <a:xfrm>
            <a:off x="10991088" y="301752"/>
            <a:ext cx="475488" cy="475488"/>
          </a:xfrm>
          <a:prstGeom prst="rect">
            <a:avLst/>
          </a:prstGeom>
        </p:spPr>
      </p:pic>
      <p:sp>
        <p:nvSpPr>
          <p:cNvPr id="9" name="Shape 6"/>
          <p:cNvSpPr/>
          <p:nvPr/>
        </p:nvSpPr>
        <p:spPr>
          <a:xfrm>
            <a:off x="548640" y="1554480"/>
            <a:ext cx="1755648" cy="1371600"/>
          </a:xfrm>
          <a:prstGeom prst="rect">
            <a:avLst/>
          </a:prstGeom>
          <a:solidFill>
            <a:srgbClr val="FFFFFF"/>
          </a:solidFill>
          <a:ln/>
          <a:effectLst>
            <a:outerShdw sx="100000" sy="100000" kx="0" ky="0" algn="bl" rotWithShape="0" blurRad="88900" dist="38100" dir="5400000">
              <a:srgbClr val="8A94AD">
                <a:alpha val="26000"/>
              </a:srgbClr>
            </a:outerShdw>
          </a:effectLst>
        </p:spPr>
      </p:sp>
      <p:sp>
        <p:nvSpPr>
          <p:cNvPr id="10" name="Shape 7"/>
          <p:cNvSpPr/>
          <p:nvPr/>
        </p:nvSpPr>
        <p:spPr>
          <a:xfrm>
            <a:off x="658368" y="1664208"/>
            <a:ext cx="365760" cy="365760"/>
          </a:xfrm>
          <a:prstGeom prst="ellipse">
            <a:avLst/>
          </a:prstGeom>
          <a:solidFill>
            <a:srgbClr val="4285F4"/>
          </a:solidFill>
          <a:ln/>
        </p:spPr>
      </p:sp>
      <p:sp>
        <p:nvSpPr>
          <p:cNvPr id="11" name="Text 8"/>
          <p:cNvSpPr/>
          <p:nvPr/>
        </p:nvSpPr>
        <p:spPr>
          <a:xfrm>
            <a:off x="658368" y="16642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9"/>
          <p:cNvSpPr/>
          <p:nvPr/>
        </p:nvSpPr>
        <p:spPr>
          <a:xfrm>
            <a:off x="1097280" y="1682496"/>
            <a:ext cx="1152144" cy="365760"/>
          </a:xfrm>
          <a:prstGeom prst="rect">
            <a:avLst/>
          </a:prstGeom>
          <a:noFill/>
          <a:ln/>
        </p:spPr>
        <p:txBody>
          <a:bodyPr wrap="square" lIns="0" tIns="0" rIns="0" bIns="0" rtlCol="0" anchor="ctr"/>
          <a:lstStyle/>
          <a:p>
            <a:pPr indent="0" marL="0">
              <a:buNone/>
            </a:pPr>
            <a:r>
              <a:rPr lang="en-US" sz="1000" b="1" dirty="0">
                <a:solidFill>
                  <a:srgbClr val="202124"/>
                </a:solidFill>
                <a:latin typeface="Consolas" pitchFamily="34" charset="0"/>
                <a:ea typeface="Consolas" pitchFamily="34" charset="-122"/>
                <a:cs typeface="Consolas" pitchFamily="34" charset="-120"/>
              </a:rPr>
              <a:t>data_validation</a:t>
            </a:r>
            <a:endParaRPr lang="en-US" sz="1000" dirty="0"/>
          </a:p>
        </p:txBody>
      </p:sp>
      <p:sp>
        <p:nvSpPr>
          <p:cNvPr id="13" name="Text 10"/>
          <p:cNvSpPr/>
          <p:nvPr/>
        </p:nvSpPr>
        <p:spPr>
          <a:xfrm>
            <a:off x="658368" y="2121408"/>
            <a:ext cx="1536192" cy="731520"/>
          </a:xfrm>
          <a:prstGeom prst="rect">
            <a:avLst/>
          </a:prstGeom>
          <a:noFill/>
          <a:ln/>
        </p:spPr>
        <p:txBody>
          <a:bodyPr wrap="square" lIns="0" tIns="0" rIns="0" bIns="0" rtlCol="0" anchor="t"/>
          <a:lstStyle/>
          <a:p>
            <a:pPr indent="0" marL="0">
              <a:buNone/>
            </a:pPr>
            <a:r>
              <a:rPr lang="en-US" sz="950" dirty="0">
                <a:solidFill>
                  <a:srgbClr val="5F6368"/>
                </a:solidFill>
                <a:latin typeface="Calibri" pitchFamily="34" charset="0"/>
                <a:ea typeface="Calibri" pitchFamily="34" charset="-122"/>
                <a:cs typeface="Calibri" pitchFamily="34" charset="-120"/>
              </a:rPr>
              <a:t>Cloud Run · $0</a:t>
            </a:r>
            <a:endParaRPr lang="en-US" sz="950" dirty="0"/>
          </a:p>
        </p:txBody>
      </p:sp>
      <p:sp>
        <p:nvSpPr>
          <p:cNvPr id="14" name="Text 11"/>
          <p:cNvSpPr/>
          <p:nvPr/>
        </p:nvSpPr>
        <p:spPr>
          <a:xfrm>
            <a:off x="2249424" y="1965960"/>
            <a:ext cx="219456" cy="457200"/>
          </a:xfrm>
          <a:prstGeom prst="rect">
            <a:avLst/>
          </a:prstGeom>
          <a:noFill/>
          <a:ln/>
        </p:spPr>
        <p:txBody>
          <a:bodyPr wrap="square" lIns="0" tIns="0" rIns="0" bIns="0" rtlCol="0" anchor="ctr"/>
          <a:lstStyle/>
          <a:p>
            <a:pPr algn="ctr" indent="0" marL="0">
              <a:buNone/>
            </a:pPr>
            <a:r>
              <a:rPr lang="en-US" sz="1600" b="1" dirty="0">
                <a:solidFill>
                  <a:srgbClr val="3C4A66"/>
                </a:solidFill>
                <a:latin typeface="Calibri" pitchFamily="34" charset="0"/>
                <a:ea typeface="Calibri" pitchFamily="34" charset="-122"/>
                <a:cs typeface="Calibri" pitchFamily="34" charset="-120"/>
              </a:rPr>
              <a:t>→</a:t>
            </a:r>
            <a:endParaRPr lang="en-US" sz="1600" dirty="0"/>
          </a:p>
        </p:txBody>
      </p:sp>
      <p:sp>
        <p:nvSpPr>
          <p:cNvPr id="15" name="Shape 12"/>
          <p:cNvSpPr/>
          <p:nvPr/>
        </p:nvSpPr>
        <p:spPr>
          <a:xfrm>
            <a:off x="2414016" y="1554480"/>
            <a:ext cx="1755648" cy="1371600"/>
          </a:xfrm>
          <a:prstGeom prst="rect">
            <a:avLst/>
          </a:prstGeom>
          <a:solidFill>
            <a:srgbClr val="FFFFFF"/>
          </a:solidFill>
          <a:ln/>
          <a:effectLst>
            <a:outerShdw sx="100000" sy="100000" kx="0" ky="0" algn="bl" rotWithShape="0" blurRad="88900" dist="38100" dir="5400000">
              <a:srgbClr val="8A94AD">
                <a:alpha val="26000"/>
              </a:srgbClr>
            </a:outerShdw>
          </a:effectLst>
        </p:spPr>
      </p:sp>
      <p:sp>
        <p:nvSpPr>
          <p:cNvPr id="16" name="Shape 13"/>
          <p:cNvSpPr/>
          <p:nvPr/>
        </p:nvSpPr>
        <p:spPr>
          <a:xfrm>
            <a:off x="2523744" y="1664208"/>
            <a:ext cx="365760" cy="365760"/>
          </a:xfrm>
          <a:prstGeom prst="ellipse">
            <a:avLst/>
          </a:prstGeom>
          <a:solidFill>
            <a:srgbClr val="34A853"/>
          </a:solidFill>
          <a:ln/>
        </p:spPr>
      </p:sp>
      <p:sp>
        <p:nvSpPr>
          <p:cNvPr id="17" name="Text 14"/>
          <p:cNvSpPr/>
          <p:nvPr/>
        </p:nvSpPr>
        <p:spPr>
          <a:xfrm>
            <a:off x="2523744" y="16642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5"/>
          <p:cNvSpPr/>
          <p:nvPr/>
        </p:nvSpPr>
        <p:spPr>
          <a:xfrm>
            <a:off x="2962656" y="1682496"/>
            <a:ext cx="1152144" cy="365760"/>
          </a:xfrm>
          <a:prstGeom prst="rect">
            <a:avLst/>
          </a:prstGeom>
          <a:noFill/>
          <a:ln/>
        </p:spPr>
        <p:txBody>
          <a:bodyPr wrap="square" lIns="0" tIns="0" rIns="0" bIns="0" rtlCol="0" anchor="ctr"/>
          <a:lstStyle/>
          <a:p>
            <a:pPr indent="0" marL="0">
              <a:buNone/>
            </a:pPr>
            <a:r>
              <a:rPr lang="en-US" sz="1000" b="1" dirty="0">
                <a:solidFill>
                  <a:srgbClr val="202124"/>
                </a:solidFill>
                <a:latin typeface="Consolas" pitchFamily="34" charset="0"/>
                <a:ea typeface="Consolas" pitchFamily="34" charset="-122"/>
                <a:cs typeface="Consolas" pitchFamily="34" charset="-120"/>
              </a:rPr>
              <a:t>nllb_finetune</a:t>
            </a:r>
            <a:endParaRPr lang="en-US" sz="1000" dirty="0"/>
          </a:p>
        </p:txBody>
      </p:sp>
      <p:sp>
        <p:nvSpPr>
          <p:cNvPr id="19" name="Text 16"/>
          <p:cNvSpPr/>
          <p:nvPr/>
        </p:nvSpPr>
        <p:spPr>
          <a:xfrm>
            <a:off x="2523744" y="2121408"/>
            <a:ext cx="1536192" cy="731520"/>
          </a:xfrm>
          <a:prstGeom prst="rect">
            <a:avLst/>
          </a:prstGeom>
          <a:noFill/>
          <a:ln/>
        </p:spPr>
        <p:txBody>
          <a:bodyPr wrap="square" lIns="0" tIns="0" rIns="0" bIns="0" rtlCol="0" anchor="t"/>
          <a:lstStyle/>
          <a:p>
            <a:pPr indent="0" marL="0">
              <a:buNone/>
            </a:pPr>
            <a:r>
              <a:rPr lang="en-US" sz="950" dirty="0">
                <a:solidFill>
                  <a:srgbClr val="5F6368"/>
                </a:solidFill>
                <a:latin typeface="Calibri" pitchFamily="34" charset="0"/>
                <a:ea typeface="Calibri" pitchFamily="34" charset="-122"/>
                <a:cs typeface="Calibri" pitchFamily="34" charset="-120"/>
              </a:rPr>
              <a:t>LoRA r=16 · L4 Spot</a:t>
            </a:r>
            <a:endParaRPr lang="en-US" sz="950" dirty="0"/>
          </a:p>
        </p:txBody>
      </p:sp>
      <p:sp>
        <p:nvSpPr>
          <p:cNvPr id="20" name="Text 17"/>
          <p:cNvSpPr/>
          <p:nvPr/>
        </p:nvSpPr>
        <p:spPr>
          <a:xfrm>
            <a:off x="4114800" y="1965960"/>
            <a:ext cx="219456" cy="457200"/>
          </a:xfrm>
          <a:prstGeom prst="rect">
            <a:avLst/>
          </a:prstGeom>
          <a:noFill/>
          <a:ln/>
        </p:spPr>
        <p:txBody>
          <a:bodyPr wrap="square" lIns="0" tIns="0" rIns="0" bIns="0" rtlCol="0" anchor="ctr"/>
          <a:lstStyle/>
          <a:p>
            <a:pPr algn="ctr" indent="0" marL="0">
              <a:buNone/>
            </a:pPr>
            <a:r>
              <a:rPr lang="en-US" sz="1600" b="1" dirty="0">
                <a:solidFill>
                  <a:srgbClr val="3C4A66"/>
                </a:solidFill>
                <a:latin typeface="Calibri" pitchFamily="34" charset="0"/>
                <a:ea typeface="Calibri" pitchFamily="34" charset="-122"/>
                <a:cs typeface="Calibri" pitchFamily="34" charset="-120"/>
              </a:rPr>
              <a:t>→</a:t>
            </a:r>
            <a:endParaRPr lang="en-US" sz="1600" dirty="0"/>
          </a:p>
        </p:txBody>
      </p:sp>
      <p:sp>
        <p:nvSpPr>
          <p:cNvPr id="21" name="Shape 18"/>
          <p:cNvSpPr/>
          <p:nvPr/>
        </p:nvSpPr>
        <p:spPr>
          <a:xfrm>
            <a:off x="4279392" y="1554480"/>
            <a:ext cx="1755648" cy="1371600"/>
          </a:xfrm>
          <a:prstGeom prst="rect">
            <a:avLst/>
          </a:prstGeom>
          <a:solidFill>
            <a:srgbClr val="FFFFFF"/>
          </a:solidFill>
          <a:ln/>
          <a:effectLst>
            <a:outerShdw sx="100000" sy="100000" kx="0" ky="0" algn="bl" rotWithShape="0" blurRad="88900" dist="38100" dir="5400000">
              <a:srgbClr val="8A94AD">
                <a:alpha val="26000"/>
              </a:srgbClr>
            </a:outerShdw>
          </a:effectLst>
        </p:spPr>
      </p:sp>
      <p:sp>
        <p:nvSpPr>
          <p:cNvPr id="22" name="Shape 19"/>
          <p:cNvSpPr/>
          <p:nvPr/>
        </p:nvSpPr>
        <p:spPr>
          <a:xfrm>
            <a:off x="4389120" y="1664208"/>
            <a:ext cx="365760" cy="365760"/>
          </a:xfrm>
          <a:prstGeom prst="ellipse">
            <a:avLst/>
          </a:prstGeom>
          <a:solidFill>
            <a:srgbClr val="34A853"/>
          </a:solidFill>
          <a:ln/>
        </p:spPr>
      </p:sp>
      <p:sp>
        <p:nvSpPr>
          <p:cNvPr id="23" name="Text 20"/>
          <p:cNvSpPr/>
          <p:nvPr/>
        </p:nvSpPr>
        <p:spPr>
          <a:xfrm>
            <a:off x="4389120" y="16642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4" name="Text 21"/>
          <p:cNvSpPr/>
          <p:nvPr/>
        </p:nvSpPr>
        <p:spPr>
          <a:xfrm>
            <a:off x="4828032" y="1682496"/>
            <a:ext cx="1152144" cy="365760"/>
          </a:xfrm>
          <a:prstGeom prst="rect">
            <a:avLst/>
          </a:prstGeom>
          <a:noFill/>
          <a:ln/>
        </p:spPr>
        <p:txBody>
          <a:bodyPr wrap="square" lIns="0" tIns="0" rIns="0" bIns="0" rtlCol="0" anchor="ctr"/>
          <a:lstStyle/>
          <a:p>
            <a:pPr indent="0" marL="0">
              <a:buNone/>
            </a:pPr>
            <a:r>
              <a:rPr lang="en-US" sz="1000" b="1" dirty="0">
                <a:solidFill>
                  <a:srgbClr val="202124"/>
                </a:solidFill>
                <a:latin typeface="Consolas" pitchFamily="34" charset="0"/>
                <a:ea typeface="Consolas" pitchFamily="34" charset="-122"/>
                <a:cs typeface="Consolas" pitchFamily="34" charset="-120"/>
              </a:rPr>
              <a:t>tts_finetune</a:t>
            </a:r>
            <a:endParaRPr lang="en-US" sz="1000" dirty="0"/>
          </a:p>
        </p:txBody>
      </p:sp>
      <p:sp>
        <p:nvSpPr>
          <p:cNvPr id="25" name="Text 22"/>
          <p:cNvSpPr/>
          <p:nvPr/>
        </p:nvSpPr>
        <p:spPr>
          <a:xfrm>
            <a:off x="4389120" y="2121408"/>
            <a:ext cx="1536192" cy="731520"/>
          </a:xfrm>
          <a:prstGeom prst="rect">
            <a:avLst/>
          </a:prstGeom>
          <a:noFill/>
          <a:ln/>
        </p:spPr>
        <p:txBody>
          <a:bodyPr wrap="square" lIns="0" tIns="0" rIns="0" bIns="0" rtlCol="0" anchor="t"/>
          <a:lstStyle/>
          <a:p>
            <a:pPr indent="0" marL="0">
              <a:buNone/>
            </a:pPr>
            <a:r>
              <a:rPr lang="en-US" sz="950" dirty="0">
                <a:solidFill>
                  <a:srgbClr val="5F6368"/>
                </a:solidFill>
                <a:latin typeface="Calibri" pitchFamily="34" charset="0"/>
                <a:ea typeface="Calibri" pitchFamily="34" charset="-122"/>
                <a:cs typeface="Calibri" pitchFamily="34" charset="-120"/>
              </a:rPr>
              <a:t>par dialecte · L4 Spot</a:t>
            </a:r>
            <a:endParaRPr lang="en-US" sz="950" dirty="0"/>
          </a:p>
        </p:txBody>
      </p:sp>
      <p:sp>
        <p:nvSpPr>
          <p:cNvPr id="26" name="Text 23"/>
          <p:cNvSpPr/>
          <p:nvPr/>
        </p:nvSpPr>
        <p:spPr>
          <a:xfrm>
            <a:off x="5980176" y="1965960"/>
            <a:ext cx="219456" cy="457200"/>
          </a:xfrm>
          <a:prstGeom prst="rect">
            <a:avLst/>
          </a:prstGeom>
          <a:noFill/>
          <a:ln/>
        </p:spPr>
        <p:txBody>
          <a:bodyPr wrap="square" lIns="0" tIns="0" rIns="0" bIns="0" rtlCol="0" anchor="ctr"/>
          <a:lstStyle/>
          <a:p>
            <a:pPr algn="ctr" indent="0" marL="0">
              <a:buNone/>
            </a:pPr>
            <a:r>
              <a:rPr lang="en-US" sz="1600" b="1" dirty="0">
                <a:solidFill>
                  <a:srgbClr val="3C4A66"/>
                </a:solidFill>
                <a:latin typeface="Calibri" pitchFamily="34" charset="0"/>
                <a:ea typeface="Calibri" pitchFamily="34" charset="-122"/>
                <a:cs typeface="Calibri" pitchFamily="34" charset="-120"/>
              </a:rPr>
              <a:t>→</a:t>
            </a:r>
            <a:endParaRPr lang="en-US" sz="1600" dirty="0"/>
          </a:p>
        </p:txBody>
      </p:sp>
      <p:sp>
        <p:nvSpPr>
          <p:cNvPr id="27" name="Shape 24"/>
          <p:cNvSpPr/>
          <p:nvPr/>
        </p:nvSpPr>
        <p:spPr>
          <a:xfrm>
            <a:off x="6144768" y="1554480"/>
            <a:ext cx="1755648" cy="1371600"/>
          </a:xfrm>
          <a:prstGeom prst="rect">
            <a:avLst/>
          </a:prstGeom>
          <a:solidFill>
            <a:srgbClr val="FFFFFF"/>
          </a:solidFill>
          <a:ln/>
          <a:effectLst>
            <a:outerShdw sx="100000" sy="100000" kx="0" ky="0" algn="bl" rotWithShape="0" blurRad="88900" dist="38100" dir="5400000">
              <a:srgbClr val="8A94AD">
                <a:alpha val="26000"/>
              </a:srgbClr>
            </a:outerShdw>
          </a:effectLst>
        </p:spPr>
      </p:sp>
      <p:sp>
        <p:nvSpPr>
          <p:cNvPr id="28" name="Shape 25"/>
          <p:cNvSpPr/>
          <p:nvPr/>
        </p:nvSpPr>
        <p:spPr>
          <a:xfrm>
            <a:off x="6254496" y="1664208"/>
            <a:ext cx="365760" cy="365760"/>
          </a:xfrm>
          <a:prstGeom prst="ellipse">
            <a:avLst/>
          </a:prstGeom>
          <a:solidFill>
            <a:srgbClr val="F9AB00"/>
          </a:solidFill>
          <a:ln/>
        </p:spPr>
      </p:sp>
      <p:sp>
        <p:nvSpPr>
          <p:cNvPr id="29" name="Text 26"/>
          <p:cNvSpPr/>
          <p:nvPr/>
        </p:nvSpPr>
        <p:spPr>
          <a:xfrm>
            <a:off x="6254496" y="16642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0" name="Text 27"/>
          <p:cNvSpPr/>
          <p:nvPr/>
        </p:nvSpPr>
        <p:spPr>
          <a:xfrm>
            <a:off x="6693408" y="1682496"/>
            <a:ext cx="1152144" cy="365760"/>
          </a:xfrm>
          <a:prstGeom prst="rect">
            <a:avLst/>
          </a:prstGeom>
          <a:noFill/>
          <a:ln/>
        </p:spPr>
        <p:txBody>
          <a:bodyPr wrap="square" lIns="0" tIns="0" rIns="0" bIns="0" rtlCol="0" anchor="ctr"/>
          <a:lstStyle/>
          <a:p>
            <a:pPr indent="0" marL="0">
              <a:buNone/>
            </a:pPr>
            <a:r>
              <a:rPr lang="en-US" sz="1000" b="1" dirty="0">
                <a:solidFill>
                  <a:srgbClr val="202124"/>
                </a:solidFill>
                <a:latin typeface="Consolas" pitchFamily="34" charset="0"/>
                <a:ea typeface="Consolas" pitchFamily="34" charset="-122"/>
                <a:cs typeface="Consolas" pitchFamily="34" charset="-120"/>
              </a:rPr>
              <a:t>evaluate</a:t>
            </a:r>
            <a:endParaRPr lang="en-US" sz="1000" dirty="0"/>
          </a:p>
        </p:txBody>
      </p:sp>
      <p:sp>
        <p:nvSpPr>
          <p:cNvPr id="31" name="Text 28"/>
          <p:cNvSpPr/>
          <p:nvPr/>
        </p:nvSpPr>
        <p:spPr>
          <a:xfrm>
            <a:off x="6254496" y="2121408"/>
            <a:ext cx="1536192" cy="731520"/>
          </a:xfrm>
          <a:prstGeom prst="rect">
            <a:avLst/>
          </a:prstGeom>
          <a:noFill/>
          <a:ln/>
        </p:spPr>
        <p:txBody>
          <a:bodyPr wrap="square" lIns="0" tIns="0" rIns="0" bIns="0" rtlCol="0" anchor="t"/>
          <a:lstStyle/>
          <a:p>
            <a:pPr indent="0" marL="0">
              <a:buNone/>
            </a:pPr>
            <a:r>
              <a:rPr lang="en-US" sz="950" dirty="0">
                <a:solidFill>
                  <a:srgbClr val="5F6368"/>
                </a:solidFill>
                <a:latin typeface="Calibri" pitchFamily="34" charset="0"/>
                <a:ea typeface="Calibri" pitchFamily="34" charset="-122"/>
                <a:cs typeface="Calibri" pitchFamily="34" charset="-120"/>
              </a:rPr>
              <a:t>Candidate vs Champion</a:t>
            </a:r>
            <a:endParaRPr lang="en-US" sz="950" dirty="0"/>
          </a:p>
          <a:p>
            <a:pPr indent="0" marL="0">
              <a:buNone/>
            </a:pPr>
            <a:r>
              <a:rPr lang="en-US" sz="950" dirty="0">
                <a:solidFill>
                  <a:srgbClr val="5F6368"/>
                </a:solidFill>
                <a:latin typeface="Calibri" pitchFamily="34" charset="0"/>
                <a:ea typeface="Calibri" pitchFamily="34" charset="-122"/>
                <a:cs typeface="Calibri" pitchFamily="34" charset="-120"/>
              </a:rPr>
              <a:t>chrF++ · UTMOS</a:t>
            </a:r>
            <a:endParaRPr lang="en-US" sz="950" dirty="0"/>
          </a:p>
        </p:txBody>
      </p:sp>
      <p:sp>
        <p:nvSpPr>
          <p:cNvPr id="32" name="Text 29"/>
          <p:cNvSpPr/>
          <p:nvPr/>
        </p:nvSpPr>
        <p:spPr>
          <a:xfrm>
            <a:off x="7845552" y="1965960"/>
            <a:ext cx="219456" cy="457200"/>
          </a:xfrm>
          <a:prstGeom prst="rect">
            <a:avLst/>
          </a:prstGeom>
          <a:noFill/>
          <a:ln/>
        </p:spPr>
        <p:txBody>
          <a:bodyPr wrap="square" lIns="0" tIns="0" rIns="0" bIns="0" rtlCol="0" anchor="ctr"/>
          <a:lstStyle/>
          <a:p>
            <a:pPr algn="ctr" indent="0" marL="0">
              <a:buNone/>
            </a:pPr>
            <a:r>
              <a:rPr lang="en-US" sz="1600" b="1" dirty="0">
                <a:solidFill>
                  <a:srgbClr val="3C4A66"/>
                </a:solidFill>
                <a:latin typeface="Calibri" pitchFamily="34" charset="0"/>
                <a:ea typeface="Calibri" pitchFamily="34" charset="-122"/>
                <a:cs typeface="Calibri" pitchFamily="34" charset="-120"/>
              </a:rPr>
              <a:t>→</a:t>
            </a:r>
            <a:endParaRPr lang="en-US" sz="1600" dirty="0"/>
          </a:p>
        </p:txBody>
      </p:sp>
      <p:sp>
        <p:nvSpPr>
          <p:cNvPr id="33" name="Shape 30"/>
          <p:cNvSpPr/>
          <p:nvPr/>
        </p:nvSpPr>
        <p:spPr>
          <a:xfrm>
            <a:off x="8010144" y="1554480"/>
            <a:ext cx="1755648" cy="1371600"/>
          </a:xfrm>
          <a:prstGeom prst="rect">
            <a:avLst/>
          </a:prstGeom>
          <a:solidFill>
            <a:srgbClr val="FFFFFF"/>
          </a:solidFill>
          <a:ln/>
          <a:effectLst>
            <a:outerShdw sx="100000" sy="100000" kx="0" ky="0" algn="bl" rotWithShape="0" blurRad="88900" dist="38100" dir="5400000">
              <a:srgbClr val="8A94AD">
                <a:alpha val="26000"/>
              </a:srgbClr>
            </a:outerShdw>
          </a:effectLst>
        </p:spPr>
      </p:sp>
      <p:sp>
        <p:nvSpPr>
          <p:cNvPr id="34" name="Shape 31"/>
          <p:cNvSpPr/>
          <p:nvPr/>
        </p:nvSpPr>
        <p:spPr>
          <a:xfrm>
            <a:off x="8119872" y="1664208"/>
            <a:ext cx="365760" cy="365760"/>
          </a:xfrm>
          <a:prstGeom prst="ellipse">
            <a:avLst/>
          </a:prstGeom>
          <a:solidFill>
            <a:srgbClr val="9334E6"/>
          </a:solidFill>
          <a:ln/>
        </p:spPr>
      </p:sp>
      <p:sp>
        <p:nvSpPr>
          <p:cNvPr id="35" name="Text 32"/>
          <p:cNvSpPr/>
          <p:nvPr/>
        </p:nvSpPr>
        <p:spPr>
          <a:xfrm>
            <a:off x="8119872" y="16642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6" name="Text 33"/>
          <p:cNvSpPr/>
          <p:nvPr/>
        </p:nvSpPr>
        <p:spPr>
          <a:xfrm>
            <a:off x="8558784" y="1682496"/>
            <a:ext cx="1152144" cy="365760"/>
          </a:xfrm>
          <a:prstGeom prst="rect">
            <a:avLst/>
          </a:prstGeom>
          <a:noFill/>
          <a:ln/>
        </p:spPr>
        <p:txBody>
          <a:bodyPr wrap="square" lIns="0" tIns="0" rIns="0" bIns="0" rtlCol="0" anchor="ctr"/>
          <a:lstStyle/>
          <a:p>
            <a:pPr indent="0" marL="0">
              <a:buNone/>
            </a:pPr>
            <a:r>
              <a:rPr lang="en-US" sz="1000" b="1" dirty="0">
                <a:solidFill>
                  <a:srgbClr val="202124"/>
                </a:solidFill>
                <a:latin typeface="Consolas" pitchFamily="34" charset="0"/>
                <a:ea typeface="Consolas" pitchFamily="34" charset="-122"/>
                <a:cs typeface="Consolas" pitchFamily="34" charset="-120"/>
              </a:rPr>
              <a:t>register</a:t>
            </a:r>
            <a:endParaRPr lang="en-US" sz="1000" dirty="0"/>
          </a:p>
        </p:txBody>
      </p:sp>
      <p:sp>
        <p:nvSpPr>
          <p:cNvPr id="37" name="Text 34"/>
          <p:cNvSpPr/>
          <p:nvPr/>
        </p:nvSpPr>
        <p:spPr>
          <a:xfrm>
            <a:off x="8119872" y="2121408"/>
            <a:ext cx="1536192" cy="731520"/>
          </a:xfrm>
          <a:prstGeom prst="rect">
            <a:avLst/>
          </a:prstGeom>
          <a:noFill/>
          <a:ln/>
        </p:spPr>
        <p:txBody>
          <a:bodyPr wrap="square" lIns="0" tIns="0" rIns="0" bIns="0" rtlCol="0" anchor="t"/>
          <a:lstStyle/>
          <a:p>
            <a:pPr indent="0" marL="0">
              <a:buNone/>
            </a:pPr>
            <a:r>
              <a:rPr lang="en-US" sz="950" dirty="0">
                <a:solidFill>
                  <a:srgbClr val="5F6368"/>
                </a:solidFill>
                <a:latin typeface="Calibri" pitchFamily="34" charset="0"/>
                <a:ea typeface="Calibri" pitchFamily="34" charset="-122"/>
                <a:cs typeface="Calibri" pitchFamily="34" charset="-120"/>
              </a:rPr>
              <a:t>Model Registry · gratuit</a:t>
            </a:r>
            <a:endParaRPr lang="en-US" sz="950" dirty="0"/>
          </a:p>
        </p:txBody>
      </p:sp>
      <p:sp>
        <p:nvSpPr>
          <p:cNvPr id="38" name="Text 35"/>
          <p:cNvSpPr/>
          <p:nvPr/>
        </p:nvSpPr>
        <p:spPr>
          <a:xfrm>
            <a:off x="9710928" y="1965960"/>
            <a:ext cx="219456" cy="457200"/>
          </a:xfrm>
          <a:prstGeom prst="rect">
            <a:avLst/>
          </a:prstGeom>
          <a:noFill/>
          <a:ln/>
        </p:spPr>
        <p:txBody>
          <a:bodyPr wrap="square" lIns="0" tIns="0" rIns="0" bIns="0" rtlCol="0" anchor="ctr"/>
          <a:lstStyle/>
          <a:p>
            <a:pPr algn="ctr" indent="0" marL="0">
              <a:buNone/>
            </a:pPr>
            <a:r>
              <a:rPr lang="en-US" sz="1600" b="1" dirty="0">
                <a:solidFill>
                  <a:srgbClr val="3C4A66"/>
                </a:solidFill>
                <a:latin typeface="Calibri" pitchFamily="34" charset="0"/>
                <a:ea typeface="Calibri" pitchFamily="34" charset="-122"/>
                <a:cs typeface="Calibri" pitchFamily="34" charset="-120"/>
              </a:rPr>
              <a:t>→</a:t>
            </a:r>
            <a:endParaRPr lang="en-US" sz="1600" dirty="0"/>
          </a:p>
        </p:txBody>
      </p:sp>
      <p:sp>
        <p:nvSpPr>
          <p:cNvPr id="39" name="Shape 36"/>
          <p:cNvSpPr/>
          <p:nvPr/>
        </p:nvSpPr>
        <p:spPr>
          <a:xfrm>
            <a:off x="9875520" y="1554480"/>
            <a:ext cx="1755648" cy="1371600"/>
          </a:xfrm>
          <a:prstGeom prst="rect">
            <a:avLst/>
          </a:prstGeom>
          <a:solidFill>
            <a:srgbClr val="FFFFFF"/>
          </a:solidFill>
          <a:ln/>
          <a:effectLst>
            <a:outerShdw sx="100000" sy="100000" kx="0" ky="0" algn="bl" rotWithShape="0" blurRad="88900" dist="38100" dir="5400000">
              <a:srgbClr val="8A94AD">
                <a:alpha val="26000"/>
              </a:srgbClr>
            </a:outerShdw>
          </a:effectLst>
        </p:spPr>
      </p:sp>
      <p:sp>
        <p:nvSpPr>
          <p:cNvPr id="40" name="Shape 37"/>
          <p:cNvSpPr/>
          <p:nvPr/>
        </p:nvSpPr>
        <p:spPr>
          <a:xfrm>
            <a:off x="9985248" y="1664208"/>
            <a:ext cx="365760" cy="365760"/>
          </a:xfrm>
          <a:prstGeom prst="ellipse">
            <a:avLst/>
          </a:prstGeom>
          <a:solidFill>
            <a:srgbClr val="EA4335"/>
          </a:solidFill>
          <a:ln/>
        </p:spPr>
      </p:sp>
      <p:sp>
        <p:nvSpPr>
          <p:cNvPr id="41" name="Text 38"/>
          <p:cNvSpPr/>
          <p:nvPr/>
        </p:nvSpPr>
        <p:spPr>
          <a:xfrm>
            <a:off x="9985248" y="16642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42" name="Text 39"/>
          <p:cNvSpPr/>
          <p:nvPr/>
        </p:nvSpPr>
        <p:spPr>
          <a:xfrm>
            <a:off x="10424160" y="1682496"/>
            <a:ext cx="1152144" cy="365760"/>
          </a:xfrm>
          <a:prstGeom prst="rect">
            <a:avLst/>
          </a:prstGeom>
          <a:noFill/>
          <a:ln/>
        </p:spPr>
        <p:txBody>
          <a:bodyPr wrap="square" lIns="0" tIns="0" rIns="0" bIns="0" rtlCol="0" anchor="ctr"/>
          <a:lstStyle/>
          <a:p>
            <a:pPr indent="0" marL="0">
              <a:buNone/>
            </a:pPr>
            <a:r>
              <a:rPr lang="en-US" sz="1000" b="1" dirty="0">
                <a:solidFill>
                  <a:srgbClr val="202124"/>
                </a:solidFill>
                <a:latin typeface="Consolas" pitchFamily="34" charset="0"/>
                <a:ea typeface="Consolas" pitchFamily="34" charset="-122"/>
                <a:cs typeface="Consolas" pitchFamily="34" charset="-120"/>
              </a:rPr>
              <a:t>deploy</a:t>
            </a:r>
            <a:endParaRPr lang="en-US" sz="1000" dirty="0"/>
          </a:p>
        </p:txBody>
      </p:sp>
      <p:sp>
        <p:nvSpPr>
          <p:cNvPr id="43" name="Text 40"/>
          <p:cNvSpPr/>
          <p:nvPr/>
        </p:nvSpPr>
        <p:spPr>
          <a:xfrm>
            <a:off x="9985248" y="2121408"/>
            <a:ext cx="1536192" cy="731520"/>
          </a:xfrm>
          <a:prstGeom prst="rect">
            <a:avLst/>
          </a:prstGeom>
          <a:noFill/>
          <a:ln/>
        </p:spPr>
        <p:txBody>
          <a:bodyPr wrap="square" lIns="0" tIns="0" rIns="0" bIns="0" rtlCol="0" anchor="t"/>
          <a:lstStyle/>
          <a:p>
            <a:pPr indent="0" marL="0">
              <a:buNone/>
            </a:pPr>
            <a:r>
              <a:rPr lang="en-US" sz="950" dirty="0">
                <a:solidFill>
                  <a:srgbClr val="5F6368"/>
                </a:solidFill>
                <a:latin typeface="Calibri" pitchFamily="34" charset="0"/>
                <a:ea typeface="Calibri" pitchFamily="34" charset="-122"/>
                <a:cs typeface="Calibri" pitchFamily="34" charset="-120"/>
              </a:rPr>
              <a:t>Cloud Build → Run GPU</a:t>
            </a:r>
            <a:endParaRPr lang="en-US" sz="950" dirty="0"/>
          </a:p>
        </p:txBody>
      </p:sp>
      <p:sp>
        <p:nvSpPr>
          <p:cNvPr id="44" name="Text 41"/>
          <p:cNvSpPr/>
          <p:nvPr/>
        </p:nvSpPr>
        <p:spPr>
          <a:xfrm>
            <a:off x="548640" y="3108960"/>
            <a:ext cx="11064240" cy="365760"/>
          </a:xfrm>
          <a:prstGeom prst="rect">
            <a:avLst/>
          </a:prstGeom>
          <a:noFill/>
          <a:ln/>
        </p:spPr>
        <p:txBody>
          <a:bodyPr wrap="square" lIns="0" tIns="0" rIns="0" bIns="0" rtlCol="0" anchor="ctr"/>
          <a:lstStyle/>
          <a:p>
            <a:pPr indent="0" marL="0">
              <a:buNone/>
            </a:pPr>
            <a:r>
              <a:rPr lang="en-US" sz="1200" i="1" dirty="0">
                <a:solidFill>
                  <a:srgbClr val="5F6368"/>
                </a:solidFill>
                <a:latin typeface="Calibri" pitchFamily="34" charset="0"/>
                <a:ea typeface="Calibri" pitchFamily="34" charset="-122"/>
                <a:cs typeface="Calibri" pitchFamily="34" charset="-120"/>
              </a:rPr>
              <a:t>Déclencheur : dataset validé dans GCS → Pub/Sub (topic dataset-ready) → le pipeline démarre</a:t>
            </a:r>
            <a:endParaRPr lang="en-US" sz="1200" dirty="0"/>
          </a:p>
        </p:txBody>
      </p:sp>
      <p:sp>
        <p:nvSpPr>
          <p:cNvPr id="45" name="Text 42"/>
          <p:cNvSpPr/>
          <p:nvPr/>
        </p:nvSpPr>
        <p:spPr>
          <a:xfrm>
            <a:off x="548640" y="3611880"/>
            <a:ext cx="5486400" cy="274320"/>
          </a:xfrm>
          <a:prstGeom prst="rect">
            <a:avLst/>
          </a:prstGeom>
          <a:noFill/>
          <a:ln/>
        </p:spPr>
        <p:txBody>
          <a:bodyPr wrap="square" lIns="0" tIns="0" rIns="0" bIns="0" rtlCol="0" anchor="ctr"/>
          <a:lstStyle/>
          <a:p>
            <a:pPr indent="0" marL="0">
              <a:buNone/>
            </a:pPr>
            <a:r>
              <a:rPr lang="en-US" sz="1300" b="1" spc="100" kern="0" dirty="0">
                <a:solidFill>
                  <a:srgbClr val="8430CE"/>
                </a:solidFill>
                <a:latin typeface="Calibri" pitchFamily="34" charset="0"/>
                <a:ea typeface="Calibri" pitchFamily="34" charset="-122"/>
                <a:cs typeface="Calibri" pitchFamily="34" charset="-120"/>
              </a:rPr>
              <a:t>DÉCISION APRÈS ÉVALUATION</a:t>
            </a:r>
            <a:endParaRPr lang="en-US" sz="1300" dirty="0"/>
          </a:p>
        </p:txBody>
      </p:sp>
      <p:sp>
        <p:nvSpPr>
          <p:cNvPr id="46" name="Text 43"/>
          <p:cNvSpPr/>
          <p:nvPr/>
        </p:nvSpPr>
        <p:spPr>
          <a:xfrm>
            <a:off x="548640" y="3931920"/>
            <a:ext cx="5486400" cy="1463040"/>
          </a:xfrm>
          <a:prstGeom prst="rect">
            <a:avLst/>
          </a:prstGeom>
          <a:noFill/>
          <a:ln/>
        </p:spPr>
        <p:txBody>
          <a:bodyPr wrap="square" lIns="0" tIns="0" rIns="0" bIns="0" rtlCol="0" anchor="t"/>
          <a:lstStyle/>
          <a:p>
            <a:pPr marL="190500" indent="-190500">
              <a:spcAft>
                <a:spcPts val="600"/>
              </a:spcAft>
              <a:buSzPct val="100000"/>
              <a:buChar char="•"/>
            </a:pPr>
            <a:r>
              <a:rPr lang="en-US" sz="1250" dirty="0">
                <a:solidFill>
                  <a:srgbClr val="202124"/>
                </a:solidFill>
                <a:latin typeface="Calibri" pitchFamily="34" charset="0"/>
                <a:ea typeface="Calibri" pitchFamily="34" charset="-122"/>
                <a:cs typeface="Calibri" pitchFamily="34" charset="-120"/>
              </a:rPr>
              <a:t>Régression détectée → ROLLBACK auto + alerte e-mail</a:t>
            </a:r>
            <a:endParaRPr lang="en-US" sz="1250" dirty="0"/>
          </a:p>
          <a:p>
            <a:pPr marL="190500" indent="-190500">
              <a:spcAft>
                <a:spcPts val="600"/>
              </a:spcAft>
              <a:buSzPct val="100000"/>
              <a:buChar char="•"/>
            </a:pPr>
            <a:r>
              <a:rPr lang="en-US" sz="1250" dirty="0">
                <a:solidFill>
                  <a:srgbClr val="202124"/>
                </a:solidFill>
                <a:latin typeface="Calibri" pitchFamily="34" charset="0"/>
                <a:ea typeface="Calibri" pitchFamily="34" charset="-122"/>
                <a:cs typeface="Calibri" pitchFamily="34" charset="-120"/>
              </a:rPr>
              <a:t>Pas de régression → register puis deploy (Blue/Green)</a:t>
            </a:r>
            <a:endParaRPr lang="en-US" sz="1250" dirty="0"/>
          </a:p>
          <a:p>
            <a:pPr marL="190500" indent="-190500">
              <a:spcAft>
                <a:spcPts val="600"/>
              </a:spcAft>
              <a:buSzPct val="100000"/>
              <a:buChar char="•"/>
            </a:pPr>
            <a:r>
              <a:rPr lang="en-US" sz="1250" dirty="0">
                <a:solidFill>
                  <a:srgbClr val="202124"/>
                </a:solidFill>
                <a:latin typeface="Calibri" pitchFamily="34" charset="0"/>
                <a:ea typeface="Calibri" pitchFamily="34" charset="-122"/>
                <a:cs typeface="Calibri" pitchFamily="34" charset="-120"/>
              </a:rPr>
              <a:t>Tous les runs comparés dans Vertex AI Experiments</a:t>
            </a:r>
            <a:endParaRPr lang="en-US" sz="1250" dirty="0"/>
          </a:p>
        </p:txBody>
      </p:sp>
      <p:sp>
        <p:nvSpPr>
          <p:cNvPr id="47" name="Shape 44"/>
          <p:cNvSpPr/>
          <p:nvPr/>
        </p:nvSpPr>
        <p:spPr>
          <a:xfrm>
            <a:off x="6309360" y="3657600"/>
            <a:ext cx="5349240" cy="1828800"/>
          </a:xfrm>
          <a:prstGeom prst="rect">
            <a:avLst/>
          </a:prstGeom>
          <a:solidFill>
            <a:srgbClr val="EEF2FB"/>
          </a:solidFill>
          <a:ln/>
        </p:spPr>
      </p:sp>
      <p:sp>
        <p:nvSpPr>
          <p:cNvPr id="48" name="Shape 45"/>
          <p:cNvSpPr/>
          <p:nvPr/>
        </p:nvSpPr>
        <p:spPr>
          <a:xfrm>
            <a:off x="6309360" y="3657600"/>
            <a:ext cx="91440" cy="1828800"/>
          </a:xfrm>
          <a:prstGeom prst="rect">
            <a:avLst/>
          </a:prstGeom>
          <a:solidFill>
            <a:srgbClr val="9334E6"/>
          </a:solidFill>
          <a:ln/>
        </p:spPr>
      </p:sp>
      <p:sp>
        <p:nvSpPr>
          <p:cNvPr id="49" name="Text 46"/>
          <p:cNvSpPr/>
          <p:nvPr/>
        </p:nvSpPr>
        <p:spPr>
          <a:xfrm>
            <a:off x="6547104" y="3730752"/>
            <a:ext cx="4965192" cy="1682496"/>
          </a:xfrm>
          <a:prstGeom prst="rect">
            <a:avLst/>
          </a:prstGeom>
          <a:noFill/>
          <a:ln/>
        </p:spPr>
        <p:txBody>
          <a:bodyPr wrap="square" lIns="0" tIns="0" rIns="0" bIns="0" rtlCol="0" anchor="ctr"/>
          <a:lstStyle/>
          <a:p>
            <a:pPr indent="0" marL="0">
              <a:buNone/>
            </a:pPr>
            <a:r>
              <a:rPr lang="en-US" sz="1100" b="1" dirty="0">
                <a:solidFill>
                  <a:srgbClr val="8430CE"/>
                </a:solidFill>
                <a:latin typeface="Calibri" pitchFamily="34" charset="0"/>
                <a:ea typeface="Calibri" pitchFamily="34" charset="-122"/>
                <a:cs typeface="Calibri" pitchFamily="34" charset="-120"/>
              </a:rPr>
              <a:t>COÛT &amp; SÉCURITÉ   </a:t>
            </a:r>
            <a:pPr indent="0" marL="0">
              <a:buNone/>
            </a:pPr>
            <a:r>
              <a:rPr lang="en-US" sz="1200" dirty="0">
                <a:solidFill>
                  <a:srgbClr val="202124"/>
                </a:solidFill>
                <a:latin typeface="Calibri" pitchFamily="34" charset="0"/>
                <a:ea typeface="Calibri" pitchFamily="34" charset="-122"/>
                <a:cs typeface="Calibri" pitchFamily="34" charset="-120"/>
              </a:rPr>
              <a:t>Pipeline ~0,03 $/run. Le déploiement est Blue/Green (zéro downtime) avec rollback automatique en cas de régression chrF++/UTMOS. Model Registry et Experiments sont gratuits.</a:t>
            </a:r>
            <a:endParaRPr lang="en-US" sz="1100" dirty="0"/>
          </a:p>
        </p:txBody>
      </p:sp>
      <p:sp>
        <p:nvSpPr>
          <p:cNvPr id="50" name="Text 47"/>
          <p:cNvSpPr/>
          <p:nvPr/>
        </p:nvSpPr>
        <p:spPr>
          <a:xfrm>
            <a:off x="548640" y="6510528"/>
            <a:ext cx="11155680" cy="274320"/>
          </a:xfrm>
          <a:prstGeom prst="rect">
            <a:avLst/>
          </a:prstGeom>
          <a:noFill/>
          <a:ln/>
        </p:spPr>
        <p:txBody>
          <a:bodyPr wrap="square" lIns="0" tIns="0" rIns="0" bIns="0" rtlCol="0" anchor="ctr"/>
          <a:lstStyle/>
          <a:p>
            <a:pPr indent="0" marL="0">
              <a:buNone/>
            </a:pPr>
            <a:r>
              <a:rPr lang="en-US" sz="950" i="1" dirty="0">
                <a:solidFill>
                  <a:srgbClr val="5F6368"/>
                </a:solidFill>
                <a:latin typeface="Calibri" pitchFamily="34" charset="0"/>
                <a:ea typeface="Calibri" pitchFamily="34" charset="-122"/>
                <a:cs typeface="Calibri" pitchFamily="34" charset="-120"/>
              </a:rPr>
              <a:t>Source : README §20 — pipeline MLOps automatisé (Kubeflow DAG)</a:t>
            </a:r>
            <a:endParaRPr lang="en-US" sz="950" dirty="0"/>
          </a:p>
        </p:txBody>
      </p:sp>
      <p:sp>
        <p:nvSpPr>
          <p:cNvPr id="51" name="Text 48"/>
          <p:cNvSpPr/>
          <p:nvPr/>
        </p:nvSpPr>
        <p:spPr>
          <a:xfrm>
            <a:off x="548640" y="5870448"/>
            <a:ext cx="3200400" cy="182880"/>
          </a:xfrm>
          <a:prstGeom prst="rect">
            <a:avLst/>
          </a:prstGeom>
          <a:noFill/>
          <a:ln/>
        </p:spPr>
        <p:txBody>
          <a:bodyPr wrap="square" lIns="0" tIns="0" rIns="0" bIns="0" rtlCol="0" anchor="ctr"/>
          <a:lstStyle/>
          <a:p>
            <a:pPr indent="0" marL="0">
              <a:buNone/>
            </a:pPr>
            <a:r>
              <a:rPr lang="en-US" sz="850" b="1" dirty="0">
                <a:solidFill>
                  <a:srgbClr val="97A1B5"/>
                </a:solidFill>
                <a:latin typeface="Calibri" pitchFamily="34" charset="0"/>
                <a:ea typeface="Calibri" pitchFamily="34" charset="-122"/>
                <a:cs typeface="Calibri" pitchFamily="34" charset="-120"/>
              </a:rPr>
              <a:t>Tsantaniaina Rakotonjanahary Ambaorasoa Guillaume</a:t>
            </a:r>
            <a:endParaRPr lang="en-US" sz="850" dirty="0"/>
          </a:p>
        </p:txBody>
      </p:sp>
      <p:sp>
        <p:nvSpPr>
          <p:cNvPr id="52" name="Shape 49"/>
          <p:cNvSpPr/>
          <p:nvPr/>
        </p:nvSpPr>
        <p:spPr>
          <a:xfrm>
            <a:off x="11137392" y="5852160"/>
            <a:ext cx="914400" cy="914400"/>
          </a:xfrm>
          <a:prstGeom prst="roundRect">
            <a:avLst>
              <a:gd name="adj" fmla="val 10000"/>
            </a:avLst>
          </a:prstGeom>
          <a:solidFill>
            <a:srgbClr val="FFFFFF"/>
          </a:solidFill>
          <a:ln w="12700">
            <a:solidFill>
              <a:srgbClr val="D6DEEC"/>
            </a:solidFill>
            <a:prstDash val="solid"/>
          </a:ln>
          <a:effectLst>
            <a:outerShdw sx="100000" sy="100000" kx="0" ky="0" algn="bl" rotWithShape="0" blurRad="88900" dist="38100" dir="5400000">
              <a:srgbClr val="8A94AD">
                <a:alpha val="26000"/>
              </a:srgbClr>
            </a:outerShdw>
          </a:effectLst>
        </p:spPr>
      </p:sp>
      <p:pic>
        <p:nvPicPr>
          <p:cNvPr id="53" name="Image 1" descr="logos/logo_mdn.png">    </p:cNvPr>
          <p:cNvPicPr>
            <a:picLocks noChangeAspect="1"/>
          </p:cNvPicPr>
          <p:nvPr/>
        </p:nvPicPr>
        <p:blipFill>
          <a:blip r:embed="rId2"/>
          <a:stretch>
            <a:fillRect/>
          </a:stretch>
        </p:blipFill>
        <p:spPr>
          <a:xfrm>
            <a:off x="11237976" y="5952744"/>
            <a:ext cx="713232" cy="713232"/>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EA4335"/>
          </a:solidFill>
          <a:ln/>
        </p:spPr>
      </p:sp>
      <p:sp>
        <p:nvSpPr>
          <p:cNvPr id="3" name="Shape 1"/>
          <p:cNvSpPr/>
          <p:nvPr/>
        </p:nvSpPr>
        <p:spPr>
          <a:xfrm>
            <a:off x="146304" y="0"/>
            <a:ext cx="12042648" cy="1078992"/>
          </a:xfrm>
          <a:prstGeom prst="rect">
            <a:avLst/>
          </a:prstGeom>
          <a:solidFill>
            <a:srgbClr val="1B2A4A"/>
          </a:solidFill>
          <a:ln/>
        </p:spPr>
      </p:sp>
      <p:sp>
        <p:nvSpPr>
          <p:cNvPr id="4" name="Text 2"/>
          <p:cNvSpPr/>
          <p:nvPr/>
        </p:nvSpPr>
        <p:spPr>
          <a:xfrm>
            <a:off x="548640" y="182880"/>
            <a:ext cx="9601200" cy="292608"/>
          </a:xfrm>
          <a:prstGeom prst="rect">
            <a:avLst/>
          </a:prstGeom>
          <a:noFill/>
          <a:ln/>
        </p:spPr>
        <p:txBody>
          <a:bodyPr wrap="square" lIns="0" tIns="0" rIns="0" bIns="0" rtlCol="0" anchor="ctr"/>
          <a:lstStyle/>
          <a:p>
            <a:pPr indent="0" marL="0">
              <a:buNone/>
            </a:pPr>
            <a:r>
              <a:rPr lang="en-US" sz="1200" b="1" spc="150" kern="0" dirty="0">
                <a:solidFill>
                  <a:srgbClr val="F28B82"/>
                </a:solidFill>
                <a:latin typeface="Calibri" pitchFamily="34" charset="0"/>
                <a:ea typeface="Calibri" pitchFamily="34" charset="-122"/>
                <a:cs typeface="Calibri" pitchFamily="34" charset="-120"/>
              </a:rPr>
              <a:t>MESSAGERIE ÉVÉNEMENTIELLE</a:t>
            </a:r>
            <a:endParaRPr lang="en-US" sz="1200" dirty="0"/>
          </a:p>
        </p:txBody>
      </p:sp>
      <p:sp>
        <p:nvSpPr>
          <p:cNvPr id="5" name="Text 3"/>
          <p:cNvSpPr/>
          <p:nvPr/>
        </p:nvSpPr>
        <p:spPr>
          <a:xfrm>
            <a:off x="530352" y="438912"/>
            <a:ext cx="9692640" cy="566928"/>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Pub/Sub — concepts &amp; rôle</a:t>
            </a:r>
            <a:endParaRPr lang="en-US" sz="2700" dirty="0"/>
          </a:p>
        </p:txBody>
      </p:sp>
      <p:sp>
        <p:nvSpPr>
          <p:cNvPr id="6" name="Text 4"/>
          <p:cNvSpPr/>
          <p:nvPr/>
        </p:nvSpPr>
        <p:spPr>
          <a:xfrm>
            <a:off x="8229600" y="182880"/>
            <a:ext cx="1828800" cy="274320"/>
          </a:xfrm>
          <a:prstGeom prst="rect">
            <a:avLst/>
          </a:prstGeom>
          <a:noFill/>
          <a:ln/>
        </p:spPr>
        <p:txBody>
          <a:bodyPr wrap="square" lIns="0" tIns="0" rIns="0" bIns="0" rtlCol="0" anchor="ctr"/>
          <a:lstStyle/>
          <a:p>
            <a:pPr algn="r" indent="0" marL="0">
              <a:buNone/>
            </a:pPr>
            <a:r>
              <a:rPr lang="en-US" sz="1050" b="1" spc="100" kern="0" dirty="0">
                <a:solidFill>
                  <a:srgbClr val="8FA0C4"/>
                </a:solidFill>
                <a:latin typeface="Calibri" pitchFamily="34" charset="0"/>
                <a:ea typeface="Calibri" pitchFamily="34" charset="-122"/>
                <a:cs typeface="Calibri" pitchFamily="34" charset="-120"/>
              </a:rPr>
              <a:t>PARTIE 2</a:t>
            </a:r>
            <a:endParaRPr lang="en-US" sz="1050" dirty="0"/>
          </a:p>
        </p:txBody>
      </p:sp>
      <p:sp>
        <p:nvSpPr>
          <p:cNvPr id="7" name="Shape 5"/>
          <p:cNvSpPr/>
          <p:nvPr/>
        </p:nvSpPr>
        <p:spPr>
          <a:xfrm>
            <a:off x="10927080" y="237744"/>
            <a:ext cx="603504" cy="603504"/>
          </a:xfrm>
          <a:prstGeom prst="roundRect">
            <a:avLst>
              <a:gd name="adj" fmla="val 12121"/>
            </a:avLst>
          </a:prstGeom>
          <a:solidFill>
            <a:srgbClr val="FFFFFF"/>
          </a:solidFill>
          <a:ln/>
        </p:spPr>
      </p:sp>
      <p:pic>
        <p:nvPicPr>
          <p:cNvPr id="8" name="Image 0" descr="logos/07_pubsub.png">    </p:cNvPr>
          <p:cNvPicPr>
            <a:picLocks noChangeAspect="1"/>
          </p:cNvPicPr>
          <p:nvPr/>
        </p:nvPicPr>
        <p:blipFill>
          <a:blip r:embed="rId1"/>
          <a:stretch>
            <a:fillRect/>
          </a:stretch>
        </p:blipFill>
        <p:spPr>
          <a:xfrm>
            <a:off x="10991088" y="301752"/>
            <a:ext cx="475488" cy="475488"/>
          </a:xfrm>
          <a:prstGeom prst="rect">
            <a:avLst/>
          </a:prstGeom>
        </p:spPr>
      </p:pic>
      <p:sp>
        <p:nvSpPr>
          <p:cNvPr id="9" name="Text 6"/>
          <p:cNvSpPr/>
          <p:nvPr/>
        </p:nvSpPr>
        <p:spPr>
          <a:xfrm>
            <a:off x="548640" y="1325880"/>
            <a:ext cx="11064240" cy="777240"/>
          </a:xfrm>
          <a:prstGeom prst="rect">
            <a:avLst/>
          </a:prstGeom>
          <a:noFill/>
          <a:ln/>
        </p:spPr>
        <p:txBody>
          <a:bodyPr wrap="square" lIns="0" tIns="0" rIns="0" bIns="0" rtlCol="0" anchor="t"/>
          <a:lstStyle/>
          <a:p>
            <a:pPr indent="0" marL="0">
              <a:buNone/>
            </a:pPr>
            <a:r>
              <a:rPr lang="en-US" sz="1350" dirty="0">
                <a:solidFill>
                  <a:srgbClr val="202124"/>
                </a:solidFill>
                <a:latin typeface="Calibri" pitchFamily="34" charset="0"/>
                <a:ea typeface="Calibri" pitchFamily="34" charset="-122"/>
                <a:cs typeface="Calibri" pitchFamily="34" charset="-120"/>
              </a:rPr>
              <a:t>Service de messagerie asynchrone qui découple producteurs et consommateurs. Dans MGVaovao, c'est le bus d'événements qui relie l'arrivée d'un dataset (ou la détection d'un drift) au démarrage du pipeline d'entraînement Vertex AI.</a:t>
            </a:r>
            <a:endParaRPr lang="en-US" sz="1350" dirty="0"/>
          </a:p>
        </p:txBody>
      </p:sp>
      <p:sp>
        <p:nvSpPr>
          <p:cNvPr id="10" name="Text 7"/>
          <p:cNvSpPr/>
          <p:nvPr/>
        </p:nvSpPr>
        <p:spPr>
          <a:xfrm>
            <a:off x="548640" y="2331720"/>
            <a:ext cx="5486400" cy="274320"/>
          </a:xfrm>
          <a:prstGeom prst="rect">
            <a:avLst/>
          </a:prstGeom>
          <a:noFill/>
          <a:ln/>
        </p:spPr>
        <p:txBody>
          <a:bodyPr wrap="square" lIns="0" tIns="0" rIns="0" bIns="0" rtlCol="0" anchor="ctr"/>
          <a:lstStyle/>
          <a:p>
            <a:pPr indent="0" marL="0">
              <a:buNone/>
            </a:pPr>
            <a:r>
              <a:rPr lang="en-US" sz="1300" b="1" spc="100" kern="0" dirty="0">
                <a:solidFill>
                  <a:srgbClr val="C5221F"/>
                </a:solidFill>
                <a:latin typeface="Calibri" pitchFamily="34" charset="0"/>
                <a:ea typeface="Calibri" pitchFamily="34" charset="-122"/>
                <a:cs typeface="Calibri" pitchFamily="34" charset="-120"/>
              </a:rPr>
              <a:t>CONCEPTS CLÉS</a:t>
            </a:r>
            <a:endParaRPr lang="en-US" sz="1300" dirty="0"/>
          </a:p>
        </p:txBody>
      </p:sp>
      <p:sp>
        <p:nvSpPr>
          <p:cNvPr id="11" name="Text 8"/>
          <p:cNvSpPr/>
          <p:nvPr/>
        </p:nvSpPr>
        <p:spPr>
          <a:xfrm>
            <a:off x="548640" y="2651760"/>
            <a:ext cx="5486400" cy="2103120"/>
          </a:xfrm>
          <a:prstGeom prst="rect">
            <a:avLst/>
          </a:prstGeom>
          <a:noFill/>
          <a:ln/>
        </p:spPr>
        <p:txBody>
          <a:bodyPr wrap="square" lIns="0" tIns="0" rIns="0" bIns="0" rtlCol="0" anchor="t"/>
          <a:lstStyle/>
          <a:p>
            <a:pPr marL="190500" indent="-190500">
              <a:spcAft>
                <a:spcPts val="600"/>
              </a:spcAft>
              <a:buSzPct val="100000"/>
              <a:buChar char="•"/>
            </a:pPr>
            <a:r>
              <a:rPr lang="en-US" sz="1300" dirty="0">
                <a:solidFill>
                  <a:srgbClr val="202124"/>
                </a:solidFill>
                <a:latin typeface="Calibri" pitchFamily="34" charset="0"/>
                <a:ea typeface="Calibri" pitchFamily="34" charset="-122"/>
                <a:cs typeface="Calibri" pitchFamily="34" charset="-120"/>
              </a:rPr>
              <a:t>Topics &amp; subscriptions (publishers / subscribers)</a:t>
            </a:r>
            <a:endParaRPr lang="en-US" sz="1300" dirty="0"/>
          </a:p>
          <a:p>
            <a:pPr marL="190500" indent="-190500">
              <a:spcAft>
                <a:spcPts val="600"/>
              </a:spcAft>
              <a:buSzPct val="100000"/>
              <a:buChar char="•"/>
            </a:pPr>
            <a:r>
              <a:rPr lang="en-US" sz="1300" dirty="0">
                <a:solidFill>
                  <a:srgbClr val="202124"/>
                </a:solidFill>
                <a:latin typeface="Calibri" pitchFamily="34" charset="0"/>
                <a:ea typeface="Calibri" pitchFamily="34" charset="-122"/>
                <a:cs typeface="Calibri" pitchFamily="34" charset="-120"/>
              </a:rPr>
              <a:t>Livraison push ou pull, au moins une fois</a:t>
            </a:r>
            <a:endParaRPr lang="en-US" sz="1300" dirty="0"/>
          </a:p>
          <a:p>
            <a:pPr marL="190500" indent="-190500">
              <a:spcAft>
                <a:spcPts val="600"/>
              </a:spcAft>
              <a:buSzPct val="100000"/>
              <a:buChar char="•"/>
            </a:pPr>
            <a:r>
              <a:rPr lang="en-US" sz="1300" dirty="0">
                <a:solidFill>
                  <a:srgbClr val="202124"/>
                </a:solidFill>
                <a:latin typeface="Calibri" pitchFamily="34" charset="0"/>
                <a:ea typeface="Calibri" pitchFamily="34" charset="-122"/>
                <a:cs typeface="Calibri" pitchFamily="34" charset="-120"/>
              </a:rPr>
              <a:t>Découplage &amp; scalabilité, latence ~100 ms</a:t>
            </a:r>
            <a:endParaRPr lang="en-US" sz="1300" dirty="0"/>
          </a:p>
          <a:p>
            <a:pPr marL="190500" indent="-190500">
              <a:spcAft>
                <a:spcPts val="600"/>
              </a:spcAft>
              <a:buSzPct val="100000"/>
              <a:buChar char="•"/>
            </a:pPr>
            <a:r>
              <a:rPr lang="en-US" sz="1300" dirty="0">
                <a:solidFill>
                  <a:srgbClr val="202124"/>
                </a:solidFill>
                <a:latin typeface="Calibri" pitchFamily="34" charset="0"/>
                <a:ea typeface="Calibri" pitchFamily="34" charset="-122"/>
                <a:cs typeface="Calibri" pitchFamily="34" charset="-120"/>
              </a:rPr>
              <a:t>Topic du projet : dataset-ready</a:t>
            </a:r>
            <a:endParaRPr lang="en-US" sz="1300" dirty="0"/>
          </a:p>
        </p:txBody>
      </p:sp>
      <p:sp>
        <p:nvSpPr>
          <p:cNvPr id="12" name="Text 9"/>
          <p:cNvSpPr/>
          <p:nvPr/>
        </p:nvSpPr>
        <p:spPr>
          <a:xfrm>
            <a:off x="6309360" y="2331720"/>
            <a:ext cx="5486400" cy="274320"/>
          </a:xfrm>
          <a:prstGeom prst="rect">
            <a:avLst/>
          </a:prstGeom>
          <a:noFill/>
          <a:ln/>
        </p:spPr>
        <p:txBody>
          <a:bodyPr wrap="square" lIns="0" tIns="0" rIns="0" bIns="0" rtlCol="0" anchor="ctr"/>
          <a:lstStyle/>
          <a:p>
            <a:pPr indent="0" marL="0">
              <a:buNone/>
            </a:pPr>
            <a:r>
              <a:rPr lang="en-US" sz="1300" b="1" spc="100" kern="0" dirty="0">
                <a:solidFill>
                  <a:srgbClr val="C5221F"/>
                </a:solidFill>
                <a:latin typeface="Calibri" pitchFamily="34" charset="0"/>
                <a:ea typeface="Calibri" pitchFamily="34" charset="-122"/>
                <a:cs typeface="Calibri" pitchFamily="34" charset="-120"/>
              </a:rPr>
              <a:t>LES 2 DÉCLENCHEURS</a:t>
            </a:r>
            <a:endParaRPr lang="en-US" sz="1300" dirty="0"/>
          </a:p>
        </p:txBody>
      </p:sp>
      <p:sp>
        <p:nvSpPr>
          <p:cNvPr id="13" name="Shape 10"/>
          <p:cNvSpPr/>
          <p:nvPr/>
        </p:nvSpPr>
        <p:spPr>
          <a:xfrm>
            <a:off x="6309360" y="2651760"/>
            <a:ext cx="5349240" cy="1691640"/>
          </a:xfrm>
          <a:prstGeom prst="rect">
            <a:avLst/>
          </a:prstGeom>
          <a:solidFill>
            <a:srgbClr val="0E1A33"/>
          </a:solidFill>
          <a:ln/>
          <a:effectLst>
            <a:outerShdw sx="100000" sy="100000" kx="0" ky="0" algn="bl" rotWithShape="0" blurRad="88900" dist="38100" dir="5400000">
              <a:srgbClr val="8A94AD">
                <a:alpha val="26000"/>
              </a:srgbClr>
            </a:outerShdw>
          </a:effectLst>
        </p:spPr>
      </p:sp>
      <p:sp>
        <p:nvSpPr>
          <p:cNvPr id="14" name="Text 11"/>
          <p:cNvSpPr/>
          <p:nvPr/>
        </p:nvSpPr>
        <p:spPr>
          <a:xfrm>
            <a:off x="6473952" y="2761488"/>
            <a:ext cx="5020056" cy="1472184"/>
          </a:xfrm>
          <a:prstGeom prst="rect">
            <a:avLst/>
          </a:prstGeom>
          <a:noFill/>
          <a:ln/>
        </p:spPr>
        <p:txBody>
          <a:bodyPr wrap="square" lIns="0" tIns="0" rIns="0" bIns="0" rtlCol="0" anchor="t"/>
          <a:lstStyle/>
          <a:p>
            <a:pPr indent="0" marL="0">
              <a:buNone/>
            </a:pPr>
            <a:r>
              <a:rPr lang="en-US" sz="1000" dirty="0">
                <a:solidFill>
                  <a:srgbClr val="7F8CA8"/>
                </a:solidFill>
                <a:latin typeface="Consolas" pitchFamily="34" charset="0"/>
                <a:ea typeface="Consolas" pitchFamily="34" charset="-122"/>
                <a:cs typeface="Consolas" pitchFamily="34" charset="-120"/>
              </a:rPr>
              <a:t># Flux 2d — nouveau dataset</a:t>
            </a:r>
            <a:endParaRPr lang="en-US" sz="1000" dirty="0"/>
          </a:p>
          <a:p>
            <a:pPr indent="0" marL="0">
              <a:buNone/>
            </a:pPr>
            <a:r>
              <a:rPr lang="en-US" sz="1000" dirty="0">
                <a:solidFill>
                  <a:srgbClr val="DCE3F2"/>
                </a:solidFill>
                <a:latin typeface="Consolas" pitchFamily="34" charset="0"/>
                <a:ea typeface="Consolas" pitchFamily="34" charset="-122"/>
                <a:cs typeface="Consolas" pitchFamily="34" charset="-120"/>
              </a:rPr>
              <a:t>GCS (upload) -&gt; Pub/Sub</a:t>
            </a:r>
            <a:endParaRPr lang="en-US" sz="1000" dirty="0"/>
          </a:p>
          <a:p>
            <a:pPr indent="0" marL="0">
              <a:buNone/>
            </a:pPr>
            <a:r>
              <a:rPr lang="en-US" sz="1000" dirty="0">
                <a:solidFill>
                  <a:srgbClr val="DCE3F2"/>
                </a:solidFill>
                <a:latin typeface="Consolas" pitchFamily="34" charset="0"/>
                <a:ea typeface="Consolas" pitchFamily="34" charset="-122"/>
                <a:cs typeface="Consolas" pitchFamily="34" charset="-120"/>
              </a:rPr>
              <a:t>  -&gt; Vertex AI Pipeline</a:t>
            </a:r>
            <a:endParaRPr lang="en-US" sz="1000" dirty="0"/>
          </a:p>
          <a:p>
            <a:pPr indent="0" marL="0">
              <a:buNone/>
            </a:pPr>
            <a:r>
              <a:rPr lang="en-US" sz="1000" dirty="0">
                <a:solidFill>
                  <a:srgbClr val="DCE3F2"/>
                </a:solidFill>
                <a:latin typeface="Consolas" pitchFamily="34" charset="0"/>
                <a:ea typeface="Consolas" pitchFamily="34" charset="-122"/>
                <a:cs typeface="Consolas" pitchFamily="34" charset="-120"/>
              </a:rPr>
              <a:t> </a:t>
            </a:r>
            <a:endParaRPr lang="en-US" sz="1000" dirty="0"/>
          </a:p>
          <a:p>
            <a:pPr indent="0" marL="0">
              <a:buNone/>
            </a:pPr>
            <a:r>
              <a:rPr lang="en-US" sz="1000" dirty="0">
                <a:solidFill>
                  <a:srgbClr val="7F8CA8"/>
                </a:solidFill>
                <a:latin typeface="Consolas" pitchFamily="34" charset="0"/>
                <a:ea typeface="Consolas" pitchFamily="34" charset="-122"/>
                <a:cs typeface="Consolas" pitchFamily="34" charset="-120"/>
              </a:rPr>
              <a:t># Flux 2f — drift détecté</a:t>
            </a:r>
            <a:endParaRPr lang="en-US" sz="1000" dirty="0"/>
          </a:p>
          <a:p>
            <a:pPr indent="0" marL="0">
              <a:buNone/>
            </a:pPr>
            <a:r>
              <a:rPr lang="en-US" sz="1000" dirty="0">
                <a:solidFill>
                  <a:srgbClr val="DCE3F2"/>
                </a:solidFill>
                <a:latin typeface="Consolas" pitchFamily="34" charset="0"/>
                <a:ea typeface="Consolas" pitchFamily="34" charset="-122"/>
                <a:cs typeface="Consolas" pitchFamily="34" charset="-120"/>
              </a:rPr>
              <a:t>Scheduler -&gt; Monitoring</a:t>
            </a:r>
            <a:endParaRPr lang="en-US" sz="1000" dirty="0"/>
          </a:p>
          <a:p>
            <a:pPr indent="0" marL="0">
              <a:buNone/>
            </a:pPr>
            <a:r>
              <a:rPr lang="en-US" sz="1000" dirty="0">
                <a:solidFill>
                  <a:srgbClr val="DCE3F2"/>
                </a:solidFill>
                <a:latin typeface="Consolas" pitchFamily="34" charset="0"/>
                <a:ea typeface="Consolas" pitchFamily="34" charset="-122"/>
                <a:cs typeface="Consolas" pitchFamily="34" charset="-120"/>
              </a:rPr>
              <a:t>  -&gt; Pub/Sub -&gt; re-fine-tuning</a:t>
            </a:r>
            <a:endParaRPr lang="en-US" sz="1000" dirty="0"/>
          </a:p>
        </p:txBody>
      </p:sp>
      <p:sp>
        <p:nvSpPr>
          <p:cNvPr id="15" name="Shape 12"/>
          <p:cNvSpPr/>
          <p:nvPr/>
        </p:nvSpPr>
        <p:spPr>
          <a:xfrm>
            <a:off x="548640" y="4983480"/>
            <a:ext cx="11064240" cy="1005840"/>
          </a:xfrm>
          <a:prstGeom prst="rect">
            <a:avLst/>
          </a:prstGeom>
          <a:solidFill>
            <a:srgbClr val="EEF2FB"/>
          </a:solidFill>
          <a:ln/>
        </p:spPr>
      </p:sp>
      <p:sp>
        <p:nvSpPr>
          <p:cNvPr id="16" name="Shape 13"/>
          <p:cNvSpPr/>
          <p:nvPr/>
        </p:nvSpPr>
        <p:spPr>
          <a:xfrm>
            <a:off x="548640" y="4983480"/>
            <a:ext cx="91440" cy="1005840"/>
          </a:xfrm>
          <a:prstGeom prst="rect">
            <a:avLst/>
          </a:prstGeom>
          <a:solidFill>
            <a:srgbClr val="EA4335"/>
          </a:solidFill>
          <a:ln/>
        </p:spPr>
      </p:sp>
      <p:sp>
        <p:nvSpPr>
          <p:cNvPr id="17" name="Text 14"/>
          <p:cNvSpPr/>
          <p:nvPr/>
        </p:nvSpPr>
        <p:spPr>
          <a:xfrm>
            <a:off x="786384" y="5056632"/>
            <a:ext cx="10680192" cy="859536"/>
          </a:xfrm>
          <a:prstGeom prst="rect">
            <a:avLst/>
          </a:prstGeom>
          <a:noFill/>
          <a:ln/>
        </p:spPr>
        <p:txBody>
          <a:bodyPr wrap="square" lIns="0" tIns="0" rIns="0" bIns="0" rtlCol="0" anchor="ctr"/>
          <a:lstStyle/>
          <a:p>
            <a:pPr indent="0" marL="0">
              <a:buNone/>
            </a:pPr>
            <a:r>
              <a:rPr lang="en-US" sz="1100" b="1" dirty="0">
                <a:solidFill>
                  <a:srgbClr val="C5221F"/>
                </a:solidFill>
                <a:latin typeface="Calibri" pitchFamily="34" charset="0"/>
                <a:ea typeface="Calibri" pitchFamily="34" charset="-122"/>
                <a:cs typeface="Calibri" pitchFamily="34" charset="-120"/>
              </a:rPr>
              <a:t>POURQUOI UN BUS D'ÉVÉNEMENTS ?   </a:t>
            </a:r>
            <a:pPr indent="0" marL="0">
              <a:buNone/>
            </a:pPr>
            <a:r>
              <a:rPr lang="en-US" sz="1200" dirty="0">
                <a:solidFill>
                  <a:srgbClr val="202124"/>
                </a:solidFill>
                <a:latin typeface="Calibri" pitchFamily="34" charset="0"/>
                <a:ea typeface="Calibri" pitchFamily="34" charset="-122"/>
                <a:cs typeface="Calibri" pitchFamily="34" charset="-120"/>
              </a:rPr>
              <a:t>Le producteur (GCS / Monitoring) n'a pas besoin de connaître le consommateur (Vertex). On peut ajouter de nouveaux abonnés (alertes, logs) sans toucher au producteur — architecture découplée et robuste.</a:t>
            </a:r>
            <a:endParaRPr lang="en-US" sz="1100" dirty="0"/>
          </a:p>
        </p:txBody>
      </p:sp>
      <p:sp>
        <p:nvSpPr>
          <p:cNvPr id="18" name="Text 15"/>
          <p:cNvSpPr/>
          <p:nvPr/>
        </p:nvSpPr>
        <p:spPr>
          <a:xfrm>
            <a:off x="548640" y="6510528"/>
            <a:ext cx="11155680" cy="274320"/>
          </a:xfrm>
          <a:prstGeom prst="rect">
            <a:avLst/>
          </a:prstGeom>
          <a:noFill/>
          <a:ln/>
        </p:spPr>
        <p:txBody>
          <a:bodyPr wrap="square" lIns="0" tIns="0" rIns="0" bIns="0" rtlCol="0" anchor="ctr"/>
          <a:lstStyle/>
          <a:p>
            <a:pPr indent="0" marL="0">
              <a:buNone/>
            </a:pPr>
            <a:r>
              <a:rPr lang="en-US" sz="950" i="1" dirty="0">
                <a:solidFill>
                  <a:srgbClr val="5F6368"/>
                </a:solidFill>
                <a:latin typeface="Calibri" pitchFamily="34" charset="0"/>
                <a:ea typeface="Calibri" pitchFamily="34" charset="-122"/>
                <a:cs typeface="Calibri" pitchFamily="34" charset="-120"/>
              </a:rPr>
              <a:t>Source : README §5.2, §7 (flux 2d/2f), §20 — doc : cloud.google.com/pubsub/docs</a:t>
            </a:r>
            <a:endParaRPr lang="en-US" sz="950" dirty="0"/>
          </a:p>
        </p:txBody>
      </p:sp>
      <p:sp>
        <p:nvSpPr>
          <p:cNvPr id="19" name="Text 16"/>
          <p:cNvSpPr/>
          <p:nvPr/>
        </p:nvSpPr>
        <p:spPr>
          <a:xfrm>
            <a:off x="2103120" y="4590288"/>
            <a:ext cx="3200400" cy="182880"/>
          </a:xfrm>
          <a:prstGeom prst="rect">
            <a:avLst/>
          </a:prstGeom>
          <a:noFill/>
          <a:ln/>
        </p:spPr>
        <p:txBody>
          <a:bodyPr wrap="square" lIns="0" tIns="0" rIns="0" bIns="0" rtlCol="0" anchor="ctr"/>
          <a:lstStyle/>
          <a:p>
            <a:pPr indent="0" marL="0">
              <a:buNone/>
            </a:pPr>
            <a:r>
              <a:rPr lang="en-US" sz="850" b="1" dirty="0">
                <a:solidFill>
                  <a:srgbClr val="97A1B5"/>
                </a:solidFill>
                <a:latin typeface="Calibri" pitchFamily="34" charset="0"/>
                <a:ea typeface="Calibri" pitchFamily="34" charset="-122"/>
                <a:cs typeface="Calibri" pitchFamily="34" charset="-120"/>
              </a:rPr>
              <a:t>Tsantaniaina Rakotonjanahary Ambaorasoa Guillaume</a:t>
            </a:r>
            <a:endParaRPr lang="en-US" sz="850" dirty="0"/>
          </a:p>
        </p:txBody>
      </p:sp>
      <p:sp>
        <p:nvSpPr>
          <p:cNvPr id="20" name="Shape 17"/>
          <p:cNvSpPr/>
          <p:nvPr/>
        </p:nvSpPr>
        <p:spPr>
          <a:xfrm>
            <a:off x="11137392" y="5852160"/>
            <a:ext cx="914400" cy="914400"/>
          </a:xfrm>
          <a:prstGeom prst="roundRect">
            <a:avLst>
              <a:gd name="adj" fmla="val 10000"/>
            </a:avLst>
          </a:prstGeom>
          <a:solidFill>
            <a:srgbClr val="FFFFFF"/>
          </a:solidFill>
          <a:ln w="12700">
            <a:solidFill>
              <a:srgbClr val="D6DEEC"/>
            </a:solidFill>
            <a:prstDash val="solid"/>
          </a:ln>
          <a:effectLst>
            <a:outerShdw sx="100000" sy="100000" kx="0" ky="0" algn="bl" rotWithShape="0" blurRad="88900" dist="38100" dir="5400000">
              <a:srgbClr val="8A94AD">
                <a:alpha val="26000"/>
              </a:srgbClr>
            </a:outerShdw>
          </a:effectLst>
        </p:spPr>
      </p:sp>
      <p:pic>
        <p:nvPicPr>
          <p:cNvPr id="21" name="Image 1" descr="logos/logo_mdn.png">    </p:cNvPr>
          <p:cNvPicPr>
            <a:picLocks noChangeAspect="1"/>
          </p:cNvPicPr>
          <p:nvPr/>
        </p:nvPicPr>
        <p:blipFill>
          <a:blip r:embed="rId2"/>
          <a:stretch>
            <a:fillRect/>
          </a:stretch>
        </p:blipFill>
        <p:spPr>
          <a:xfrm>
            <a:off x="11237976" y="5952744"/>
            <a:ext cx="713232" cy="713232"/>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4285F4"/>
          </a:solidFill>
          <a:ln/>
        </p:spPr>
      </p:sp>
      <p:sp>
        <p:nvSpPr>
          <p:cNvPr id="3" name="Shape 1"/>
          <p:cNvSpPr/>
          <p:nvPr/>
        </p:nvSpPr>
        <p:spPr>
          <a:xfrm>
            <a:off x="146304" y="0"/>
            <a:ext cx="12042648" cy="1078992"/>
          </a:xfrm>
          <a:prstGeom prst="rect">
            <a:avLst/>
          </a:prstGeom>
          <a:solidFill>
            <a:srgbClr val="1B2A4A"/>
          </a:solidFill>
          <a:ln/>
        </p:spPr>
      </p:sp>
      <p:sp>
        <p:nvSpPr>
          <p:cNvPr id="4" name="Text 2"/>
          <p:cNvSpPr/>
          <p:nvPr/>
        </p:nvSpPr>
        <p:spPr>
          <a:xfrm>
            <a:off x="548640" y="182880"/>
            <a:ext cx="9601200" cy="292608"/>
          </a:xfrm>
          <a:prstGeom prst="rect">
            <a:avLst/>
          </a:prstGeom>
          <a:noFill/>
          <a:ln/>
        </p:spPr>
        <p:txBody>
          <a:bodyPr wrap="square" lIns="0" tIns="0" rIns="0" bIns="0" rtlCol="0" anchor="ctr"/>
          <a:lstStyle/>
          <a:p>
            <a:pPr indent="0" marL="0">
              <a:buNone/>
            </a:pPr>
            <a:r>
              <a:rPr lang="en-US" sz="1200" b="1" spc="150" kern="0" dirty="0">
                <a:solidFill>
                  <a:srgbClr val="8AB4F8"/>
                </a:solidFill>
                <a:latin typeface="Calibri" pitchFamily="34" charset="0"/>
                <a:ea typeface="Calibri" pitchFamily="34" charset="-122"/>
                <a:cs typeface="Calibri" pitchFamily="34" charset="-120"/>
              </a:rPr>
              <a:t>JOURNALISATION CENTRALISÉE</a:t>
            </a:r>
            <a:endParaRPr lang="en-US" sz="1200" dirty="0"/>
          </a:p>
        </p:txBody>
      </p:sp>
      <p:sp>
        <p:nvSpPr>
          <p:cNvPr id="5" name="Text 3"/>
          <p:cNvSpPr/>
          <p:nvPr/>
        </p:nvSpPr>
        <p:spPr>
          <a:xfrm>
            <a:off x="530352" y="438912"/>
            <a:ext cx="9692640" cy="566928"/>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Cloud Logging — concepts &amp; debug</a:t>
            </a:r>
            <a:endParaRPr lang="en-US" sz="2700" dirty="0"/>
          </a:p>
        </p:txBody>
      </p:sp>
      <p:sp>
        <p:nvSpPr>
          <p:cNvPr id="6" name="Text 4"/>
          <p:cNvSpPr/>
          <p:nvPr/>
        </p:nvSpPr>
        <p:spPr>
          <a:xfrm>
            <a:off x="8229600" y="182880"/>
            <a:ext cx="1828800" cy="274320"/>
          </a:xfrm>
          <a:prstGeom prst="rect">
            <a:avLst/>
          </a:prstGeom>
          <a:noFill/>
          <a:ln/>
        </p:spPr>
        <p:txBody>
          <a:bodyPr wrap="square" lIns="0" tIns="0" rIns="0" bIns="0" rtlCol="0" anchor="ctr"/>
          <a:lstStyle/>
          <a:p>
            <a:pPr algn="r" indent="0" marL="0">
              <a:buNone/>
            </a:pPr>
            <a:r>
              <a:rPr lang="en-US" sz="1050" b="1" spc="100" kern="0" dirty="0">
                <a:solidFill>
                  <a:srgbClr val="8FA0C4"/>
                </a:solidFill>
                <a:latin typeface="Calibri" pitchFamily="34" charset="0"/>
                <a:ea typeface="Calibri" pitchFamily="34" charset="-122"/>
                <a:cs typeface="Calibri" pitchFamily="34" charset="-120"/>
              </a:rPr>
              <a:t>PARTIE 2</a:t>
            </a:r>
            <a:endParaRPr lang="en-US" sz="1050" dirty="0"/>
          </a:p>
        </p:txBody>
      </p:sp>
      <p:sp>
        <p:nvSpPr>
          <p:cNvPr id="7" name="Shape 5"/>
          <p:cNvSpPr/>
          <p:nvPr/>
        </p:nvSpPr>
        <p:spPr>
          <a:xfrm>
            <a:off x="10927080" y="237744"/>
            <a:ext cx="603504" cy="603504"/>
          </a:xfrm>
          <a:prstGeom prst="roundRect">
            <a:avLst>
              <a:gd name="adj" fmla="val 12121"/>
            </a:avLst>
          </a:prstGeom>
          <a:solidFill>
            <a:srgbClr val="FFFFFF"/>
          </a:solidFill>
          <a:ln/>
        </p:spPr>
      </p:sp>
      <p:pic>
        <p:nvPicPr>
          <p:cNvPr id="8" name="Image 0" descr="logos/08_cloud_logging.png">    </p:cNvPr>
          <p:cNvPicPr>
            <a:picLocks noChangeAspect="1"/>
          </p:cNvPicPr>
          <p:nvPr/>
        </p:nvPicPr>
        <p:blipFill>
          <a:blip r:embed="rId1"/>
          <a:stretch>
            <a:fillRect/>
          </a:stretch>
        </p:blipFill>
        <p:spPr>
          <a:xfrm>
            <a:off x="10991088" y="301752"/>
            <a:ext cx="475488" cy="475488"/>
          </a:xfrm>
          <a:prstGeom prst="rect">
            <a:avLst/>
          </a:prstGeom>
        </p:spPr>
      </p:pic>
      <p:sp>
        <p:nvSpPr>
          <p:cNvPr id="9" name="Text 6"/>
          <p:cNvSpPr/>
          <p:nvPr/>
        </p:nvSpPr>
        <p:spPr>
          <a:xfrm>
            <a:off x="548640" y="1325880"/>
            <a:ext cx="11064240" cy="640080"/>
          </a:xfrm>
          <a:prstGeom prst="rect">
            <a:avLst/>
          </a:prstGeom>
          <a:noFill/>
          <a:ln/>
        </p:spPr>
        <p:txBody>
          <a:bodyPr wrap="square" lIns="0" tIns="0" rIns="0" bIns="0" rtlCol="0" anchor="t"/>
          <a:lstStyle/>
          <a:p>
            <a:pPr indent="0" marL="0">
              <a:buNone/>
            </a:pPr>
            <a:r>
              <a:rPr lang="en-US" sz="1300" dirty="0">
                <a:solidFill>
                  <a:srgbClr val="202124"/>
                </a:solidFill>
                <a:latin typeface="Calibri" pitchFamily="34" charset="0"/>
                <a:ea typeface="Calibri" pitchFamily="34" charset="-122"/>
                <a:cs typeface="Calibri" pitchFamily="34" charset="-120"/>
              </a:rPr>
              <a:t>Gestion de logs temps réel : stockage, recherche, analyse. Les builds (CLOUD_LOGGING_ONLY) et les services Cloud Run y envoient leurs logs, consultables en CLI ou dans Logs Explorer.</a:t>
            </a:r>
            <a:endParaRPr lang="en-US" sz="1300" dirty="0"/>
          </a:p>
        </p:txBody>
      </p:sp>
      <p:sp>
        <p:nvSpPr>
          <p:cNvPr id="10" name="Text 7"/>
          <p:cNvSpPr/>
          <p:nvPr/>
        </p:nvSpPr>
        <p:spPr>
          <a:xfrm>
            <a:off x="548640" y="2148840"/>
            <a:ext cx="5486400" cy="274320"/>
          </a:xfrm>
          <a:prstGeom prst="rect">
            <a:avLst/>
          </a:prstGeom>
          <a:noFill/>
          <a:ln/>
        </p:spPr>
        <p:txBody>
          <a:bodyPr wrap="square" lIns="0" tIns="0" rIns="0" bIns="0" rtlCol="0" anchor="ctr"/>
          <a:lstStyle/>
          <a:p>
            <a:pPr indent="0" marL="0">
              <a:buNone/>
            </a:pPr>
            <a:r>
              <a:rPr lang="en-US" sz="1300" b="1" spc="100" kern="0" dirty="0">
                <a:solidFill>
                  <a:srgbClr val="1A73E8"/>
                </a:solidFill>
                <a:latin typeface="Calibri" pitchFamily="34" charset="0"/>
                <a:ea typeface="Calibri" pitchFamily="34" charset="-122"/>
                <a:cs typeface="Calibri" pitchFamily="34" charset="-120"/>
              </a:rPr>
              <a:t>LIRE LES LOGS CLOUD RUN</a:t>
            </a:r>
            <a:endParaRPr lang="en-US" sz="1300" dirty="0"/>
          </a:p>
        </p:txBody>
      </p:sp>
      <p:sp>
        <p:nvSpPr>
          <p:cNvPr id="11" name="Shape 8"/>
          <p:cNvSpPr/>
          <p:nvPr/>
        </p:nvSpPr>
        <p:spPr>
          <a:xfrm>
            <a:off x="548640" y="2468880"/>
            <a:ext cx="5577840" cy="2377440"/>
          </a:xfrm>
          <a:prstGeom prst="rect">
            <a:avLst/>
          </a:prstGeom>
          <a:solidFill>
            <a:srgbClr val="0E1A33"/>
          </a:solidFill>
          <a:ln/>
          <a:effectLst>
            <a:outerShdw sx="100000" sy="100000" kx="0" ky="0" algn="bl" rotWithShape="0" blurRad="88900" dist="38100" dir="5400000">
              <a:srgbClr val="8A94AD">
                <a:alpha val="26000"/>
              </a:srgbClr>
            </a:outerShdw>
          </a:effectLst>
        </p:spPr>
      </p:sp>
      <p:sp>
        <p:nvSpPr>
          <p:cNvPr id="12" name="Text 9"/>
          <p:cNvSpPr/>
          <p:nvPr/>
        </p:nvSpPr>
        <p:spPr>
          <a:xfrm>
            <a:off x="713232" y="2578608"/>
            <a:ext cx="5248656" cy="2157984"/>
          </a:xfrm>
          <a:prstGeom prst="rect">
            <a:avLst/>
          </a:prstGeom>
          <a:noFill/>
          <a:ln/>
        </p:spPr>
        <p:txBody>
          <a:bodyPr wrap="square" lIns="0" tIns="0" rIns="0" bIns="0" rtlCol="0" anchor="t"/>
          <a:lstStyle/>
          <a:p>
            <a:pPr indent="0" marL="0">
              <a:buNone/>
            </a:pPr>
            <a:r>
              <a:rPr lang="en-US" sz="950" dirty="0">
                <a:solidFill>
                  <a:srgbClr val="DCE3F2"/>
                </a:solidFill>
                <a:latin typeface="Consolas" pitchFamily="34" charset="0"/>
                <a:ea typeface="Consolas" pitchFamily="34" charset="-122"/>
                <a:cs typeface="Consolas" pitchFamily="34" charset="-120"/>
              </a:rPr>
              <a:t>gcloud logging read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"resource.type=cloud_run_revision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AND resource.labels.service_name=\</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mgvaovao-inference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AND severity&gt;=ERROR"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--project=mgvaovao-ia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--limit=20 --freshness=1h</a:t>
            </a:r>
            <a:endParaRPr lang="en-US" sz="950" dirty="0"/>
          </a:p>
        </p:txBody>
      </p:sp>
      <p:sp>
        <p:nvSpPr>
          <p:cNvPr id="13" name="Text 10"/>
          <p:cNvSpPr/>
          <p:nvPr/>
        </p:nvSpPr>
        <p:spPr>
          <a:xfrm>
            <a:off x="6309360" y="2148840"/>
            <a:ext cx="5486400" cy="274320"/>
          </a:xfrm>
          <a:prstGeom prst="rect">
            <a:avLst/>
          </a:prstGeom>
          <a:noFill/>
          <a:ln/>
        </p:spPr>
        <p:txBody>
          <a:bodyPr wrap="square" lIns="0" tIns="0" rIns="0" bIns="0" rtlCol="0" anchor="ctr"/>
          <a:lstStyle/>
          <a:p>
            <a:pPr indent="0" marL="0">
              <a:buNone/>
            </a:pPr>
            <a:r>
              <a:rPr lang="en-US" sz="1300" b="1" spc="100" kern="0" dirty="0">
                <a:solidFill>
                  <a:srgbClr val="1A73E8"/>
                </a:solidFill>
                <a:latin typeface="Calibri" pitchFamily="34" charset="0"/>
                <a:ea typeface="Calibri" pitchFamily="34" charset="-122"/>
                <a:cs typeface="Calibri" pitchFamily="34" charset="-120"/>
              </a:rPr>
              <a:t>MOTIFS DE LOG À CONNAÎTRE</a:t>
            </a:r>
            <a:endParaRPr lang="en-US" sz="13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6309360" y="2468880"/>
          <a:ext cx="5349240" cy="914400"/>
        </p:xfrm>
        <a:graphic>
          <a:graphicData uri="http://schemas.openxmlformats.org/drawingml/2006/table">
            <a:tbl>
              <a:tblPr/>
              <a:tblGrid>
                <a:gridCol w="2606040"/>
                <a:gridCol w="2743200"/>
              </a:tblGrid>
              <a:tr h="0">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Ligne de log</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A73E8"/>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Sens</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A73E8"/>
                    </a:solidFill>
                  </a:tcPr>
                </a:tc>
              </a:tr>
              <a:tr h="0">
                <a:tc>
                  <a:txBody>
                    <a:bodyPr/>
                    <a:lstStyle/>
                    <a:p>
                      <a:pPr algn="l" indent="0" marL="0">
                        <a:buNone/>
                      </a:pPr>
                      <a:r>
                        <a:rPr lang="en-US" sz="950" dirty="0">
                          <a:solidFill>
                            <a:srgbClr val="202124"/>
                          </a:solidFill>
                          <a:latin typeface="Calibri" pitchFamily="34" charset="0"/>
                          <a:ea typeface="Calibri" pitchFamily="34" charset="-122"/>
                          <a:cs typeface="Calibri" pitchFamily="34" charset="-120"/>
                        </a:rPr>
                        <a:t>Model loading started…</a:t>
                      </a:r>
                      <a:endParaRPr lang="en-US" sz="9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950" dirty="0">
                          <a:solidFill>
                            <a:srgbClr val="202124"/>
                          </a:solidFill>
                          <a:latin typeface="Calibri" pitchFamily="34" charset="0"/>
                          <a:ea typeface="Calibri" pitchFamily="34" charset="-122"/>
                          <a:cs typeface="Calibri" pitchFamily="34" charset="-120"/>
                        </a:rPr>
                        <a:t>cold start, port ouvert</a:t>
                      </a:r>
                      <a:endParaRPr lang="en-US" sz="9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r>
              <a:tr h="0">
                <a:tc>
                  <a:txBody>
                    <a:bodyPr/>
                    <a:lstStyle/>
                    <a:p>
                      <a:pPr algn="l" indent="0" marL="0">
                        <a:buNone/>
                      </a:pPr>
                      <a:r>
                        <a:rPr lang="en-US" sz="950" dirty="0">
                          <a:solidFill>
                            <a:srgbClr val="202124"/>
                          </a:solidFill>
                          <a:latin typeface="Calibri" pitchFamily="34" charset="0"/>
                          <a:ea typeface="Calibri" pitchFamily="34" charset="-122"/>
                          <a:cs typeface="Calibri" pitchFamily="34" charset="-120"/>
                        </a:rPr>
                        <a:t>All pipelines loaded</a:t>
                      </a:r>
                      <a:endParaRPr lang="en-US" sz="9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950" dirty="0">
                          <a:solidFill>
                            <a:srgbClr val="202124"/>
                          </a:solidFill>
                          <a:latin typeface="Calibri" pitchFamily="34" charset="0"/>
                          <a:ea typeface="Calibri" pitchFamily="34" charset="-122"/>
                          <a:cs typeface="Calibri" pitchFamily="34" charset="-120"/>
                        </a:rPr>
                        <a:t>/ready = 200</a:t>
                      </a:r>
                      <a:endParaRPr lang="en-US" sz="9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r>
              <a:tr h="0">
                <a:tc>
                  <a:txBody>
                    <a:bodyPr/>
                    <a:lstStyle/>
                    <a:p>
                      <a:pPr algn="l" indent="0" marL="0">
                        <a:buNone/>
                      </a:pPr>
                      <a:r>
                        <a:rPr lang="en-US" sz="950" dirty="0">
                          <a:solidFill>
                            <a:srgbClr val="202124"/>
                          </a:solidFill>
                          <a:latin typeface="Calibri" pitchFamily="34" charset="0"/>
                          <a:ea typeface="Calibri" pitchFamily="34" charset="-122"/>
                          <a:cs typeface="Calibri" pitchFamily="34" charset="-120"/>
                        </a:rPr>
                        <a:t>WS open — dialect=…</a:t>
                      </a:r>
                      <a:endParaRPr lang="en-US" sz="9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950" dirty="0">
                          <a:solidFill>
                            <a:srgbClr val="202124"/>
                          </a:solidFill>
                          <a:latin typeface="Calibri" pitchFamily="34" charset="0"/>
                          <a:ea typeface="Calibri" pitchFamily="34" charset="-122"/>
                          <a:cs typeface="Calibri" pitchFamily="34" charset="-120"/>
                        </a:rPr>
                        <a:t>session WebSocket</a:t>
                      </a:r>
                      <a:endParaRPr lang="en-US" sz="9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r>
              <a:tr h="0">
                <a:tc>
                  <a:txBody>
                    <a:bodyPr/>
                    <a:lstStyle/>
                    <a:p>
                      <a:pPr algn="l" indent="0" marL="0">
                        <a:buNone/>
                      </a:pPr>
                      <a:r>
                        <a:rPr lang="en-US" sz="950" dirty="0">
                          <a:solidFill>
                            <a:srgbClr val="202124"/>
                          </a:solidFill>
                          <a:latin typeface="Calibri" pitchFamily="34" charset="0"/>
                          <a:ea typeface="Calibri" pitchFamily="34" charset="-122"/>
                          <a:cs typeface="Calibri" pitchFamily="34" charset="-120"/>
                        </a:rPr>
                        <a:t>VAD state=speaking</a:t>
                      </a:r>
                      <a:endParaRPr lang="en-US" sz="9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950" dirty="0">
                          <a:solidFill>
                            <a:srgbClr val="202124"/>
                          </a:solidFill>
                          <a:latin typeface="Calibri" pitchFamily="34" charset="0"/>
                          <a:ea typeface="Calibri" pitchFamily="34" charset="-122"/>
                          <a:cs typeface="Calibri" pitchFamily="34" charset="-120"/>
                        </a:rPr>
                        <a:t>parole détectée</a:t>
                      </a:r>
                      <a:endParaRPr lang="en-US" sz="9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r>
              <a:tr h="0">
                <a:tc>
                  <a:txBody>
                    <a:bodyPr/>
                    <a:lstStyle/>
                    <a:p>
                      <a:pPr algn="l" indent="0" marL="0">
                        <a:buNone/>
                      </a:pPr>
                      <a:r>
                        <a:rPr lang="en-US" sz="950" dirty="0">
                          <a:solidFill>
                            <a:srgbClr val="202124"/>
                          </a:solidFill>
                          <a:latin typeface="Calibri" pitchFamily="34" charset="0"/>
                          <a:ea typeface="Calibri" pitchFamily="34" charset="-122"/>
                          <a:cs typeface="Calibri" pitchFamily="34" charset="-120"/>
                        </a:rPr>
                        <a:t>KeyError: 'bytes'</a:t>
                      </a:r>
                      <a:endParaRPr lang="en-US" sz="9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950" dirty="0">
                          <a:solidFill>
                            <a:srgbClr val="202124"/>
                          </a:solidFill>
                          <a:latin typeface="Calibri" pitchFamily="34" charset="0"/>
                          <a:ea typeface="Calibri" pitchFamily="34" charset="-122"/>
                          <a:cs typeface="Calibri" pitchFamily="34" charset="-120"/>
                        </a:rPr>
                        <a:t>BUG (voir fixes)</a:t>
                      </a:r>
                      <a:endParaRPr lang="en-US" sz="9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r>
            </a:tbl>
          </a:graphicData>
        </a:graphic>
      </p:graphicFrame>
      <p:sp>
        <p:nvSpPr>
          <p:cNvPr id="15" name="Shape 11"/>
          <p:cNvSpPr/>
          <p:nvPr/>
        </p:nvSpPr>
        <p:spPr>
          <a:xfrm>
            <a:off x="548640" y="5120640"/>
            <a:ext cx="11064240" cy="914400"/>
          </a:xfrm>
          <a:prstGeom prst="rect">
            <a:avLst/>
          </a:prstGeom>
          <a:solidFill>
            <a:srgbClr val="EEF2FB"/>
          </a:solidFill>
          <a:ln/>
        </p:spPr>
      </p:sp>
      <p:sp>
        <p:nvSpPr>
          <p:cNvPr id="16" name="Shape 12"/>
          <p:cNvSpPr/>
          <p:nvPr/>
        </p:nvSpPr>
        <p:spPr>
          <a:xfrm>
            <a:off x="548640" y="5120640"/>
            <a:ext cx="91440" cy="914400"/>
          </a:xfrm>
          <a:prstGeom prst="rect">
            <a:avLst/>
          </a:prstGeom>
          <a:solidFill>
            <a:srgbClr val="4285F4"/>
          </a:solidFill>
          <a:ln/>
        </p:spPr>
      </p:sp>
      <p:sp>
        <p:nvSpPr>
          <p:cNvPr id="17" name="Text 13"/>
          <p:cNvSpPr/>
          <p:nvPr/>
        </p:nvSpPr>
        <p:spPr>
          <a:xfrm>
            <a:off x="786384" y="5193792"/>
            <a:ext cx="10680192" cy="768096"/>
          </a:xfrm>
          <a:prstGeom prst="rect">
            <a:avLst/>
          </a:prstGeom>
          <a:noFill/>
          <a:ln/>
        </p:spPr>
        <p:txBody>
          <a:bodyPr wrap="square" lIns="0" tIns="0" rIns="0" bIns="0" rtlCol="0" anchor="ctr"/>
          <a:lstStyle/>
          <a:p>
            <a:pPr indent="0" marL="0">
              <a:buNone/>
            </a:pPr>
            <a:r>
              <a:rPr lang="en-US" sz="1100" b="1" dirty="0">
                <a:solidFill>
                  <a:srgbClr val="1A73E8"/>
                </a:solidFill>
                <a:latin typeface="Calibri" pitchFamily="34" charset="0"/>
                <a:ea typeface="Calibri" pitchFamily="34" charset="-122"/>
                <a:cs typeface="Calibri" pitchFamily="34" charset="-120"/>
              </a:rPr>
              <a:t>CONSOLE   </a:t>
            </a:r>
            <a:pPr indent="0" marL="0">
              <a:buNone/>
            </a:pPr>
            <a:r>
              <a:rPr lang="en-US" sz="1200" dirty="0">
                <a:solidFill>
                  <a:srgbClr val="202124"/>
                </a:solidFill>
                <a:latin typeface="Calibri" pitchFamily="34" charset="0"/>
                <a:ea typeface="Calibri" pitchFamily="34" charset="-122"/>
                <a:cs typeface="Calibri" pitchFamily="34" charset="-120"/>
              </a:rPr>
              <a:t>Pour explorer visuellement : console.cloud.google.com/run → service → onglet Logs. Filtres par sévérité, requêtes sauvegardées, et trace associée aux entrées.</a:t>
            </a:r>
            <a:endParaRPr lang="en-US" sz="1100" dirty="0"/>
          </a:p>
        </p:txBody>
      </p:sp>
      <p:sp>
        <p:nvSpPr>
          <p:cNvPr id="18" name="Text 14"/>
          <p:cNvSpPr/>
          <p:nvPr/>
        </p:nvSpPr>
        <p:spPr>
          <a:xfrm>
            <a:off x="548640" y="6510528"/>
            <a:ext cx="11155680" cy="274320"/>
          </a:xfrm>
          <a:prstGeom prst="rect">
            <a:avLst/>
          </a:prstGeom>
          <a:noFill/>
          <a:ln/>
        </p:spPr>
        <p:txBody>
          <a:bodyPr wrap="square" lIns="0" tIns="0" rIns="0" bIns="0" rtlCol="0" anchor="ctr"/>
          <a:lstStyle/>
          <a:p>
            <a:pPr indent="0" marL="0">
              <a:buNone/>
            </a:pPr>
            <a:r>
              <a:rPr lang="en-US" sz="950" i="1" dirty="0">
                <a:solidFill>
                  <a:srgbClr val="5F6368"/>
                </a:solidFill>
                <a:latin typeface="Calibri" pitchFamily="34" charset="0"/>
                <a:ea typeface="Calibri" pitchFamily="34" charset="-122"/>
                <a:cs typeface="Calibri" pitchFamily="34" charset="-120"/>
              </a:rPr>
              <a:t>Source : README §18.4 — lecture des logs + motifs courants</a:t>
            </a:r>
            <a:endParaRPr lang="en-US" sz="950" dirty="0"/>
          </a:p>
        </p:txBody>
      </p:sp>
      <p:sp>
        <p:nvSpPr>
          <p:cNvPr id="19" name="Text 15"/>
          <p:cNvSpPr/>
          <p:nvPr/>
        </p:nvSpPr>
        <p:spPr>
          <a:xfrm>
            <a:off x="3657600" y="6144768"/>
            <a:ext cx="3200400" cy="182880"/>
          </a:xfrm>
          <a:prstGeom prst="rect">
            <a:avLst/>
          </a:prstGeom>
          <a:noFill/>
          <a:ln/>
        </p:spPr>
        <p:txBody>
          <a:bodyPr wrap="square" lIns="0" tIns="0" rIns="0" bIns="0" rtlCol="0" anchor="ctr"/>
          <a:lstStyle/>
          <a:p>
            <a:pPr indent="0" marL="0">
              <a:buNone/>
            </a:pPr>
            <a:r>
              <a:rPr lang="en-US" sz="850" b="1" dirty="0">
                <a:solidFill>
                  <a:srgbClr val="97A1B5"/>
                </a:solidFill>
                <a:latin typeface="Calibri" pitchFamily="34" charset="0"/>
                <a:ea typeface="Calibri" pitchFamily="34" charset="-122"/>
                <a:cs typeface="Calibri" pitchFamily="34" charset="-120"/>
              </a:rPr>
              <a:t>Tsantaniaina Rakotonjanahary Ambaorasoa Guillaume</a:t>
            </a:r>
            <a:endParaRPr lang="en-US" sz="850" dirty="0"/>
          </a:p>
        </p:txBody>
      </p:sp>
      <p:sp>
        <p:nvSpPr>
          <p:cNvPr id="20" name="Shape 16"/>
          <p:cNvSpPr/>
          <p:nvPr/>
        </p:nvSpPr>
        <p:spPr>
          <a:xfrm>
            <a:off x="11137392" y="5852160"/>
            <a:ext cx="914400" cy="914400"/>
          </a:xfrm>
          <a:prstGeom prst="roundRect">
            <a:avLst>
              <a:gd name="adj" fmla="val 10000"/>
            </a:avLst>
          </a:prstGeom>
          <a:solidFill>
            <a:srgbClr val="FFFFFF"/>
          </a:solidFill>
          <a:ln w="12700">
            <a:solidFill>
              <a:srgbClr val="D6DEEC"/>
            </a:solidFill>
            <a:prstDash val="solid"/>
          </a:ln>
          <a:effectLst>
            <a:outerShdw sx="100000" sy="100000" kx="0" ky="0" algn="bl" rotWithShape="0" blurRad="88900" dist="38100" dir="5400000">
              <a:srgbClr val="8A94AD">
                <a:alpha val="26000"/>
              </a:srgbClr>
            </a:outerShdw>
          </a:effectLst>
        </p:spPr>
      </p:sp>
      <p:pic>
        <p:nvPicPr>
          <p:cNvPr id="21" name="Image 1" descr="logos/logo_mdn.png">    </p:cNvPr>
          <p:cNvPicPr>
            <a:picLocks noChangeAspect="1"/>
          </p:cNvPicPr>
          <p:nvPr/>
        </p:nvPicPr>
        <p:blipFill>
          <a:blip r:embed="rId2"/>
          <a:stretch>
            <a:fillRect/>
          </a:stretch>
        </p:blipFill>
        <p:spPr>
          <a:xfrm>
            <a:off x="11237976" y="5952744"/>
            <a:ext cx="713232" cy="713232"/>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34A853"/>
          </a:solidFill>
          <a:ln/>
        </p:spPr>
      </p:sp>
      <p:sp>
        <p:nvSpPr>
          <p:cNvPr id="3" name="Shape 1"/>
          <p:cNvSpPr/>
          <p:nvPr/>
        </p:nvSpPr>
        <p:spPr>
          <a:xfrm>
            <a:off x="146304" y="0"/>
            <a:ext cx="12042648" cy="1078992"/>
          </a:xfrm>
          <a:prstGeom prst="rect">
            <a:avLst/>
          </a:prstGeom>
          <a:solidFill>
            <a:srgbClr val="1B2A4A"/>
          </a:solidFill>
          <a:ln/>
        </p:spPr>
      </p:sp>
      <p:sp>
        <p:nvSpPr>
          <p:cNvPr id="4" name="Text 2"/>
          <p:cNvSpPr/>
          <p:nvPr/>
        </p:nvSpPr>
        <p:spPr>
          <a:xfrm>
            <a:off x="548640" y="182880"/>
            <a:ext cx="9601200" cy="292608"/>
          </a:xfrm>
          <a:prstGeom prst="rect">
            <a:avLst/>
          </a:prstGeom>
          <a:noFill/>
          <a:ln/>
        </p:spPr>
        <p:txBody>
          <a:bodyPr wrap="square" lIns="0" tIns="0" rIns="0" bIns="0" rtlCol="0" anchor="ctr"/>
          <a:lstStyle/>
          <a:p>
            <a:pPr indent="0" marL="0">
              <a:buNone/>
            </a:pPr>
            <a:r>
              <a:rPr lang="en-US" sz="1200" b="1" spc="150" kern="0" dirty="0">
                <a:solidFill>
                  <a:srgbClr val="81C995"/>
                </a:solidFill>
                <a:latin typeface="Calibri" pitchFamily="34" charset="0"/>
                <a:ea typeface="Calibri" pitchFamily="34" charset="-122"/>
                <a:cs typeface="Calibri" pitchFamily="34" charset="-120"/>
              </a:rPr>
              <a:t>MÉTRIQUES, ALERTES ET SEUILS</a:t>
            </a:r>
            <a:endParaRPr lang="en-US" sz="1200" dirty="0"/>
          </a:p>
        </p:txBody>
      </p:sp>
      <p:sp>
        <p:nvSpPr>
          <p:cNvPr id="5" name="Text 3"/>
          <p:cNvSpPr/>
          <p:nvPr/>
        </p:nvSpPr>
        <p:spPr>
          <a:xfrm>
            <a:off x="530352" y="438912"/>
            <a:ext cx="9692640" cy="566928"/>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Cloud Monitoring — supervision &amp; drift</a:t>
            </a:r>
            <a:endParaRPr lang="en-US" sz="2700" dirty="0"/>
          </a:p>
        </p:txBody>
      </p:sp>
      <p:sp>
        <p:nvSpPr>
          <p:cNvPr id="6" name="Text 4"/>
          <p:cNvSpPr/>
          <p:nvPr/>
        </p:nvSpPr>
        <p:spPr>
          <a:xfrm>
            <a:off x="8229600" y="182880"/>
            <a:ext cx="1828800" cy="274320"/>
          </a:xfrm>
          <a:prstGeom prst="rect">
            <a:avLst/>
          </a:prstGeom>
          <a:noFill/>
          <a:ln/>
        </p:spPr>
        <p:txBody>
          <a:bodyPr wrap="square" lIns="0" tIns="0" rIns="0" bIns="0" rtlCol="0" anchor="ctr"/>
          <a:lstStyle/>
          <a:p>
            <a:pPr algn="r" indent="0" marL="0">
              <a:buNone/>
            </a:pPr>
            <a:r>
              <a:rPr lang="en-US" sz="1050" b="1" spc="100" kern="0" dirty="0">
                <a:solidFill>
                  <a:srgbClr val="8FA0C4"/>
                </a:solidFill>
                <a:latin typeface="Calibri" pitchFamily="34" charset="0"/>
                <a:ea typeface="Calibri" pitchFamily="34" charset="-122"/>
                <a:cs typeface="Calibri" pitchFamily="34" charset="-120"/>
              </a:rPr>
              <a:t>PARTIE 2</a:t>
            </a:r>
            <a:endParaRPr lang="en-US" sz="1050" dirty="0"/>
          </a:p>
        </p:txBody>
      </p:sp>
      <p:sp>
        <p:nvSpPr>
          <p:cNvPr id="7" name="Shape 5"/>
          <p:cNvSpPr/>
          <p:nvPr/>
        </p:nvSpPr>
        <p:spPr>
          <a:xfrm>
            <a:off x="10927080" y="237744"/>
            <a:ext cx="603504" cy="603504"/>
          </a:xfrm>
          <a:prstGeom prst="roundRect">
            <a:avLst>
              <a:gd name="adj" fmla="val 12121"/>
            </a:avLst>
          </a:prstGeom>
          <a:solidFill>
            <a:srgbClr val="FFFFFF"/>
          </a:solidFill>
          <a:ln/>
        </p:spPr>
      </p:sp>
      <p:pic>
        <p:nvPicPr>
          <p:cNvPr id="8" name="Image 0" descr="logos/09_cloud_monitoring.png">    </p:cNvPr>
          <p:cNvPicPr>
            <a:picLocks noChangeAspect="1"/>
          </p:cNvPicPr>
          <p:nvPr/>
        </p:nvPicPr>
        <p:blipFill>
          <a:blip r:embed="rId1"/>
          <a:stretch>
            <a:fillRect/>
          </a:stretch>
        </p:blipFill>
        <p:spPr>
          <a:xfrm>
            <a:off x="10991088" y="301752"/>
            <a:ext cx="475488" cy="475488"/>
          </a:xfrm>
          <a:prstGeom prst="rect">
            <a:avLst/>
          </a:prstGeom>
        </p:spPr>
      </p:pic>
      <p:sp>
        <p:nvSpPr>
          <p:cNvPr id="9" name="Text 6"/>
          <p:cNvSpPr/>
          <p:nvPr/>
        </p:nvSpPr>
        <p:spPr>
          <a:xfrm>
            <a:off x="548640" y="1325880"/>
            <a:ext cx="11064240" cy="640080"/>
          </a:xfrm>
          <a:prstGeom prst="rect">
            <a:avLst/>
          </a:prstGeom>
          <a:noFill/>
          <a:ln/>
        </p:spPr>
        <p:txBody>
          <a:bodyPr wrap="square" lIns="0" tIns="0" rIns="0" bIns="0" rtlCol="0" anchor="t"/>
          <a:lstStyle/>
          <a:p>
            <a:pPr indent="0" marL="0">
              <a:buNone/>
            </a:pPr>
            <a:r>
              <a:rPr lang="en-US" sz="1300" dirty="0">
                <a:solidFill>
                  <a:srgbClr val="202124"/>
                </a:solidFill>
                <a:latin typeface="Calibri" pitchFamily="34" charset="0"/>
                <a:ea typeface="Calibri" pitchFamily="34" charset="-122"/>
                <a:cs typeface="Calibri" pitchFamily="34" charset="-120"/>
              </a:rPr>
              <a:t>Observabilité : métriques, dashboards, uptime checks et politiques d'alertes. Combiné à Vertex AI Monitoring, il surveille la santé du service ET la qualité des modèles (drift) en production.</a:t>
            </a:r>
            <a:endParaRPr lang="en-US" sz="1300" dirty="0"/>
          </a:p>
        </p:txBody>
      </p:sp>
      <p:sp>
        <p:nvSpPr>
          <p:cNvPr id="10" name="Text 7"/>
          <p:cNvSpPr/>
          <p:nvPr/>
        </p:nvSpPr>
        <p:spPr>
          <a:xfrm>
            <a:off x="548640" y="2103120"/>
            <a:ext cx="7315200" cy="274320"/>
          </a:xfrm>
          <a:prstGeom prst="rect">
            <a:avLst/>
          </a:prstGeom>
          <a:noFill/>
          <a:ln/>
        </p:spPr>
        <p:txBody>
          <a:bodyPr wrap="square" lIns="0" tIns="0" rIns="0" bIns="0" rtlCol="0" anchor="ctr"/>
          <a:lstStyle/>
          <a:p>
            <a:pPr indent="0" marL="0">
              <a:buNone/>
            </a:pPr>
            <a:r>
              <a:rPr lang="en-US" sz="1300" b="1" spc="100" kern="0" dirty="0">
                <a:solidFill>
                  <a:srgbClr val="1E8E3E"/>
                </a:solidFill>
                <a:latin typeface="Calibri" pitchFamily="34" charset="0"/>
                <a:ea typeface="Calibri" pitchFamily="34" charset="-122"/>
                <a:cs typeface="Calibri" pitchFamily="34" charset="-120"/>
              </a:rPr>
              <a:t>SEUILS DE DRIFT &amp; ACTIONS AUTOMATIQUES</a:t>
            </a:r>
            <a:endParaRPr lang="en-US" sz="13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48640" y="2423160"/>
          <a:ext cx="11064240" cy="914400"/>
        </p:xfrm>
        <a:graphic>
          <a:graphicData uri="http://schemas.openxmlformats.org/drawingml/2006/table">
            <a:tbl>
              <a:tblPr/>
              <a:tblGrid>
                <a:gridCol w="4114800"/>
                <a:gridCol w="2560320"/>
                <a:gridCol w="4389120"/>
              </a:tblGrid>
              <a:tr h="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Métrique</a:t>
                      </a:r>
                      <a:endParaRPr lang="en-US" sz="11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8E3E"/>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Seuil d'alerte</a:t>
                      </a:r>
                      <a:endParaRPr lang="en-US" sz="11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8E3E"/>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Action automatique</a:t>
                      </a:r>
                      <a:endParaRPr lang="en-US" sz="11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8E3E"/>
                    </a:solidFill>
                  </a:tcPr>
                </a:tc>
              </a:tr>
              <a:tr h="0">
                <a:tc>
                  <a:txBody>
                    <a:bodyPr/>
                    <a:lstStyle/>
                    <a:p>
                      <a:pPr algn="l" indent="0" marL="0">
                        <a:buNone/>
                      </a:pPr>
                      <a:r>
                        <a:rPr lang="en-US" sz="1100" dirty="0">
                          <a:solidFill>
                            <a:srgbClr val="202124"/>
                          </a:solidFill>
                          <a:latin typeface="Calibri" pitchFamily="34" charset="0"/>
                          <a:ea typeface="Calibri" pitchFamily="34" charset="-122"/>
                          <a:cs typeface="Calibri" pitchFamily="34" charset="-120"/>
                        </a:rPr>
                        <a:t>chrF++ (200 phrases de référence)</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100" dirty="0">
                          <a:solidFill>
                            <a:srgbClr val="202124"/>
                          </a:solidFill>
                          <a:latin typeface="Calibri" pitchFamily="34" charset="0"/>
                          <a:ea typeface="Calibri" pitchFamily="34" charset="-122"/>
                          <a:cs typeface="Calibri" pitchFamily="34" charset="-120"/>
                        </a:rPr>
                        <a:t>Baisse &gt; 2 points</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100" dirty="0">
                          <a:solidFill>
                            <a:srgbClr val="202124"/>
                          </a:solidFill>
                          <a:latin typeface="Calibri" pitchFamily="34" charset="0"/>
                          <a:ea typeface="Calibri" pitchFamily="34" charset="-122"/>
                          <a:cs typeface="Calibri" pitchFamily="34" charset="-120"/>
                        </a:rPr>
                        <a:t>Re-fine-tuning NLLB via Pub/Sub</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r>
              <a:tr h="0">
                <a:tc>
                  <a:txBody>
                    <a:bodyPr/>
                    <a:lstStyle/>
                    <a:p>
                      <a:pPr algn="l" indent="0" marL="0">
                        <a:buNone/>
                      </a:pPr>
                      <a:r>
                        <a:rPr lang="en-US" sz="1100" dirty="0">
                          <a:solidFill>
                            <a:srgbClr val="202124"/>
                          </a:solidFill>
                          <a:latin typeface="Calibri" pitchFamily="34" charset="0"/>
                          <a:ea typeface="Calibri" pitchFamily="34" charset="-122"/>
                          <a:cs typeface="Calibri" pitchFamily="34" charset="-120"/>
                        </a:rPr>
                        <a:t>UTMOS (50 phrases audio)</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02124"/>
                          </a:solidFill>
                          <a:latin typeface="Calibri" pitchFamily="34" charset="0"/>
                          <a:ea typeface="Calibri" pitchFamily="34" charset="-122"/>
                          <a:cs typeface="Calibri" pitchFamily="34" charset="-120"/>
                        </a:rPr>
                        <a:t>Baisse &gt; 0,3</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02124"/>
                          </a:solidFill>
                          <a:latin typeface="Calibri" pitchFamily="34" charset="0"/>
                          <a:ea typeface="Calibri" pitchFamily="34" charset="-122"/>
                          <a:cs typeface="Calibri" pitchFamily="34" charset="-120"/>
                        </a:rPr>
                        <a:t>Re-fine-tuning TTS via Pub/Sub</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02124"/>
                          </a:solidFill>
                          <a:latin typeface="Calibri" pitchFamily="34" charset="0"/>
                          <a:ea typeface="Calibri" pitchFamily="34" charset="-122"/>
                          <a:cs typeface="Calibri" pitchFamily="34" charset="-120"/>
                        </a:rPr>
                        <a:t>Taux d'erreur WebRTC</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100" dirty="0">
                          <a:solidFill>
                            <a:srgbClr val="202124"/>
                          </a:solidFill>
                          <a:latin typeface="Calibri" pitchFamily="34" charset="0"/>
                          <a:ea typeface="Calibri" pitchFamily="34" charset="-122"/>
                          <a:cs typeface="Calibri" pitchFamily="34" charset="-120"/>
                        </a:rPr>
                        <a:t>&gt; 5 %</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100" dirty="0">
                          <a:solidFill>
                            <a:srgbClr val="202124"/>
                          </a:solidFill>
                          <a:latin typeface="Calibri" pitchFamily="34" charset="0"/>
                          <a:ea typeface="Calibri" pitchFamily="34" charset="-122"/>
                          <a:cs typeface="Calibri" pitchFamily="34" charset="-120"/>
                        </a:rPr>
                        <a:t>Alerte e-mail + investigation infra</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r>
              <a:tr h="0">
                <a:tc>
                  <a:txBody>
                    <a:bodyPr/>
                    <a:lstStyle/>
                    <a:p>
                      <a:pPr algn="l" indent="0" marL="0">
                        <a:buNone/>
                      </a:pPr>
                      <a:r>
                        <a:rPr lang="en-US" sz="1100" dirty="0">
                          <a:solidFill>
                            <a:srgbClr val="202124"/>
                          </a:solidFill>
                          <a:latin typeface="Calibri" pitchFamily="34" charset="0"/>
                          <a:ea typeface="Calibri" pitchFamily="34" charset="-122"/>
                          <a:cs typeface="Calibri" pitchFamily="34" charset="-120"/>
                        </a:rPr>
                        <a:t>Latence P95 du pipeline</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02124"/>
                          </a:solidFill>
                          <a:latin typeface="Calibri" pitchFamily="34" charset="0"/>
                          <a:ea typeface="Calibri" pitchFamily="34" charset="-122"/>
                          <a:cs typeface="Calibri" pitchFamily="34" charset="-120"/>
                        </a:rPr>
                        <a:t>&gt; 2000 ms</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02124"/>
                          </a:solidFill>
                          <a:latin typeface="Calibri" pitchFamily="34" charset="0"/>
                          <a:ea typeface="Calibri" pitchFamily="34" charset="-122"/>
                          <a:cs typeface="Calibri" pitchFamily="34" charset="-120"/>
                        </a:rPr>
                        <a:t>Alerte e-mail + Cloud Monitoring</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r>
            </a:tbl>
          </a:graphicData>
        </a:graphic>
      </p:graphicFrame>
      <p:sp>
        <p:nvSpPr>
          <p:cNvPr id="12" name="Shape 8"/>
          <p:cNvSpPr/>
          <p:nvPr/>
        </p:nvSpPr>
        <p:spPr>
          <a:xfrm>
            <a:off x="548640" y="5120640"/>
            <a:ext cx="11064240" cy="914400"/>
          </a:xfrm>
          <a:prstGeom prst="rect">
            <a:avLst/>
          </a:prstGeom>
          <a:solidFill>
            <a:srgbClr val="EEF2FB"/>
          </a:solidFill>
          <a:ln/>
        </p:spPr>
      </p:sp>
      <p:sp>
        <p:nvSpPr>
          <p:cNvPr id="13" name="Shape 9"/>
          <p:cNvSpPr/>
          <p:nvPr/>
        </p:nvSpPr>
        <p:spPr>
          <a:xfrm>
            <a:off x="548640" y="5120640"/>
            <a:ext cx="91440" cy="914400"/>
          </a:xfrm>
          <a:prstGeom prst="rect">
            <a:avLst/>
          </a:prstGeom>
          <a:solidFill>
            <a:srgbClr val="34A853"/>
          </a:solidFill>
          <a:ln/>
        </p:spPr>
      </p:sp>
      <p:sp>
        <p:nvSpPr>
          <p:cNvPr id="14" name="Text 10"/>
          <p:cNvSpPr/>
          <p:nvPr/>
        </p:nvSpPr>
        <p:spPr>
          <a:xfrm>
            <a:off x="786384" y="5193792"/>
            <a:ext cx="10680192" cy="768096"/>
          </a:xfrm>
          <a:prstGeom prst="rect">
            <a:avLst/>
          </a:prstGeom>
          <a:noFill/>
          <a:ln/>
        </p:spPr>
        <p:txBody>
          <a:bodyPr wrap="square" lIns="0" tIns="0" rIns="0" bIns="0" rtlCol="0" anchor="ctr"/>
          <a:lstStyle/>
          <a:p>
            <a:pPr indent="0" marL="0">
              <a:buNone/>
            </a:pPr>
            <a:r>
              <a:rPr lang="en-US" sz="1100" b="1" dirty="0">
                <a:solidFill>
                  <a:srgbClr val="1E8E3E"/>
                </a:solidFill>
                <a:latin typeface="Calibri" pitchFamily="34" charset="0"/>
                <a:ea typeface="Calibri" pitchFamily="34" charset="-122"/>
                <a:cs typeface="Calibri" pitchFamily="34" charset="-120"/>
              </a:rPr>
              <a:t>PRÉ-CHAUFFAGE &amp; SUIVI   </a:t>
            </a:r>
            <a:pPr indent="0" marL="0">
              <a:buNone/>
            </a:pPr>
            <a:r>
              <a:rPr lang="en-US" sz="1200" dirty="0">
                <a:solidFill>
                  <a:srgbClr val="202124"/>
                </a:solidFill>
                <a:latin typeface="Calibri" pitchFamily="34" charset="0"/>
                <a:ea typeface="Calibri" pitchFamily="34" charset="-122"/>
                <a:cs typeface="Calibri" pitchFamily="34" charset="-120"/>
              </a:rPr>
              <a:t>Cloud Scheduler ping Cloud Run GPU toutes les 15 min (anti cold-start). Évaluation de drift hebdomadaire. Tous les runs d'entraînement sont tracés dans Vertex AI Experiments (gratuit).</a:t>
            </a:r>
            <a:endParaRPr lang="en-US" sz="1100" dirty="0"/>
          </a:p>
        </p:txBody>
      </p:sp>
      <p:sp>
        <p:nvSpPr>
          <p:cNvPr id="15" name="Text 11"/>
          <p:cNvSpPr/>
          <p:nvPr/>
        </p:nvSpPr>
        <p:spPr>
          <a:xfrm>
            <a:off x="548640" y="6510528"/>
            <a:ext cx="11155680" cy="274320"/>
          </a:xfrm>
          <a:prstGeom prst="rect">
            <a:avLst/>
          </a:prstGeom>
          <a:noFill/>
          <a:ln/>
        </p:spPr>
        <p:txBody>
          <a:bodyPr wrap="square" lIns="0" tIns="0" rIns="0" bIns="0" rtlCol="0" anchor="ctr"/>
          <a:lstStyle/>
          <a:p>
            <a:pPr indent="0" marL="0">
              <a:buNone/>
            </a:pPr>
            <a:r>
              <a:rPr lang="en-US" sz="950" i="1" dirty="0">
                <a:solidFill>
                  <a:srgbClr val="5F6368"/>
                </a:solidFill>
                <a:latin typeface="Calibri" pitchFamily="34" charset="0"/>
                <a:ea typeface="Calibri" pitchFamily="34" charset="-122"/>
                <a:cs typeface="Calibri" pitchFamily="34" charset="-120"/>
              </a:rPr>
              <a:t>Source : README §20 — seuils de drift + stratégie de pré-chauffage · doc : cloud.google.com/monitoring/docs</a:t>
            </a:r>
            <a:endParaRPr lang="en-US" sz="950" dirty="0"/>
          </a:p>
        </p:txBody>
      </p:sp>
      <p:sp>
        <p:nvSpPr>
          <p:cNvPr id="16" name="Text 12"/>
          <p:cNvSpPr/>
          <p:nvPr/>
        </p:nvSpPr>
        <p:spPr>
          <a:xfrm>
            <a:off x="5212080" y="4658868"/>
            <a:ext cx="3200400" cy="182880"/>
          </a:xfrm>
          <a:prstGeom prst="rect">
            <a:avLst/>
          </a:prstGeom>
          <a:noFill/>
          <a:ln/>
        </p:spPr>
        <p:txBody>
          <a:bodyPr wrap="square" lIns="0" tIns="0" rIns="0" bIns="0" rtlCol="0" anchor="ctr"/>
          <a:lstStyle/>
          <a:p>
            <a:pPr indent="0" marL="0">
              <a:buNone/>
            </a:pPr>
            <a:r>
              <a:rPr lang="en-US" sz="850" b="1" dirty="0">
                <a:solidFill>
                  <a:srgbClr val="97A1B5"/>
                </a:solidFill>
                <a:latin typeface="Calibri" pitchFamily="34" charset="0"/>
                <a:ea typeface="Calibri" pitchFamily="34" charset="-122"/>
                <a:cs typeface="Calibri" pitchFamily="34" charset="-120"/>
              </a:rPr>
              <a:t>Tsantaniaina Rakotonjanahary Ambaorasoa Guillaume</a:t>
            </a:r>
            <a:endParaRPr lang="en-US" sz="850" dirty="0"/>
          </a:p>
        </p:txBody>
      </p:sp>
      <p:sp>
        <p:nvSpPr>
          <p:cNvPr id="17" name="Shape 13"/>
          <p:cNvSpPr/>
          <p:nvPr/>
        </p:nvSpPr>
        <p:spPr>
          <a:xfrm>
            <a:off x="11137392" y="5852160"/>
            <a:ext cx="914400" cy="914400"/>
          </a:xfrm>
          <a:prstGeom prst="roundRect">
            <a:avLst>
              <a:gd name="adj" fmla="val 10000"/>
            </a:avLst>
          </a:prstGeom>
          <a:solidFill>
            <a:srgbClr val="FFFFFF"/>
          </a:solidFill>
          <a:ln w="12700">
            <a:solidFill>
              <a:srgbClr val="D6DEEC"/>
            </a:solidFill>
            <a:prstDash val="solid"/>
          </a:ln>
          <a:effectLst>
            <a:outerShdw sx="100000" sy="100000" kx="0" ky="0" algn="bl" rotWithShape="0" blurRad="88900" dist="38100" dir="5400000">
              <a:srgbClr val="8A94AD">
                <a:alpha val="26000"/>
              </a:srgbClr>
            </a:outerShdw>
          </a:effectLst>
        </p:spPr>
      </p:sp>
      <p:pic>
        <p:nvPicPr>
          <p:cNvPr id="18" name="Image 1" descr="logos/logo_mdn.png">    </p:cNvPr>
          <p:cNvPicPr>
            <a:picLocks noChangeAspect="1"/>
          </p:cNvPicPr>
          <p:nvPr/>
        </p:nvPicPr>
        <p:blipFill>
          <a:blip r:embed="rId2"/>
          <a:stretch>
            <a:fillRect/>
          </a:stretch>
        </p:blipFill>
        <p:spPr>
          <a:xfrm>
            <a:off x="11237976" y="5952744"/>
            <a:ext cx="713232" cy="713232"/>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34A853"/>
          </a:solidFill>
          <a:ln/>
        </p:spPr>
      </p:sp>
      <p:sp>
        <p:nvSpPr>
          <p:cNvPr id="3" name="Text 1"/>
          <p:cNvSpPr/>
          <p:nvPr/>
        </p:nvSpPr>
        <p:spPr>
          <a:xfrm>
            <a:off x="777240" y="1417320"/>
            <a:ext cx="3657600" cy="1645920"/>
          </a:xfrm>
          <a:prstGeom prst="rect">
            <a:avLst/>
          </a:prstGeom>
          <a:noFill/>
          <a:ln/>
        </p:spPr>
        <p:txBody>
          <a:bodyPr wrap="square" lIns="0" tIns="0" rIns="0" bIns="0" rtlCol="0" anchor="ctr"/>
          <a:lstStyle/>
          <a:p>
            <a:pPr indent="0" marL="0">
              <a:buNone/>
            </a:pPr>
            <a:r>
              <a:rPr lang="en-US" sz="12000" b="1" dirty="0">
                <a:solidFill>
                  <a:srgbClr val="26365C"/>
                </a:solidFill>
                <a:latin typeface="Georgia" pitchFamily="34" charset="0"/>
                <a:ea typeface="Georgia" pitchFamily="34" charset="-122"/>
                <a:cs typeface="Georgia" pitchFamily="34" charset="-120"/>
              </a:rPr>
              <a:t>03</a:t>
            </a:r>
            <a:endParaRPr lang="en-US" sz="12000" dirty="0"/>
          </a:p>
        </p:txBody>
      </p:sp>
      <p:sp>
        <p:nvSpPr>
          <p:cNvPr id="4" name="Text 2"/>
          <p:cNvSpPr/>
          <p:nvPr/>
        </p:nvSpPr>
        <p:spPr>
          <a:xfrm>
            <a:off x="868680" y="3246120"/>
            <a:ext cx="10058400" cy="365760"/>
          </a:xfrm>
          <a:prstGeom prst="rect">
            <a:avLst/>
          </a:prstGeom>
          <a:noFill/>
          <a:ln/>
        </p:spPr>
        <p:txBody>
          <a:bodyPr wrap="square" lIns="0" tIns="0" rIns="0" bIns="0" rtlCol="0" anchor="ctr"/>
          <a:lstStyle/>
          <a:p>
            <a:pPr indent="0" marL="0">
              <a:buNone/>
            </a:pPr>
            <a:r>
              <a:rPr lang="en-US" sz="1500" b="1" spc="300" kern="0" dirty="0">
                <a:solidFill>
                  <a:srgbClr val="81C995"/>
                </a:solidFill>
                <a:latin typeface="Calibri" pitchFamily="34" charset="0"/>
                <a:ea typeface="Calibri" pitchFamily="34" charset="-122"/>
                <a:cs typeface="Calibri" pitchFamily="34" charset="-120"/>
              </a:rPr>
              <a:t>PARTIE 3 — MLOPS, DÉPANNAGE, COÛTS &amp; MIGRATION</a:t>
            </a:r>
            <a:endParaRPr lang="en-US" sz="1500" dirty="0"/>
          </a:p>
        </p:txBody>
      </p:sp>
      <p:sp>
        <p:nvSpPr>
          <p:cNvPr id="5" name="Text 3"/>
          <p:cNvSpPr/>
          <p:nvPr/>
        </p:nvSpPr>
        <p:spPr>
          <a:xfrm>
            <a:off x="822960" y="3611880"/>
            <a:ext cx="10515600" cy="109728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Cycle de vie &amp; exploitation</a:t>
            </a:r>
            <a:endParaRPr lang="en-US" sz="4000" dirty="0"/>
          </a:p>
        </p:txBody>
      </p:sp>
      <p:sp>
        <p:nvSpPr>
          <p:cNvPr id="6" name="Shape 4"/>
          <p:cNvSpPr/>
          <p:nvPr/>
        </p:nvSpPr>
        <p:spPr>
          <a:xfrm>
            <a:off x="9418320" y="502920"/>
            <a:ext cx="2505456" cy="596646"/>
          </a:xfrm>
          <a:prstGeom prst="roundRect">
            <a:avLst>
              <a:gd name="adj" fmla="val 9195"/>
            </a:avLst>
          </a:prstGeom>
          <a:solidFill>
            <a:srgbClr val="FFFFFF"/>
          </a:solidFill>
          <a:ln/>
          <a:effectLst>
            <a:outerShdw sx="100000" sy="100000" kx="0" ky="0" algn="bl" rotWithShape="0" blurRad="88900" dist="38100" dir="5400000">
              <a:srgbClr val="8A94AD">
                <a:alpha val="26000"/>
              </a:srgbClr>
            </a:outerShdw>
          </a:effectLst>
        </p:spPr>
      </p:sp>
      <p:pic>
        <p:nvPicPr>
          <p:cNvPr id="7" name="Image 0" descr="logos/00_gcp.png">    </p:cNvPr>
          <p:cNvPicPr>
            <a:picLocks noChangeAspect="1"/>
          </p:cNvPicPr>
          <p:nvPr/>
        </p:nvPicPr>
        <p:blipFill>
          <a:blip r:embed="rId1"/>
          <a:stretch>
            <a:fillRect/>
          </a:stretch>
        </p:blipFill>
        <p:spPr>
          <a:xfrm>
            <a:off x="9573768" y="630936"/>
            <a:ext cx="2194560" cy="340614"/>
          </a:xfrm>
          <a:prstGeom prst="rect">
            <a:avLst/>
          </a:prstGeom>
        </p:spPr>
      </p:pic>
      <p:sp>
        <p:nvSpPr>
          <p:cNvPr id="8" name="Shape 5"/>
          <p:cNvSpPr/>
          <p:nvPr/>
        </p:nvSpPr>
        <p:spPr>
          <a:xfrm>
            <a:off x="868680" y="5029200"/>
            <a:ext cx="640080" cy="640080"/>
          </a:xfrm>
          <a:prstGeom prst="roundRect">
            <a:avLst>
              <a:gd name="adj" fmla="val 11429"/>
            </a:avLst>
          </a:prstGeom>
          <a:solidFill>
            <a:srgbClr val="FFFFFF"/>
          </a:solidFill>
          <a:ln/>
        </p:spPr>
      </p:sp>
      <p:pic>
        <p:nvPicPr>
          <p:cNvPr id="9" name="Image 1" descr="logos/04_vertex_ai.png">    </p:cNvPr>
          <p:cNvPicPr>
            <a:picLocks noChangeAspect="1"/>
          </p:cNvPicPr>
          <p:nvPr/>
        </p:nvPicPr>
        <p:blipFill>
          <a:blip r:embed="rId2"/>
          <a:stretch>
            <a:fillRect/>
          </a:stretch>
        </p:blipFill>
        <p:spPr>
          <a:xfrm>
            <a:off x="969264" y="5129784"/>
            <a:ext cx="438912" cy="438912"/>
          </a:xfrm>
          <a:prstGeom prst="rect">
            <a:avLst/>
          </a:prstGeom>
        </p:spPr>
      </p:pic>
      <p:sp>
        <p:nvSpPr>
          <p:cNvPr id="10" name="Shape 6"/>
          <p:cNvSpPr/>
          <p:nvPr/>
        </p:nvSpPr>
        <p:spPr>
          <a:xfrm>
            <a:off x="1737360" y="5029200"/>
            <a:ext cx="640080" cy="640080"/>
          </a:xfrm>
          <a:prstGeom prst="roundRect">
            <a:avLst>
              <a:gd name="adj" fmla="val 11429"/>
            </a:avLst>
          </a:prstGeom>
          <a:solidFill>
            <a:srgbClr val="FFFFFF"/>
          </a:solidFill>
          <a:ln/>
        </p:spPr>
      </p:sp>
      <p:pic>
        <p:nvPicPr>
          <p:cNvPr id="11" name="Image 2" descr="logos/05_cloud_build.png">    </p:cNvPr>
          <p:cNvPicPr>
            <a:picLocks noChangeAspect="1"/>
          </p:cNvPicPr>
          <p:nvPr/>
        </p:nvPicPr>
        <p:blipFill>
          <a:blip r:embed="rId3"/>
          <a:stretch>
            <a:fillRect/>
          </a:stretch>
        </p:blipFill>
        <p:spPr>
          <a:xfrm>
            <a:off x="1837944" y="5129784"/>
            <a:ext cx="438912" cy="438912"/>
          </a:xfrm>
          <a:prstGeom prst="rect">
            <a:avLst/>
          </a:prstGeom>
        </p:spPr>
      </p:pic>
      <p:sp>
        <p:nvSpPr>
          <p:cNvPr id="12" name="Shape 7"/>
          <p:cNvSpPr/>
          <p:nvPr/>
        </p:nvSpPr>
        <p:spPr>
          <a:xfrm>
            <a:off x="2606040" y="5029200"/>
            <a:ext cx="640080" cy="640080"/>
          </a:xfrm>
          <a:prstGeom prst="roundRect">
            <a:avLst>
              <a:gd name="adj" fmla="val 11429"/>
            </a:avLst>
          </a:prstGeom>
          <a:solidFill>
            <a:srgbClr val="FFFFFF"/>
          </a:solidFill>
          <a:ln/>
        </p:spPr>
      </p:sp>
      <p:pic>
        <p:nvPicPr>
          <p:cNvPr id="13" name="Image 3" descr="logos/01_cloud_run.png">    </p:cNvPr>
          <p:cNvPicPr>
            <a:picLocks noChangeAspect="1"/>
          </p:cNvPicPr>
          <p:nvPr/>
        </p:nvPicPr>
        <p:blipFill>
          <a:blip r:embed="rId4"/>
          <a:stretch>
            <a:fillRect/>
          </a:stretch>
        </p:blipFill>
        <p:spPr>
          <a:xfrm>
            <a:off x="2706624" y="5129784"/>
            <a:ext cx="438912" cy="438912"/>
          </a:xfrm>
          <a:prstGeom prst="rect">
            <a:avLst/>
          </a:prstGeom>
        </p:spPr>
      </p:pic>
      <p:sp>
        <p:nvSpPr>
          <p:cNvPr id="14" name="Shape 8"/>
          <p:cNvSpPr/>
          <p:nvPr/>
        </p:nvSpPr>
        <p:spPr>
          <a:xfrm>
            <a:off x="3474720" y="5029200"/>
            <a:ext cx="640080" cy="640080"/>
          </a:xfrm>
          <a:prstGeom prst="roundRect">
            <a:avLst>
              <a:gd name="adj" fmla="val 11429"/>
            </a:avLst>
          </a:prstGeom>
          <a:solidFill>
            <a:srgbClr val="FFFFFF"/>
          </a:solidFill>
          <a:ln/>
        </p:spPr>
      </p:sp>
      <p:pic>
        <p:nvPicPr>
          <p:cNvPr id="15" name="Image 4" descr="logos/09_cloud_monitoring.png">    </p:cNvPr>
          <p:cNvPicPr>
            <a:picLocks noChangeAspect="1"/>
          </p:cNvPicPr>
          <p:nvPr/>
        </p:nvPicPr>
        <p:blipFill>
          <a:blip r:embed="rId5"/>
          <a:stretch>
            <a:fillRect/>
          </a:stretch>
        </p:blipFill>
        <p:spPr>
          <a:xfrm>
            <a:off x="3575304" y="5129784"/>
            <a:ext cx="438912" cy="438912"/>
          </a:xfrm>
          <a:prstGeom prst="rect">
            <a:avLst/>
          </a:prstGeom>
        </p:spPr>
      </p:pic>
      <p:sp>
        <p:nvSpPr>
          <p:cNvPr id="16" name="Shape 9"/>
          <p:cNvSpPr/>
          <p:nvPr/>
        </p:nvSpPr>
        <p:spPr>
          <a:xfrm>
            <a:off x="4343400" y="5029200"/>
            <a:ext cx="640080" cy="640080"/>
          </a:xfrm>
          <a:prstGeom prst="roundRect">
            <a:avLst>
              <a:gd name="adj" fmla="val 11429"/>
            </a:avLst>
          </a:prstGeom>
          <a:solidFill>
            <a:srgbClr val="FFFFFF"/>
          </a:solidFill>
          <a:ln/>
        </p:spPr>
      </p:sp>
      <p:pic>
        <p:nvPicPr>
          <p:cNvPr id="17" name="Image 5" descr="logos/07_pubsub.png">    </p:cNvPr>
          <p:cNvPicPr>
            <a:picLocks noChangeAspect="1"/>
          </p:cNvPicPr>
          <p:nvPr/>
        </p:nvPicPr>
        <p:blipFill>
          <a:blip r:embed="rId6"/>
          <a:stretch>
            <a:fillRect/>
          </a:stretch>
        </p:blipFill>
        <p:spPr>
          <a:xfrm>
            <a:off x="4443984" y="5129784"/>
            <a:ext cx="438912" cy="438912"/>
          </a:xfrm>
          <a:prstGeom prst="rect">
            <a:avLst/>
          </a:prstGeom>
        </p:spPr>
      </p:pic>
      <p:sp>
        <p:nvSpPr>
          <p:cNvPr id="18" name="Text 10"/>
          <p:cNvSpPr/>
          <p:nvPr/>
        </p:nvSpPr>
        <p:spPr>
          <a:xfrm>
            <a:off x="548640" y="5961888"/>
            <a:ext cx="3200400" cy="182880"/>
          </a:xfrm>
          <a:prstGeom prst="rect">
            <a:avLst/>
          </a:prstGeom>
          <a:noFill/>
          <a:ln/>
        </p:spPr>
        <p:txBody>
          <a:bodyPr wrap="square" lIns="0" tIns="0" rIns="0" bIns="0" rtlCol="0" anchor="ctr"/>
          <a:lstStyle/>
          <a:p>
            <a:pPr indent="0" marL="0">
              <a:buNone/>
            </a:pPr>
            <a:r>
              <a:rPr lang="en-US" sz="850" b="1" dirty="0">
                <a:solidFill>
                  <a:srgbClr val="8190AE"/>
                </a:solidFill>
                <a:latin typeface="Calibri" pitchFamily="34" charset="0"/>
                <a:ea typeface="Calibri" pitchFamily="34" charset="-122"/>
                <a:cs typeface="Calibri" pitchFamily="34" charset="-120"/>
              </a:rPr>
              <a:t>Tsantaniaina Rakotonjanahary Ambaorasoa Guillaume</a:t>
            </a:r>
            <a:endParaRPr lang="en-US" sz="850" dirty="0"/>
          </a:p>
        </p:txBody>
      </p:sp>
      <p:sp>
        <p:nvSpPr>
          <p:cNvPr id="19" name="Shape 11"/>
          <p:cNvSpPr/>
          <p:nvPr/>
        </p:nvSpPr>
        <p:spPr>
          <a:xfrm>
            <a:off x="11137392" y="5852160"/>
            <a:ext cx="914400" cy="914400"/>
          </a:xfrm>
          <a:prstGeom prst="roundRect">
            <a:avLst>
              <a:gd name="adj" fmla="val 10000"/>
            </a:avLst>
          </a:prstGeom>
          <a:solidFill>
            <a:srgbClr val="FFFFFF"/>
          </a:solidFill>
          <a:ln w="12700">
            <a:solidFill>
              <a:srgbClr val="D6DEEC"/>
            </a:solidFill>
            <a:prstDash val="solid"/>
          </a:ln>
          <a:effectLst>
            <a:outerShdw sx="100000" sy="100000" kx="0" ky="0" algn="bl" rotWithShape="0" blurRad="88900" dist="38100" dir="5400000">
              <a:srgbClr val="8A94AD">
                <a:alpha val="26000"/>
              </a:srgbClr>
            </a:outerShdw>
          </a:effectLst>
        </p:spPr>
      </p:sp>
      <p:pic>
        <p:nvPicPr>
          <p:cNvPr id="20" name="Image 6" descr="logos/logo_mdn.png">    </p:cNvPr>
          <p:cNvPicPr>
            <a:picLocks noChangeAspect="1"/>
          </p:cNvPicPr>
          <p:nvPr/>
        </p:nvPicPr>
        <p:blipFill>
          <a:blip r:embed="rId7"/>
          <a:stretch>
            <a:fillRect/>
          </a:stretch>
        </p:blipFill>
        <p:spPr>
          <a:xfrm>
            <a:off x="11237976" y="5952744"/>
            <a:ext cx="713232" cy="713232"/>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F9AB00"/>
          </a:solidFill>
          <a:ln/>
        </p:spPr>
      </p:sp>
      <p:sp>
        <p:nvSpPr>
          <p:cNvPr id="3" name="Shape 1"/>
          <p:cNvSpPr/>
          <p:nvPr/>
        </p:nvSpPr>
        <p:spPr>
          <a:xfrm>
            <a:off x="146304" y="0"/>
            <a:ext cx="12042648" cy="1078992"/>
          </a:xfrm>
          <a:prstGeom prst="rect">
            <a:avLst/>
          </a:prstGeom>
          <a:solidFill>
            <a:srgbClr val="1B2A4A"/>
          </a:solidFill>
          <a:ln/>
        </p:spPr>
      </p:sp>
      <p:sp>
        <p:nvSpPr>
          <p:cNvPr id="4" name="Text 2"/>
          <p:cNvSpPr/>
          <p:nvPr/>
        </p:nvSpPr>
        <p:spPr>
          <a:xfrm>
            <a:off x="548640" y="182880"/>
            <a:ext cx="9601200" cy="292608"/>
          </a:xfrm>
          <a:prstGeom prst="rect">
            <a:avLst/>
          </a:prstGeom>
          <a:noFill/>
          <a:ln/>
        </p:spPr>
        <p:txBody>
          <a:bodyPr wrap="square" lIns="0" tIns="0" rIns="0" bIns="0" rtlCol="0" anchor="ctr"/>
          <a:lstStyle/>
          <a:p>
            <a:pPr indent="0" marL="0">
              <a:buNone/>
            </a:pPr>
            <a:r>
              <a:rPr lang="en-US" sz="1200" b="1" spc="150" kern="0" dirty="0">
                <a:solidFill>
                  <a:srgbClr val="FDD663"/>
                </a:solidFill>
                <a:latin typeface="Calibri" pitchFamily="34" charset="0"/>
                <a:ea typeface="Calibri" pitchFamily="34" charset="-122"/>
                <a:cs typeface="Calibri" pitchFamily="34" charset="-120"/>
              </a:rPr>
              <a:t>DÉPLOIEMENT AUTOMATIQUE À CHAQUE PUSH</a:t>
            </a:r>
            <a:endParaRPr lang="en-US" sz="1200" dirty="0"/>
          </a:p>
        </p:txBody>
      </p:sp>
      <p:sp>
        <p:nvSpPr>
          <p:cNvPr id="5" name="Text 3"/>
          <p:cNvSpPr/>
          <p:nvPr/>
        </p:nvSpPr>
        <p:spPr>
          <a:xfrm>
            <a:off x="530352" y="438912"/>
            <a:ext cx="9692640" cy="566928"/>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GitHub → Cloud Build (auto-trigger)</a:t>
            </a:r>
            <a:endParaRPr lang="en-US" sz="2700" dirty="0"/>
          </a:p>
        </p:txBody>
      </p:sp>
      <p:sp>
        <p:nvSpPr>
          <p:cNvPr id="6" name="Text 4"/>
          <p:cNvSpPr/>
          <p:nvPr/>
        </p:nvSpPr>
        <p:spPr>
          <a:xfrm>
            <a:off x="8229600" y="182880"/>
            <a:ext cx="1828800" cy="274320"/>
          </a:xfrm>
          <a:prstGeom prst="rect">
            <a:avLst/>
          </a:prstGeom>
          <a:noFill/>
          <a:ln/>
        </p:spPr>
        <p:txBody>
          <a:bodyPr wrap="square" lIns="0" tIns="0" rIns="0" bIns="0" rtlCol="0" anchor="ctr"/>
          <a:lstStyle/>
          <a:p>
            <a:pPr algn="r" indent="0" marL="0">
              <a:buNone/>
            </a:pPr>
            <a:r>
              <a:rPr lang="en-US" sz="1050" b="1" spc="100" kern="0" dirty="0">
                <a:solidFill>
                  <a:srgbClr val="8FA0C4"/>
                </a:solidFill>
                <a:latin typeface="Calibri" pitchFamily="34" charset="0"/>
                <a:ea typeface="Calibri" pitchFamily="34" charset="-122"/>
                <a:cs typeface="Calibri" pitchFamily="34" charset="-120"/>
              </a:rPr>
              <a:t>PARTIE 3</a:t>
            </a:r>
            <a:endParaRPr lang="en-US" sz="1050" dirty="0"/>
          </a:p>
        </p:txBody>
      </p:sp>
      <p:sp>
        <p:nvSpPr>
          <p:cNvPr id="7" name="Shape 5"/>
          <p:cNvSpPr/>
          <p:nvPr/>
        </p:nvSpPr>
        <p:spPr>
          <a:xfrm>
            <a:off x="10927080" y="237744"/>
            <a:ext cx="603504" cy="603504"/>
          </a:xfrm>
          <a:prstGeom prst="roundRect">
            <a:avLst>
              <a:gd name="adj" fmla="val 12121"/>
            </a:avLst>
          </a:prstGeom>
          <a:solidFill>
            <a:srgbClr val="FFFFFF"/>
          </a:solidFill>
          <a:ln/>
        </p:spPr>
      </p:sp>
      <p:pic>
        <p:nvPicPr>
          <p:cNvPr id="8" name="Image 0" descr="logos/05_cloud_build.png">    </p:cNvPr>
          <p:cNvPicPr>
            <a:picLocks noChangeAspect="1"/>
          </p:cNvPicPr>
          <p:nvPr/>
        </p:nvPicPr>
        <p:blipFill>
          <a:blip r:embed="rId1"/>
          <a:stretch>
            <a:fillRect/>
          </a:stretch>
        </p:blipFill>
        <p:spPr>
          <a:xfrm>
            <a:off x="10991088" y="301752"/>
            <a:ext cx="475488" cy="475488"/>
          </a:xfrm>
          <a:prstGeom prst="rect">
            <a:avLst/>
          </a:prstGeom>
        </p:spPr>
      </p:pic>
      <p:sp>
        <p:nvSpPr>
          <p:cNvPr id="9" name="Shape 6"/>
          <p:cNvSpPr/>
          <p:nvPr/>
        </p:nvSpPr>
        <p:spPr>
          <a:xfrm>
            <a:off x="548640" y="1371600"/>
            <a:ext cx="384048" cy="384048"/>
          </a:xfrm>
          <a:prstGeom prst="ellipse">
            <a:avLst/>
          </a:prstGeom>
          <a:solidFill>
            <a:srgbClr val="F9AB00"/>
          </a:solidFill>
          <a:ln/>
        </p:spPr>
      </p:sp>
      <p:sp>
        <p:nvSpPr>
          <p:cNvPr id="10" name="Text 7"/>
          <p:cNvSpPr/>
          <p:nvPr/>
        </p:nvSpPr>
        <p:spPr>
          <a:xfrm>
            <a:off x="548640" y="13716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1" name="Text 8"/>
          <p:cNvSpPr/>
          <p:nvPr/>
        </p:nvSpPr>
        <p:spPr>
          <a:xfrm>
            <a:off x="1078992" y="1316736"/>
            <a:ext cx="4956048" cy="914400"/>
          </a:xfrm>
          <a:prstGeom prst="rect">
            <a:avLst/>
          </a:prstGeom>
          <a:noFill/>
          <a:ln/>
        </p:spPr>
        <p:txBody>
          <a:bodyPr wrap="square" lIns="0" tIns="0" rIns="0" bIns="0" rtlCol="0" anchor="t"/>
          <a:lstStyle/>
          <a:p>
            <a:pPr indent="0" marL="0">
              <a:buNone/>
            </a:pPr>
            <a:r>
              <a:rPr lang="en-US" sz="1350" b="1" dirty="0">
                <a:solidFill>
                  <a:srgbClr val="202124"/>
                </a:solidFill>
                <a:latin typeface="Calibri" pitchFamily="34" charset="0"/>
                <a:ea typeface="Calibri" pitchFamily="34" charset="-122"/>
                <a:cs typeface="Calibri" pitchFamily="34" charset="-120"/>
              </a:rPr>
              <a:t>Connecter le dépôt GitHub
</a:t>
            </a:r>
            <a:endParaRPr lang="en-US" sz="1350" dirty="0"/>
          </a:p>
          <a:p>
            <a:pPr indent="0" marL="0">
              <a:buNone/>
            </a:pPr>
            <a:r>
              <a:rPr lang="en-US" sz="1150" dirty="0">
                <a:solidFill>
                  <a:srgbClr val="5F6368"/>
                </a:solidFill>
                <a:latin typeface="Calibri" pitchFamily="34" charset="0"/>
                <a:ea typeface="Calibri" pitchFamily="34" charset="-122"/>
                <a:cs typeface="Calibri" pitchFamily="34" charset="-120"/>
              </a:rPr>
              <a:t>Console Cloud Build → Connect → autoriser</a:t>
            </a:r>
            <a:endParaRPr lang="en-US" sz="1350" dirty="0"/>
          </a:p>
        </p:txBody>
      </p:sp>
      <p:sp>
        <p:nvSpPr>
          <p:cNvPr id="12" name="Shape 9"/>
          <p:cNvSpPr/>
          <p:nvPr/>
        </p:nvSpPr>
        <p:spPr>
          <a:xfrm>
            <a:off x="548640" y="2286000"/>
            <a:ext cx="384048" cy="384048"/>
          </a:xfrm>
          <a:prstGeom prst="ellipse">
            <a:avLst/>
          </a:prstGeom>
          <a:solidFill>
            <a:srgbClr val="F9AB00"/>
          </a:solidFill>
          <a:ln/>
        </p:spPr>
      </p:sp>
      <p:sp>
        <p:nvSpPr>
          <p:cNvPr id="13" name="Text 10"/>
          <p:cNvSpPr/>
          <p:nvPr/>
        </p:nvSpPr>
        <p:spPr>
          <a:xfrm>
            <a:off x="548640" y="22860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1"/>
          <p:cNvSpPr/>
          <p:nvPr/>
        </p:nvSpPr>
        <p:spPr>
          <a:xfrm>
            <a:off x="1078992" y="2231136"/>
            <a:ext cx="4956048" cy="914400"/>
          </a:xfrm>
          <a:prstGeom prst="rect">
            <a:avLst/>
          </a:prstGeom>
          <a:noFill/>
          <a:ln/>
        </p:spPr>
        <p:txBody>
          <a:bodyPr wrap="square" lIns="0" tIns="0" rIns="0" bIns="0" rtlCol="0" anchor="t"/>
          <a:lstStyle/>
          <a:p>
            <a:pPr indent="0" marL="0">
              <a:buNone/>
            </a:pPr>
            <a:r>
              <a:rPr lang="en-US" sz="1350" b="1" dirty="0">
                <a:solidFill>
                  <a:srgbClr val="202124"/>
                </a:solidFill>
                <a:latin typeface="Calibri" pitchFamily="34" charset="0"/>
                <a:ea typeface="Calibri" pitchFamily="34" charset="-122"/>
                <a:cs typeface="Calibri" pitchFamily="34" charset="-120"/>
              </a:rPr>
              <a:t>Créer le déclencheur
</a:t>
            </a:r>
            <a:endParaRPr lang="en-US" sz="1350" dirty="0"/>
          </a:p>
          <a:p>
            <a:pPr indent="0" marL="0">
              <a:buNone/>
            </a:pPr>
            <a:r>
              <a:rPr lang="en-US" sz="1150" dirty="0">
                <a:solidFill>
                  <a:srgbClr val="5F6368"/>
                </a:solidFill>
                <a:latin typeface="Calibri" pitchFamily="34" charset="0"/>
                <a:ea typeface="Calibri" pitchFamily="34" charset="-122"/>
                <a:cs typeface="Calibri" pitchFamily="34" charset="-120"/>
              </a:rPr>
              <a:t>branche ^main$ · cloudbuild-inference.yaml</a:t>
            </a:r>
            <a:endParaRPr lang="en-US" sz="1350" dirty="0"/>
          </a:p>
        </p:txBody>
      </p:sp>
      <p:sp>
        <p:nvSpPr>
          <p:cNvPr id="15" name="Shape 12"/>
          <p:cNvSpPr/>
          <p:nvPr/>
        </p:nvSpPr>
        <p:spPr>
          <a:xfrm>
            <a:off x="548640" y="3200400"/>
            <a:ext cx="384048" cy="384048"/>
          </a:xfrm>
          <a:prstGeom prst="ellipse">
            <a:avLst/>
          </a:prstGeom>
          <a:solidFill>
            <a:srgbClr val="F9AB00"/>
          </a:solidFill>
          <a:ln/>
        </p:spPr>
      </p:sp>
      <p:sp>
        <p:nvSpPr>
          <p:cNvPr id="16" name="Text 13"/>
          <p:cNvSpPr/>
          <p:nvPr/>
        </p:nvSpPr>
        <p:spPr>
          <a:xfrm>
            <a:off x="548640" y="32004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4"/>
          <p:cNvSpPr/>
          <p:nvPr/>
        </p:nvSpPr>
        <p:spPr>
          <a:xfrm>
            <a:off x="1078992" y="3145536"/>
            <a:ext cx="4956048" cy="914400"/>
          </a:xfrm>
          <a:prstGeom prst="rect">
            <a:avLst/>
          </a:prstGeom>
          <a:noFill/>
          <a:ln/>
        </p:spPr>
        <p:txBody>
          <a:bodyPr wrap="square" lIns="0" tIns="0" rIns="0" bIns="0" rtlCol="0" anchor="t"/>
          <a:lstStyle/>
          <a:p>
            <a:pPr indent="0" marL="0">
              <a:buNone/>
            </a:pPr>
            <a:r>
              <a:rPr lang="en-US" sz="1350" b="1" dirty="0">
                <a:solidFill>
                  <a:srgbClr val="202124"/>
                </a:solidFill>
                <a:latin typeface="Calibri" pitchFamily="34" charset="0"/>
                <a:ea typeface="Calibri" pitchFamily="34" charset="-122"/>
                <a:cs typeface="Calibri" pitchFamily="34" charset="-120"/>
              </a:rPr>
              <a:t>Vérifier
</a:t>
            </a:r>
            <a:endParaRPr lang="en-US" sz="1350" dirty="0"/>
          </a:p>
          <a:p>
            <a:pPr indent="0" marL="0">
              <a:buNone/>
            </a:pPr>
            <a:r>
              <a:rPr lang="en-US" sz="1150" dirty="0">
                <a:solidFill>
                  <a:srgbClr val="5F6368"/>
                </a:solidFill>
                <a:latin typeface="Calibri" pitchFamily="34" charset="0"/>
                <a:ea typeface="Calibri" pitchFamily="34" charset="-122"/>
                <a:cs typeface="Calibri" pitchFamily="34" charset="-120"/>
              </a:rPr>
              <a:t>builds triggers list</a:t>
            </a:r>
            <a:endParaRPr lang="en-US" sz="1350" dirty="0"/>
          </a:p>
        </p:txBody>
      </p:sp>
      <p:sp>
        <p:nvSpPr>
          <p:cNvPr id="18" name="Shape 15"/>
          <p:cNvSpPr/>
          <p:nvPr/>
        </p:nvSpPr>
        <p:spPr>
          <a:xfrm>
            <a:off x="6309360" y="1371600"/>
            <a:ext cx="5349240" cy="3108960"/>
          </a:xfrm>
          <a:prstGeom prst="rect">
            <a:avLst/>
          </a:prstGeom>
          <a:solidFill>
            <a:srgbClr val="0E1A33"/>
          </a:solidFill>
          <a:ln/>
          <a:effectLst>
            <a:outerShdw sx="100000" sy="100000" kx="0" ky="0" algn="bl" rotWithShape="0" blurRad="88900" dist="38100" dir="5400000">
              <a:srgbClr val="8A94AD">
                <a:alpha val="26000"/>
              </a:srgbClr>
            </a:outerShdw>
          </a:effectLst>
        </p:spPr>
      </p:sp>
      <p:sp>
        <p:nvSpPr>
          <p:cNvPr id="19" name="Text 16"/>
          <p:cNvSpPr/>
          <p:nvPr/>
        </p:nvSpPr>
        <p:spPr>
          <a:xfrm>
            <a:off x="6473952" y="1481328"/>
            <a:ext cx="5020056" cy="2889504"/>
          </a:xfrm>
          <a:prstGeom prst="rect">
            <a:avLst/>
          </a:prstGeom>
          <a:noFill/>
          <a:ln/>
        </p:spPr>
        <p:txBody>
          <a:bodyPr wrap="square" lIns="0" tIns="0" rIns="0" bIns="0" rtlCol="0" anchor="t"/>
          <a:lstStyle/>
          <a:p>
            <a:pPr indent="0" marL="0">
              <a:buNone/>
            </a:pPr>
            <a:r>
              <a:rPr lang="en-US" sz="950" dirty="0">
                <a:solidFill>
                  <a:srgbClr val="DCE3F2"/>
                </a:solidFill>
                <a:latin typeface="Consolas" pitchFamily="34" charset="0"/>
                <a:ea typeface="Consolas" pitchFamily="34" charset="-122"/>
                <a:cs typeface="Consolas" pitchFamily="34" charset="-120"/>
              </a:rPr>
              <a:t>gcloud builds triggers create github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--project=mgvaovao-ia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--region=global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--name="deploy-inference-on-push"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--repo-owner=mgvaovao-Mdn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--repo-name=ml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--branch-pattern="^main$" \</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--build-config=\</a:t>
            </a:r>
            <a:endParaRPr lang="en-US" sz="950" dirty="0"/>
          </a:p>
          <a:p>
            <a:pPr indent="0" marL="0">
              <a:buNone/>
            </a:pPr>
            <a:r>
              <a:rPr lang="en-US" sz="950" dirty="0">
                <a:solidFill>
                  <a:srgbClr val="DCE3F2"/>
                </a:solidFill>
                <a:latin typeface="Consolas" pitchFamily="34" charset="0"/>
                <a:ea typeface="Consolas" pitchFamily="34" charset="-122"/>
                <a:cs typeface="Consolas" pitchFamily="34" charset="-120"/>
              </a:rPr>
              <a:t>    cloudbuild-inference.yaml</a:t>
            </a:r>
            <a:endParaRPr lang="en-US" sz="950" dirty="0"/>
          </a:p>
        </p:txBody>
      </p:sp>
      <p:sp>
        <p:nvSpPr>
          <p:cNvPr id="20" name="Shape 17"/>
          <p:cNvSpPr/>
          <p:nvPr/>
        </p:nvSpPr>
        <p:spPr>
          <a:xfrm>
            <a:off x="548640" y="4572000"/>
            <a:ext cx="11064240" cy="1280160"/>
          </a:xfrm>
          <a:prstGeom prst="rect">
            <a:avLst/>
          </a:prstGeom>
          <a:solidFill>
            <a:srgbClr val="EEF2FB"/>
          </a:solidFill>
          <a:ln/>
        </p:spPr>
      </p:sp>
      <p:sp>
        <p:nvSpPr>
          <p:cNvPr id="21" name="Shape 18"/>
          <p:cNvSpPr/>
          <p:nvPr/>
        </p:nvSpPr>
        <p:spPr>
          <a:xfrm>
            <a:off x="548640" y="4572000"/>
            <a:ext cx="91440" cy="1280160"/>
          </a:xfrm>
          <a:prstGeom prst="rect">
            <a:avLst/>
          </a:prstGeom>
          <a:solidFill>
            <a:srgbClr val="F9AB00"/>
          </a:solidFill>
          <a:ln/>
        </p:spPr>
      </p:sp>
      <p:sp>
        <p:nvSpPr>
          <p:cNvPr id="22" name="Text 19"/>
          <p:cNvSpPr/>
          <p:nvPr/>
        </p:nvSpPr>
        <p:spPr>
          <a:xfrm>
            <a:off x="786384" y="4645152"/>
            <a:ext cx="10680192" cy="1133856"/>
          </a:xfrm>
          <a:prstGeom prst="rect">
            <a:avLst/>
          </a:prstGeom>
          <a:noFill/>
          <a:ln/>
        </p:spPr>
        <p:txBody>
          <a:bodyPr wrap="square" lIns="0" tIns="0" rIns="0" bIns="0" rtlCol="0" anchor="ctr"/>
          <a:lstStyle/>
          <a:p>
            <a:pPr indent="0" marL="0">
              <a:buNone/>
            </a:pPr>
            <a:r>
              <a:rPr lang="en-US" sz="1100" b="1" dirty="0">
                <a:solidFill>
                  <a:srgbClr val="B06000"/>
                </a:solidFill>
                <a:latin typeface="Calibri" pitchFamily="34" charset="0"/>
                <a:ea typeface="Calibri" pitchFamily="34" charset="-122"/>
                <a:cs typeface="Calibri" pitchFamily="34" charset="-120"/>
              </a:rPr>
              <a:t>AVEC LE DÉCLENCHEUR   </a:t>
            </a:r>
            <a:pPr indent="0" marL="0">
              <a:buNone/>
            </a:pPr>
            <a:r>
              <a:rPr lang="en-US" sz="1200" dirty="0">
                <a:solidFill>
                  <a:srgbClr val="202124"/>
                </a:solidFill>
                <a:latin typeface="Calibri" pitchFamily="34" charset="0"/>
                <a:ea typeface="Calibri" pitchFamily="34" charset="-122"/>
                <a:cs typeface="Calibri" pitchFamily="34" charset="-120"/>
              </a:rPr>
              <a:t>Chaque git push origin main : build (cache ~5–10 min) → push Artifact Registry → deploy Cloud Run GPU. $SHORT_SHA est rempli automatiquement (pas besoin de --substitutions). Sans déclencheur : toujours passer SHORT_SHA manuellement.</a:t>
            </a:r>
            <a:endParaRPr lang="en-US" sz="1100" dirty="0"/>
          </a:p>
        </p:txBody>
      </p:sp>
      <p:sp>
        <p:nvSpPr>
          <p:cNvPr id="23" name="Text 20"/>
          <p:cNvSpPr/>
          <p:nvPr/>
        </p:nvSpPr>
        <p:spPr>
          <a:xfrm>
            <a:off x="548640" y="6510528"/>
            <a:ext cx="11155680" cy="274320"/>
          </a:xfrm>
          <a:prstGeom prst="rect">
            <a:avLst/>
          </a:prstGeom>
          <a:noFill/>
          <a:ln/>
        </p:spPr>
        <p:txBody>
          <a:bodyPr wrap="square" lIns="0" tIns="0" rIns="0" bIns="0" rtlCol="0" anchor="ctr"/>
          <a:lstStyle/>
          <a:p>
            <a:pPr indent="0" marL="0">
              <a:buNone/>
            </a:pPr>
            <a:r>
              <a:rPr lang="en-US" sz="950" i="1" dirty="0">
                <a:solidFill>
                  <a:srgbClr val="5F6368"/>
                </a:solidFill>
                <a:latin typeface="Calibri" pitchFamily="34" charset="0"/>
                <a:ea typeface="Calibri" pitchFamily="34" charset="-122"/>
                <a:cs typeface="Calibri" pitchFamily="34" charset="-120"/>
              </a:rPr>
              <a:t>Source : README §18.7 — GitHub → Cloud Build trigger</a:t>
            </a:r>
            <a:endParaRPr lang="en-US" sz="950" dirty="0"/>
          </a:p>
        </p:txBody>
      </p:sp>
      <p:sp>
        <p:nvSpPr>
          <p:cNvPr id="24" name="Text 21"/>
          <p:cNvSpPr/>
          <p:nvPr/>
        </p:nvSpPr>
        <p:spPr>
          <a:xfrm>
            <a:off x="2103120" y="6053328"/>
            <a:ext cx="3200400" cy="182880"/>
          </a:xfrm>
          <a:prstGeom prst="rect">
            <a:avLst/>
          </a:prstGeom>
          <a:noFill/>
          <a:ln/>
        </p:spPr>
        <p:txBody>
          <a:bodyPr wrap="square" lIns="0" tIns="0" rIns="0" bIns="0" rtlCol="0" anchor="ctr"/>
          <a:lstStyle/>
          <a:p>
            <a:pPr indent="0" marL="0">
              <a:buNone/>
            </a:pPr>
            <a:r>
              <a:rPr lang="en-US" sz="850" b="1" dirty="0">
                <a:solidFill>
                  <a:srgbClr val="97A1B5"/>
                </a:solidFill>
                <a:latin typeface="Calibri" pitchFamily="34" charset="0"/>
                <a:ea typeface="Calibri" pitchFamily="34" charset="-122"/>
                <a:cs typeface="Calibri" pitchFamily="34" charset="-120"/>
              </a:rPr>
              <a:t>Tsantaniaina Rakotonjanahary Ambaorasoa Guillaume</a:t>
            </a:r>
            <a:endParaRPr lang="en-US" sz="850" dirty="0"/>
          </a:p>
        </p:txBody>
      </p:sp>
      <p:sp>
        <p:nvSpPr>
          <p:cNvPr id="25" name="Shape 22"/>
          <p:cNvSpPr/>
          <p:nvPr/>
        </p:nvSpPr>
        <p:spPr>
          <a:xfrm>
            <a:off x="11137392" y="5852160"/>
            <a:ext cx="914400" cy="914400"/>
          </a:xfrm>
          <a:prstGeom prst="roundRect">
            <a:avLst>
              <a:gd name="adj" fmla="val 10000"/>
            </a:avLst>
          </a:prstGeom>
          <a:solidFill>
            <a:srgbClr val="FFFFFF"/>
          </a:solidFill>
          <a:ln w="12700">
            <a:solidFill>
              <a:srgbClr val="D6DEEC"/>
            </a:solidFill>
            <a:prstDash val="solid"/>
          </a:ln>
          <a:effectLst>
            <a:outerShdw sx="100000" sy="100000" kx="0" ky="0" algn="bl" rotWithShape="0" blurRad="88900" dist="38100" dir="5400000">
              <a:srgbClr val="8A94AD">
                <a:alpha val="26000"/>
              </a:srgbClr>
            </a:outerShdw>
          </a:effectLst>
        </p:spPr>
      </p:sp>
      <p:pic>
        <p:nvPicPr>
          <p:cNvPr id="26" name="Image 1" descr="logos/logo_mdn.png">    </p:cNvPr>
          <p:cNvPicPr>
            <a:picLocks noChangeAspect="1"/>
          </p:cNvPicPr>
          <p:nvPr/>
        </p:nvPicPr>
        <p:blipFill>
          <a:blip r:embed="rId2"/>
          <a:stretch>
            <a:fillRect/>
          </a:stretch>
        </p:blipFill>
        <p:spPr>
          <a:xfrm>
            <a:off x="11237976" y="5952744"/>
            <a:ext cx="713232" cy="713232"/>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EA4335"/>
          </a:solidFill>
          <a:ln/>
        </p:spPr>
      </p:sp>
      <p:sp>
        <p:nvSpPr>
          <p:cNvPr id="3" name="Shape 1"/>
          <p:cNvSpPr/>
          <p:nvPr/>
        </p:nvSpPr>
        <p:spPr>
          <a:xfrm>
            <a:off x="146304" y="0"/>
            <a:ext cx="12042648" cy="1078992"/>
          </a:xfrm>
          <a:prstGeom prst="rect">
            <a:avLst/>
          </a:prstGeom>
          <a:solidFill>
            <a:srgbClr val="1B2A4A"/>
          </a:solidFill>
          <a:ln/>
        </p:spPr>
      </p:sp>
      <p:sp>
        <p:nvSpPr>
          <p:cNvPr id="4" name="Text 2"/>
          <p:cNvSpPr/>
          <p:nvPr/>
        </p:nvSpPr>
        <p:spPr>
          <a:xfrm>
            <a:off x="548640" y="182880"/>
            <a:ext cx="9601200" cy="292608"/>
          </a:xfrm>
          <a:prstGeom prst="rect">
            <a:avLst/>
          </a:prstGeom>
          <a:noFill/>
          <a:ln/>
        </p:spPr>
        <p:txBody>
          <a:bodyPr wrap="square" lIns="0" tIns="0" rIns="0" bIns="0" rtlCol="0" anchor="ctr"/>
          <a:lstStyle/>
          <a:p>
            <a:pPr indent="0" marL="0">
              <a:buNone/>
            </a:pPr>
            <a:r>
              <a:rPr lang="en-US" sz="1200" b="1" spc="150" kern="0" dirty="0">
                <a:solidFill>
                  <a:srgbClr val="F28B82"/>
                </a:solidFill>
                <a:latin typeface="Calibri" pitchFamily="34" charset="0"/>
                <a:ea typeface="Calibri" pitchFamily="34" charset="-122"/>
                <a:cs typeface="Calibri" pitchFamily="34" charset="-120"/>
              </a:rPr>
              <a:t>BUGS RENCONTRÉS AU PREMIER DÉPLOIEMENT</a:t>
            </a:r>
            <a:endParaRPr lang="en-US" sz="1200" dirty="0"/>
          </a:p>
        </p:txBody>
      </p:sp>
      <p:sp>
        <p:nvSpPr>
          <p:cNvPr id="5" name="Text 3"/>
          <p:cNvSpPr/>
          <p:nvPr/>
        </p:nvSpPr>
        <p:spPr>
          <a:xfrm>
            <a:off x="530352" y="438912"/>
            <a:ext cx="9692640" cy="566928"/>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Problèmes connus &amp; correctifs</a:t>
            </a:r>
            <a:endParaRPr lang="en-US" sz="2700" dirty="0"/>
          </a:p>
        </p:txBody>
      </p:sp>
      <p:sp>
        <p:nvSpPr>
          <p:cNvPr id="6" name="Text 4"/>
          <p:cNvSpPr/>
          <p:nvPr/>
        </p:nvSpPr>
        <p:spPr>
          <a:xfrm>
            <a:off x="8229600" y="182880"/>
            <a:ext cx="1828800" cy="274320"/>
          </a:xfrm>
          <a:prstGeom prst="rect">
            <a:avLst/>
          </a:prstGeom>
          <a:noFill/>
          <a:ln/>
        </p:spPr>
        <p:txBody>
          <a:bodyPr wrap="square" lIns="0" tIns="0" rIns="0" bIns="0" rtlCol="0" anchor="ctr"/>
          <a:lstStyle/>
          <a:p>
            <a:pPr algn="r" indent="0" marL="0">
              <a:buNone/>
            </a:pPr>
            <a:r>
              <a:rPr lang="en-US" sz="1050" b="1" spc="100" kern="0" dirty="0">
                <a:solidFill>
                  <a:srgbClr val="8FA0C4"/>
                </a:solidFill>
                <a:latin typeface="Calibri" pitchFamily="34" charset="0"/>
                <a:ea typeface="Calibri" pitchFamily="34" charset="-122"/>
                <a:cs typeface="Calibri" pitchFamily="34" charset="-120"/>
              </a:rPr>
              <a:t>PARTIE 3</a:t>
            </a:r>
            <a:endParaRPr lang="en-US" sz="1050" dirty="0"/>
          </a:p>
        </p:txBody>
      </p:sp>
      <p:sp>
        <p:nvSpPr>
          <p:cNvPr id="7" name="Shape 5"/>
          <p:cNvSpPr/>
          <p:nvPr/>
        </p:nvSpPr>
        <p:spPr>
          <a:xfrm>
            <a:off x="548640" y="1371600"/>
            <a:ext cx="109728" cy="1417320"/>
          </a:xfrm>
          <a:prstGeom prst="rect">
            <a:avLst/>
          </a:prstGeom>
          <a:solidFill>
            <a:srgbClr val="EA4335"/>
          </a:solidFill>
          <a:ln/>
        </p:spPr>
      </p:sp>
      <p:sp>
        <p:nvSpPr>
          <p:cNvPr id="8" name="Text 6"/>
          <p:cNvSpPr/>
          <p:nvPr/>
        </p:nvSpPr>
        <p:spPr>
          <a:xfrm>
            <a:off x="777240" y="1389888"/>
            <a:ext cx="10789920" cy="320040"/>
          </a:xfrm>
          <a:prstGeom prst="rect">
            <a:avLst/>
          </a:prstGeom>
          <a:noFill/>
          <a:ln/>
        </p:spPr>
        <p:txBody>
          <a:bodyPr wrap="square" lIns="0" tIns="0" rIns="0" bIns="0" rtlCol="0" anchor="ctr"/>
          <a:lstStyle/>
          <a:p>
            <a:pPr indent="0" marL="0">
              <a:buNone/>
            </a:pPr>
            <a:r>
              <a:rPr lang="en-US" sz="1400" b="1" dirty="0">
                <a:solidFill>
                  <a:srgbClr val="C5221F"/>
                </a:solidFill>
                <a:latin typeface="Calibri" pitchFamily="34" charset="0"/>
                <a:ea typeface="Calibri" pitchFamily="34" charset="-122"/>
                <a:cs typeface="Calibri" pitchFamily="34" charset="-120"/>
              </a:rPr>
              <a:t>Bug 1 — KeyError: 'bytes' à la déconnexion</a:t>
            </a:r>
            <a:endParaRPr lang="en-US" sz="1400" dirty="0"/>
          </a:p>
        </p:txBody>
      </p:sp>
      <p:sp>
        <p:nvSpPr>
          <p:cNvPr id="9" name="Shape 7"/>
          <p:cNvSpPr/>
          <p:nvPr/>
        </p:nvSpPr>
        <p:spPr>
          <a:xfrm>
            <a:off x="777240" y="1755648"/>
            <a:ext cx="10835640" cy="960120"/>
          </a:xfrm>
          <a:prstGeom prst="rect">
            <a:avLst/>
          </a:prstGeom>
          <a:solidFill>
            <a:srgbClr val="0E1A33"/>
          </a:solidFill>
          <a:ln/>
          <a:effectLst>
            <a:outerShdw sx="100000" sy="100000" kx="0" ky="0" algn="bl" rotWithShape="0" blurRad="88900" dist="38100" dir="5400000">
              <a:srgbClr val="8A94AD">
                <a:alpha val="26000"/>
              </a:srgbClr>
            </a:outerShdw>
          </a:effectLst>
        </p:spPr>
      </p:sp>
      <p:sp>
        <p:nvSpPr>
          <p:cNvPr id="10" name="Text 8"/>
          <p:cNvSpPr/>
          <p:nvPr/>
        </p:nvSpPr>
        <p:spPr>
          <a:xfrm>
            <a:off x="941832" y="1865376"/>
            <a:ext cx="10506456" cy="740664"/>
          </a:xfrm>
          <a:prstGeom prst="rect">
            <a:avLst/>
          </a:prstGeom>
          <a:noFill/>
          <a:ln/>
        </p:spPr>
        <p:txBody>
          <a:bodyPr wrap="square" lIns="0" tIns="0" rIns="0" bIns="0" rtlCol="0" anchor="t"/>
          <a:lstStyle/>
          <a:p>
            <a:pPr indent="0" marL="0">
              <a:buNone/>
            </a:pPr>
            <a:r>
              <a:rPr lang="en-US" sz="1000" dirty="0">
                <a:solidFill>
                  <a:srgbClr val="7F8CA8"/>
                </a:solidFill>
                <a:latin typeface="Consolas" pitchFamily="34" charset="0"/>
                <a:ea typeface="Consolas" pitchFamily="34" charset="-122"/>
                <a:cs typeface="Consolas" pitchFamily="34" charset="-120"/>
              </a:rPr>
              <a:t># stream.py — frame disconnect sans clé bytes</a:t>
            </a:r>
            <a:endParaRPr lang="en-US" sz="1000" dirty="0"/>
          </a:p>
          <a:p>
            <a:pPr indent="0" marL="0">
              <a:buNone/>
            </a:pPr>
            <a:r>
              <a:rPr lang="en-US" sz="1000" dirty="0">
                <a:solidFill>
                  <a:srgbClr val="DCE3F2"/>
                </a:solidFill>
                <a:latin typeface="Consolas" pitchFamily="34" charset="0"/>
                <a:ea typeface="Consolas" pitchFamily="34" charset="-122"/>
                <a:cs typeface="Consolas" pitchFamily="34" charset="-120"/>
              </a:rPr>
              <a:t>if msg.get("type")=="websocket.disconnect":</a:t>
            </a:r>
            <a:endParaRPr lang="en-US" sz="1000" dirty="0"/>
          </a:p>
          <a:p>
            <a:pPr indent="0" marL="0">
              <a:buNone/>
            </a:pPr>
            <a:r>
              <a:rPr lang="en-US" sz="1000" dirty="0">
                <a:solidFill>
                  <a:srgbClr val="DCE3F2"/>
                </a:solidFill>
                <a:latin typeface="Consolas" pitchFamily="34" charset="0"/>
                <a:ea typeface="Consolas" pitchFamily="34" charset="-122"/>
                <a:cs typeface="Consolas" pitchFamily="34" charset="-120"/>
              </a:rPr>
              <a:t>    break</a:t>
            </a:r>
            <a:endParaRPr lang="en-US" sz="1000" dirty="0"/>
          </a:p>
          <a:p>
            <a:pPr indent="0" marL="0">
              <a:buNone/>
            </a:pPr>
            <a:r>
              <a:rPr lang="en-US" sz="1000" dirty="0">
                <a:solidFill>
                  <a:srgbClr val="DCE3F2"/>
                </a:solidFill>
                <a:latin typeface="Consolas" pitchFamily="34" charset="0"/>
                <a:ea typeface="Consolas" pitchFamily="34" charset="-122"/>
                <a:cs typeface="Consolas" pitchFamily="34" charset="-120"/>
              </a:rPr>
              <a:t>raw = msg.get("bytes") or b""</a:t>
            </a:r>
            <a:endParaRPr lang="en-US" sz="1000" dirty="0"/>
          </a:p>
        </p:txBody>
      </p:sp>
      <p:sp>
        <p:nvSpPr>
          <p:cNvPr id="11" name="Shape 9"/>
          <p:cNvSpPr/>
          <p:nvPr/>
        </p:nvSpPr>
        <p:spPr>
          <a:xfrm>
            <a:off x="548640" y="2971800"/>
            <a:ext cx="109728" cy="1417320"/>
          </a:xfrm>
          <a:prstGeom prst="rect">
            <a:avLst/>
          </a:prstGeom>
          <a:solidFill>
            <a:srgbClr val="EA4335"/>
          </a:solidFill>
          <a:ln/>
        </p:spPr>
      </p:sp>
      <p:sp>
        <p:nvSpPr>
          <p:cNvPr id="12" name="Text 10"/>
          <p:cNvSpPr/>
          <p:nvPr/>
        </p:nvSpPr>
        <p:spPr>
          <a:xfrm>
            <a:off x="777240" y="2990088"/>
            <a:ext cx="10789920" cy="320040"/>
          </a:xfrm>
          <a:prstGeom prst="rect">
            <a:avLst/>
          </a:prstGeom>
          <a:noFill/>
          <a:ln/>
        </p:spPr>
        <p:txBody>
          <a:bodyPr wrap="square" lIns="0" tIns="0" rIns="0" bIns="0" rtlCol="0" anchor="ctr"/>
          <a:lstStyle/>
          <a:p>
            <a:pPr indent="0" marL="0">
              <a:buNone/>
            </a:pPr>
            <a:r>
              <a:rPr lang="en-US" sz="1400" b="1" dirty="0">
                <a:solidFill>
                  <a:srgbClr val="C5221F"/>
                </a:solidFill>
                <a:latin typeface="Calibri" pitchFamily="34" charset="0"/>
                <a:ea typeface="Calibri" pitchFamily="34" charset="-122"/>
                <a:cs typeface="Calibri" pitchFamily="34" charset="-120"/>
              </a:rPr>
              <a:t>Bug 2 — Silero VAD ne se déclenche jamais</a:t>
            </a:r>
            <a:endParaRPr lang="en-US" sz="1400" dirty="0"/>
          </a:p>
        </p:txBody>
      </p:sp>
      <p:sp>
        <p:nvSpPr>
          <p:cNvPr id="13" name="Shape 11"/>
          <p:cNvSpPr/>
          <p:nvPr/>
        </p:nvSpPr>
        <p:spPr>
          <a:xfrm>
            <a:off x="777240" y="3355848"/>
            <a:ext cx="10835640" cy="960120"/>
          </a:xfrm>
          <a:prstGeom prst="rect">
            <a:avLst/>
          </a:prstGeom>
          <a:solidFill>
            <a:srgbClr val="0E1A33"/>
          </a:solidFill>
          <a:ln/>
          <a:effectLst>
            <a:outerShdw sx="100000" sy="100000" kx="0" ky="0" algn="bl" rotWithShape="0" blurRad="88900" dist="38100" dir="5400000">
              <a:srgbClr val="8A94AD">
                <a:alpha val="26000"/>
              </a:srgbClr>
            </a:outerShdw>
          </a:effectLst>
        </p:spPr>
      </p:sp>
      <p:sp>
        <p:nvSpPr>
          <p:cNvPr id="14" name="Text 12"/>
          <p:cNvSpPr/>
          <p:nvPr/>
        </p:nvSpPr>
        <p:spPr>
          <a:xfrm>
            <a:off x="941832" y="3465576"/>
            <a:ext cx="10506456" cy="740664"/>
          </a:xfrm>
          <a:prstGeom prst="rect">
            <a:avLst/>
          </a:prstGeom>
          <a:noFill/>
          <a:ln/>
        </p:spPr>
        <p:txBody>
          <a:bodyPr wrap="square" lIns="0" tIns="0" rIns="0" bIns="0" rtlCol="0" anchor="t"/>
          <a:lstStyle/>
          <a:p>
            <a:pPr indent="0" marL="0">
              <a:buNone/>
            </a:pPr>
            <a:r>
              <a:rPr lang="en-US" sz="1000" dirty="0">
                <a:solidFill>
                  <a:srgbClr val="7F8CA8"/>
                </a:solidFill>
                <a:latin typeface="Consolas" pitchFamily="34" charset="0"/>
                <a:ea typeface="Consolas" pitchFamily="34" charset="-122"/>
                <a:cs typeface="Consolas" pitchFamily="34" charset="-120"/>
              </a:rPr>
              <a:t># config.py — seuil trop strict</a:t>
            </a:r>
            <a:endParaRPr lang="en-US" sz="1000" dirty="0"/>
          </a:p>
          <a:p>
            <a:pPr indent="0" marL="0">
              <a:buNone/>
            </a:pPr>
            <a:r>
              <a:rPr lang="en-US" sz="1000" dirty="0">
                <a:solidFill>
                  <a:srgbClr val="DCE3F2"/>
                </a:solidFill>
                <a:latin typeface="Consolas" pitchFamily="34" charset="0"/>
                <a:ea typeface="Consolas" pitchFamily="34" charset="-122"/>
                <a:cs typeface="Consolas" pitchFamily="34" charset="-120"/>
              </a:rPr>
              <a:t>vad_threshold = 0.3            # au lieu de 0.5</a:t>
            </a:r>
            <a:endParaRPr lang="en-US" sz="1000" dirty="0"/>
          </a:p>
          <a:p>
            <a:pPr indent="0" marL="0">
              <a:buNone/>
            </a:pPr>
            <a:r>
              <a:rPr lang="en-US" sz="1000" dirty="0">
                <a:solidFill>
                  <a:srgbClr val="DCE3F2"/>
                </a:solidFill>
                <a:latin typeface="Consolas" pitchFamily="34" charset="0"/>
                <a:ea typeface="Consolas" pitchFamily="34" charset="-122"/>
                <a:cs typeface="Consolas" pitchFamily="34" charset="-120"/>
              </a:rPr>
              <a:t>vad_stream_min_silence_ms = 400  # au lieu de 500</a:t>
            </a:r>
            <a:endParaRPr lang="en-US" sz="1000" dirty="0"/>
          </a:p>
        </p:txBody>
      </p:sp>
      <p:sp>
        <p:nvSpPr>
          <p:cNvPr id="15" name="Shape 13"/>
          <p:cNvSpPr/>
          <p:nvPr/>
        </p:nvSpPr>
        <p:spPr>
          <a:xfrm>
            <a:off x="548640" y="4572000"/>
            <a:ext cx="109728" cy="1417320"/>
          </a:xfrm>
          <a:prstGeom prst="rect">
            <a:avLst/>
          </a:prstGeom>
          <a:solidFill>
            <a:srgbClr val="EA4335"/>
          </a:solidFill>
          <a:ln/>
        </p:spPr>
      </p:sp>
      <p:sp>
        <p:nvSpPr>
          <p:cNvPr id="16" name="Text 14"/>
          <p:cNvSpPr/>
          <p:nvPr/>
        </p:nvSpPr>
        <p:spPr>
          <a:xfrm>
            <a:off x="777240" y="4590288"/>
            <a:ext cx="10789920" cy="320040"/>
          </a:xfrm>
          <a:prstGeom prst="rect">
            <a:avLst/>
          </a:prstGeom>
          <a:noFill/>
          <a:ln/>
        </p:spPr>
        <p:txBody>
          <a:bodyPr wrap="square" lIns="0" tIns="0" rIns="0" bIns="0" rtlCol="0" anchor="ctr"/>
          <a:lstStyle/>
          <a:p>
            <a:pPr indent="0" marL="0">
              <a:buNone/>
            </a:pPr>
            <a:r>
              <a:rPr lang="en-US" sz="1400" b="1" dirty="0">
                <a:solidFill>
                  <a:srgbClr val="C5221F"/>
                </a:solidFill>
                <a:latin typeface="Calibri" pitchFamily="34" charset="0"/>
                <a:ea typeface="Calibri" pitchFamily="34" charset="-122"/>
                <a:cs typeface="Calibri" pitchFamily="34" charset="-120"/>
              </a:rPr>
              <a:t>Bug 3 — SHORT_SHA vide (build manuel)</a:t>
            </a:r>
            <a:endParaRPr lang="en-US" sz="1400" dirty="0"/>
          </a:p>
        </p:txBody>
      </p:sp>
      <p:sp>
        <p:nvSpPr>
          <p:cNvPr id="17" name="Shape 15"/>
          <p:cNvSpPr/>
          <p:nvPr/>
        </p:nvSpPr>
        <p:spPr>
          <a:xfrm>
            <a:off x="777240" y="4956048"/>
            <a:ext cx="10835640" cy="960120"/>
          </a:xfrm>
          <a:prstGeom prst="rect">
            <a:avLst/>
          </a:prstGeom>
          <a:solidFill>
            <a:srgbClr val="0E1A33"/>
          </a:solidFill>
          <a:ln/>
          <a:effectLst>
            <a:outerShdw sx="100000" sy="100000" kx="0" ky="0" algn="bl" rotWithShape="0" blurRad="88900" dist="38100" dir="5400000">
              <a:srgbClr val="8A94AD">
                <a:alpha val="26000"/>
              </a:srgbClr>
            </a:outerShdw>
          </a:effectLst>
        </p:spPr>
      </p:sp>
      <p:sp>
        <p:nvSpPr>
          <p:cNvPr id="18" name="Text 16"/>
          <p:cNvSpPr/>
          <p:nvPr/>
        </p:nvSpPr>
        <p:spPr>
          <a:xfrm>
            <a:off x="941832" y="5065776"/>
            <a:ext cx="10506456" cy="740664"/>
          </a:xfrm>
          <a:prstGeom prst="rect">
            <a:avLst/>
          </a:prstGeom>
          <a:noFill/>
          <a:ln/>
        </p:spPr>
        <p:txBody>
          <a:bodyPr wrap="square" lIns="0" tIns="0" rIns="0" bIns="0" rtlCol="0" anchor="t"/>
          <a:lstStyle/>
          <a:p>
            <a:pPr indent="0" marL="0">
              <a:buNone/>
            </a:pPr>
            <a:r>
              <a:rPr lang="en-US" sz="1000" dirty="0">
                <a:solidFill>
                  <a:srgbClr val="7F8CA8"/>
                </a:solidFill>
                <a:latin typeface="Consolas" pitchFamily="34" charset="0"/>
                <a:ea typeface="Consolas" pitchFamily="34" charset="-122"/>
                <a:cs typeface="Consolas" pitchFamily="34" charset="-120"/>
              </a:rPr>
              <a:t># image:  → tag vide → invalid image name</a:t>
            </a:r>
            <a:endParaRPr lang="en-US" sz="1000" dirty="0"/>
          </a:p>
          <a:p>
            <a:pPr indent="0" marL="0">
              <a:buNone/>
            </a:pPr>
            <a:r>
              <a:rPr lang="en-US" sz="1000" dirty="0">
                <a:solidFill>
                  <a:srgbClr val="DCE3F2"/>
                </a:solidFill>
                <a:latin typeface="Consolas" pitchFamily="34" charset="0"/>
                <a:ea typeface="Consolas" pitchFamily="34" charset="-122"/>
                <a:cs typeface="Consolas" pitchFamily="34" charset="-120"/>
              </a:rPr>
              <a:t>--substitutions=SHORT_SHA=$(git \</a:t>
            </a:r>
            <a:endParaRPr lang="en-US" sz="1000" dirty="0"/>
          </a:p>
          <a:p>
            <a:pPr indent="0" marL="0">
              <a:buNone/>
            </a:pPr>
            <a:r>
              <a:rPr lang="en-US" sz="1000" dirty="0">
                <a:solidFill>
                  <a:srgbClr val="DCE3F2"/>
                </a:solidFill>
                <a:latin typeface="Consolas" pitchFamily="34" charset="0"/>
                <a:ea typeface="Consolas" pitchFamily="34" charset="-122"/>
                <a:cs typeface="Consolas" pitchFamily="34" charset="-120"/>
              </a:rPr>
              <a:t>  rev-parse --short HEAD)</a:t>
            </a:r>
            <a:endParaRPr lang="en-US" sz="1000" dirty="0"/>
          </a:p>
        </p:txBody>
      </p:sp>
      <p:sp>
        <p:nvSpPr>
          <p:cNvPr id="19" name="Text 17"/>
          <p:cNvSpPr/>
          <p:nvPr/>
        </p:nvSpPr>
        <p:spPr>
          <a:xfrm>
            <a:off x="548640" y="6510528"/>
            <a:ext cx="11155680" cy="274320"/>
          </a:xfrm>
          <a:prstGeom prst="rect">
            <a:avLst/>
          </a:prstGeom>
          <a:noFill/>
          <a:ln/>
        </p:spPr>
        <p:txBody>
          <a:bodyPr wrap="square" lIns="0" tIns="0" rIns="0" bIns="0" rtlCol="0" anchor="ctr"/>
          <a:lstStyle/>
          <a:p>
            <a:pPr indent="0" marL="0">
              <a:buNone/>
            </a:pPr>
            <a:r>
              <a:rPr lang="en-US" sz="950" i="1" dirty="0">
                <a:solidFill>
                  <a:srgbClr val="5F6368"/>
                </a:solidFill>
                <a:latin typeface="Calibri" pitchFamily="34" charset="0"/>
                <a:ea typeface="Calibri" pitchFamily="34" charset="-122"/>
                <a:cs typeface="Calibri" pitchFamily="34" charset="-120"/>
              </a:rPr>
              <a:t>Source : README §18.9 — correctifs appliqués (à ne pas refaire)</a:t>
            </a:r>
            <a:endParaRPr lang="en-US" sz="950" dirty="0"/>
          </a:p>
        </p:txBody>
      </p:sp>
      <p:sp>
        <p:nvSpPr>
          <p:cNvPr id="20" name="Text 18"/>
          <p:cNvSpPr/>
          <p:nvPr/>
        </p:nvSpPr>
        <p:spPr>
          <a:xfrm>
            <a:off x="3657600" y="6085332"/>
            <a:ext cx="3200400" cy="182880"/>
          </a:xfrm>
          <a:prstGeom prst="rect">
            <a:avLst/>
          </a:prstGeom>
          <a:noFill/>
          <a:ln/>
        </p:spPr>
        <p:txBody>
          <a:bodyPr wrap="square" lIns="0" tIns="0" rIns="0" bIns="0" rtlCol="0" anchor="ctr"/>
          <a:lstStyle/>
          <a:p>
            <a:pPr indent="0" marL="0">
              <a:buNone/>
            </a:pPr>
            <a:r>
              <a:rPr lang="en-US" sz="850" b="1" dirty="0">
                <a:solidFill>
                  <a:srgbClr val="97A1B5"/>
                </a:solidFill>
                <a:latin typeface="Calibri" pitchFamily="34" charset="0"/>
                <a:ea typeface="Calibri" pitchFamily="34" charset="-122"/>
                <a:cs typeface="Calibri" pitchFamily="34" charset="-120"/>
              </a:rPr>
              <a:t>Tsantaniaina Rakotonjanahary Ambaorasoa Guillaume</a:t>
            </a:r>
            <a:endParaRPr lang="en-US" sz="850" dirty="0"/>
          </a:p>
        </p:txBody>
      </p:sp>
      <p:sp>
        <p:nvSpPr>
          <p:cNvPr id="21" name="Shape 19"/>
          <p:cNvSpPr/>
          <p:nvPr/>
        </p:nvSpPr>
        <p:spPr>
          <a:xfrm>
            <a:off x="11137392" y="5852160"/>
            <a:ext cx="914400" cy="914400"/>
          </a:xfrm>
          <a:prstGeom prst="roundRect">
            <a:avLst>
              <a:gd name="adj" fmla="val 10000"/>
            </a:avLst>
          </a:prstGeom>
          <a:solidFill>
            <a:srgbClr val="FFFFFF"/>
          </a:solidFill>
          <a:ln w="12700">
            <a:solidFill>
              <a:srgbClr val="D6DEEC"/>
            </a:solidFill>
            <a:prstDash val="solid"/>
          </a:ln>
          <a:effectLst>
            <a:outerShdw sx="100000" sy="100000" kx="0" ky="0" algn="bl" rotWithShape="0" blurRad="88900" dist="38100" dir="5400000">
              <a:srgbClr val="8A94AD">
                <a:alpha val="26000"/>
              </a:srgbClr>
            </a:outerShdw>
          </a:effectLst>
        </p:spPr>
      </p:sp>
      <p:pic>
        <p:nvPicPr>
          <p:cNvPr id="22" name="Image 0" descr="logos/logo_mdn.png">    </p:cNvPr>
          <p:cNvPicPr>
            <a:picLocks noChangeAspect="1"/>
          </p:cNvPicPr>
          <p:nvPr/>
        </p:nvPicPr>
        <p:blipFill>
          <a:blip r:embed="rId1"/>
          <a:stretch>
            <a:fillRect/>
          </a:stretch>
        </p:blipFill>
        <p:spPr>
          <a:xfrm>
            <a:off x="11237976" y="5952744"/>
            <a:ext cx="713232" cy="713232"/>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5B6B8C"/>
          </a:solidFill>
          <a:ln/>
        </p:spPr>
      </p:sp>
      <p:sp>
        <p:nvSpPr>
          <p:cNvPr id="3" name="Shape 1"/>
          <p:cNvSpPr/>
          <p:nvPr/>
        </p:nvSpPr>
        <p:spPr>
          <a:xfrm>
            <a:off x="146304" y="0"/>
            <a:ext cx="12042648" cy="1078992"/>
          </a:xfrm>
          <a:prstGeom prst="rect">
            <a:avLst/>
          </a:prstGeom>
          <a:solidFill>
            <a:srgbClr val="1B2A4A"/>
          </a:solidFill>
          <a:ln/>
        </p:spPr>
      </p:sp>
      <p:sp>
        <p:nvSpPr>
          <p:cNvPr id="4" name="Text 2"/>
          <p:cNvSpPr/>
          <p:nvPr/>
        </p:nvSpPr>
        <p:spPr>
          <a:xfrm>
            <a:off x="548640" y="182880"/>
            <a:ext cx="9601200" cy="292608"/>
          </a:xfrm>
          <a:prstGeom prst="rect">
            <a:avLst/>
          </a:prstGeom>
          <a:noFill/>
          <a:ln/>
        </p:spPr>
        <p:txBody>
          <a:bodyPr wrap="square" lIns="0" tIns="0" rIns="0" bIns="0" rtlCol="0" anchor="ctr"/>
          <a:lstStyle/>
          <a:p>
            <a:pPr indent="0" marL="0">
              <a:buNone/>
            </a:pPr>
            <a:r>
              <a:rPr lang="en-US" sz="1200" b="1" spc="150" kern="0" dirty="0">
                <a:solidFill>
                  <a:srgbClr val="C7D0E4"/>
                </a:solidFill>
                <a:latin typeface="Calibri" pitchFamily="34" charset="0"/>
                <a:ea typeface="Calibri" pitchFamily="34" charset="-122"/>
                <a:cs typeface="Calibri" pitchFamily="34" charset="-120"/>
              </a:rPr>
              <a:t>TOUT CE QU'IL FAUT SAUVEGARDER</a:t>
            </a:r>
            <a:endParaRPr lang="en-US" sz="1200" dirty="0"/>
          </a:p>
        </p:txBody>
      </p:sp>
      <p:sp>
        <p:nvSpPr>
          <p:cNvPr id="5" name="Text 3"/>
          <p:cNvSpPr/>
          <p:nvPr/>
        </p:nvSpPr>
        <p:spPr>
          <a:xfrm>
            <a:off x="530352" y="438912"/>
            <a:ext cx="9692640" cy="566928"/>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Variables &amp; migration</a:t>
            </a:r>
            <a:endParaRPr lang="en-US" sz="2700" dirty="0"/>
          </a:p>
        </p:txBody>
      </p:sp>
      <p:sp>
        <p:nvSpPr>
          <p:cNvPr id="6" name="Text 4"/>
          <p:cNvSpPr/>
          <p:nvPr/>
        </p:nvSpPr>
        <p:spPr>
          <a:xfrm>
            <a:off x="8229600" y="182880"/>
            <a:ext cx="1828800" cy="274320"/>
          </a:xfrm>
          <a:prstGeom prst="rect">
            <a:avLst/>
          </a:prstGeom>
          <a:noFill/>
          <a:ln/>
        </p:spPr>
        <p:txBody>
          <a:bodyPr wrap="square" lIns="0" tIns="0" rIns="0" bIns="0" rtlCol="0" anchor="ctr"/>
          <a:lstStyle/>
          <a:p>
            <a:pPr algn="r" indent="0" marL="0">
              <a:buNone/>
            </a:pPr>
            <a:r>
              <a:rPr lang="en-US" sz="1050" b="1" spc="100" kern="0" dirty="0">
                <a:solidFill>
                  <a:srgbClr val="8FA0C4"/>
                </a:solidFill>
                <a:latin typeface="Calibri" pitchFamily="34" charset="0"/>
                <a:ea typeface="Calibri" pitchFamily="34" charset="-122"/>
                <a:cs typeface="Calibri" pitchFamily="34" charset="-120"/>
              </a:rPr>
              <a:t>PARTIE 3</a:t>
            </a:r>
            <a:endParaRPr lang="en-US" sz="1050" dirty="0"/>
          </a:p>
        </p:txBody>
      </p:sp>
      <p:sp>
        <p:nvSpPr>
          <p:cNvPr id="7" name="Text 5"/>
          <p:cNvSpPr/>
          <p:nvPr/>
        </p:nvSpPr>
        <p:spPr>
          <a:xfrm>
            <a:off x="548640" y="1280160"/>
            <a:ext cx="7315200" cy="274320"/>
          </a:xfrm>
          <a:prstGeom prst="rect">
            <a:avLst/>
          </a:prstGeom>
          <a:noFill/>
          <a:ln/>
        </p:spPr>
        <p:txBody>
          <a:bodyPr wrap="square" lIns="0" tIns="0" rIns="0" bIns="0" rtlCol="0" anchor="ctr"/>
          <a:lstStyle/>
          <a:p>
            <a:pPr indent="0" marL="0">
              <a:buNone/>
            </a:pPr>
            <a:r>
              <a:rPr lang="en-US" sz="1200" b="1" spc="100" kern="0" dirty="0">
                <a:solidFill>
                  <a:srgbClr val="3C4A66"/>
                </a:solidFill>
                <a:latin typeface="Calibri" pitchFamily="34" charset="0"/>
                <a:ea typeface="Calibri" pitchFamily="34" charset="-122"/>
                <a:cs typeface="Calibri" pitchFamily="34" charset="-120"/>
              </a:rPr>
              <a:t>VARIABLES CLÉS DU PROJET</a:t>
            </a:r>
            <a:endParaRPr lang="en-US" sz="12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5760720" cy="914400"/>
        </p:xfrm>
        <a:graphic>
          <a:graphicData uri="http://schemas.openxmlformats.org/drawingml/2006/table">
            <a:tbl>
              <a:tblPr/>
              <a:tblGrid>
                <a:gridCol w="2743200"/>
                <a:gridCol w="3017520"/>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Variable</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3C4A66"/>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Valeur</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3C4A66"/>
                    </a:solidFill>
                  </a:tcPr>
                </a:tc>
              </a:tr>
              <a:tr h="0">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GCP_PROJECT_ID</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mgvaovao-ia</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r>
              <a:tr h="0">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GCP_PROJECT_NUMBER</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97374817504</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GCP_REGION / ZONE</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us-central1 / -a</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r>
              <a:tr h="0">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AR_REPO</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mgvaovao</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GCS_BUCKET_MODELS</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mgvaovao-ia-checkpoints</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r>
              <a:tr h="0">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CLOUDRUN_SERVICE</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mgvaovao-inference</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r>
            </a:tbl>
          </a:graphicData>
        </a:graphic>
      </p:graphicFrame>
      <p:sp>
        <p:nvSpPr>
          <p:cNvPr id="9" name="Text 6"/>
          <p:cNvSpPr/>
          <p:nvPr/>
        </p:nvSpPr>
        <p:spPr>
          <a:xfrm>
            <a:off x="6583680" y="1280160"/>
            <a:ext cx="5486400" cy="274320"/>
          </a:xfrm>
          <a:prstGeom prst="rect">
            <a:avLst/>
          </a:prstGeom>
          <a:noFill/>
          <a:ln/>
        </p:spPr>
        <p:txBody>
          <a:bodyPr wrap="square" lIns="0" tIns="0" rIns="0" bIns="0" rtlCol="0" anchor="ctr"/>
          <a:lstStyle/>
          <a:p>
            <a:pPr indent="0" marL="0">
              <a:buNone/>
            </a:pPr>
            <a:r>
              <a:rPr lang="en-US" sz="1200" b="1" spc="100" kern="0" dirty="0">
                <a:solidFill>
                  <a:srgbClr val="3C4A66"/>
                </a:solidFill>
                <a:latin typeface="Calibri" pitchFamily="34" charset="0"/>
                <a:ea typeface="Calibri" pitchFamily="34" charset="-122"/>
                <a:cs typeface="Calibri" pitchFamily="34" charset="-120"/>
              </a:rPr>
              <a:t>MIGRER VERS UN NOUVEAU PROJET</a:t>
            </a:r>
            <a:endParaRPr lang="en-US" sz="1200" dirty="0"/>
          </a:p>
        </p:txBody>
      </p:sp>
      <p:sp>
        <p:nvSpPr>
          <p:cNvPr id="10" name="Shape 7"/>
          <p:cNvSpPr/>
          <p:nvPr/>
        </p:nvSpPr>
        <p:spPr>
          <a:xfrm>
            <a:off x="6583680" y="1645920"/>
            <a:ext cx="384048" cy="384048"/>
          </a:xfrm>
          <a:prstGeom prst="ellipse">
            <a:avLst/>
          </a:prstGeom>
          <a:solidFill>
            <a:srgbClr val="5B6B8C"/>
          </a:solidFill>
          <a:ln/>
        </p:spPr>
      </p:sp>
      <p:sp>
        <p:nvSpPr>
          <p:cNvPr id="11" name="Text 8"/>
          <p:cNvSpPr/>
          <p:nvPr/>
        </p:nvSpPr>
        <p:spPr>
          <a:xfrm>
            <a:off x="6583680" y="16459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2" name="Text 9"/>
          <p:cNvSpPr/>
          <p:nvPr/>
        </p:nvSpPr>
        <p:spPr>
          <a:xfrm>
            <a:off x="7114032" y="1591056"/>
            <a:ext cx="4498848" cy="566928"/>
          </a:xfrm>
          <a:prstGeom prst="rect">
            <a:avLst/>
          </a:prstGeom>
          <a:noFill/>
          <a:ln/>
        </p:spPr>
        <p:txBody>
          <a:bodyPr wrap="square" lIns="0" tIns="0" rIns="0" bIns="0" rtlCol="0" anchor="t"/>
          <a:lstStyle/>
          <a:p>
            <a:pPr indent="0" marL="0">
              <a:buNone/>
            </a:pPr>
            <a:r>
              <a:rPr lang="en-US" sz="1200" b="1" dirty="0">
                <a:solidFill>
                  <a:srgbClr val="202124"/>
                </a:solidFill>
                <a:latin typeface="Calibri" pitchFamily="34" charset="0"/>
                <a:ea typeface="Calibri" pitchFamily="34" charset="-122"/>
                <a:cs typeface="Calibri" pitchFamily="34" charset="-120"/>
              </a:rPr>
              <a:t>Nouveau projet + facturation</a:t>
            </a:r>
            <a:pPr indent="0" marL="0">
              <a:buNone/>
            </a:pPr>
            <a:endParaRPr lang="en-US" sz="1200" dirty="0"/>
          </a:p>
        </p:txBody>
      </p:sp>
      <p:sp>
        <p:nvSpPr>
          <p:cNvPr id="13" name="Shape 10"/>
          <p:cNvSpPr/>
          <p:nvPr/>
        </p:nvSpPr>
        <p:spPr>
          <a:xfrm>
            <a:off x="6583680" y="2212848"/>
            <a:ext cx="384048" cy="384048"/>
          </a:xfrm>
          <a:prstGeom prst="ellipse">
            <a:avLst/>
          </a:prstGeom>
          <a:solidFill>
            <a:srgbClr val="5B6B8C"/>
          </a:solidFill>
          <a:ln/>
        </p:spPr>
      </p:sp>
      <p:sp>
        <p:nvSpPr>
          <p:cNvPr id="14" name="Text 11"/>
          <p:cNvSpPr/>
          <p:nvPr/>
        </p:nvSpPr>
        <p:spPr>
          <a:xfrm>
            <a:off x="6583680" y="22128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5" name="Text 12"/>
          <p:cNvSpPr/>
          <p:nvPr/>
        </p:nvSpPr>
        <p:spPr>
          <a:xfrm>
            <a:off x="7114032" y="2157984"/>
            <a:ext cx="4498848" cy="566928"/>
          </a:xfrm>
          <a:prstGeom prst="rect">
            <a:avLst/>
          </a:prstGeom>
          <a:noFill/>
          <a:ln/>
        </p:spPr>
        <p:txBody>
          <a:bodyPr wrap="square" lIns="0" tIns="0" rIns="0" bIns="0" rtlCol="0" anchor="t"/>
          <a:lstStyle/>
          <a:p>
            <a:pPr indent="0" marL="0">
              <a:buNone/>
            </a:pPr>
            <a:r>
              <a:rPr lang="en-US" sz="1200" b="1" dirty="0">
                <a:solidFill>
                  <a:srgbClr val="202124"/>
                </a:solidFill>
                <a:latin typeface="Calibri" pitchFamily="34" charset="0"/>
                <a:ea typeface="Calibri" pitchFamily="34" charset="-122"/>
                <a:cs typeface="Calibri" pitchFamily="34" charset="-120"/>
              </a:rPr>
              <a:t>Activer les APIs (§18.1)</a:t>
            </a:r>
            <a:pPr indent="0" marL="0">
              <a:buNone/>
            </a:pPr>
            <a:endParaRPr lang="en-US" sz="1200" dirty="0"/>
          </a:p>
        </p:txBody>
      </p:sp>
      <p:sp>
        <p:nvSpPr>
          <p:cNvPr id="16" name="Shape 13"/>
          <p:cNvSpPr/>
          <p:nvPr/>
        </p:nvSpPr>
        <p:spPr>
          <a:xfrm>
            <a:off x="6583680" y="2779776"/>
            <a:ext cx="384048" cy="384048"/>
          </a:xfrm>
          <a:prstGeom prst="ellipse">
            <a:avLst/>
          </a:prstGeom>
          <a:solidFill>
            <a:srgbClr val="5B6B8C"/>
          </a:solidFill>
          <a:ln/>
        </p:spPr>
      </p:sp>
      <p:sp>
        <p:nvSpPr>
          <p:cNvPr id="17" name="Text 14"/>
          <p:cNvSpPr/>
          <p:nvPr/>
        </p:nvSpPr>
        <p:spPr>
          <a:xfrm>
            <a:off x="6583680" y="277977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5"/>
          <p:cNvSpPr/>
          <p:nvPr/>
        </p:nvSpPr>
        <p:spPr>
          <a:xfrm>
            <a:off x="7114032" y="2724912"/>
            <a:ext cx="4498848" cy="566928"/>
          </a:xfrm>
          <a:prstGeom prst="rect">
            <a:avLst/>
          </a:prstGeom>
          <a:noFill/>
          <a:ln/>
        </p:spPr>
        <p:txBody>
          <a:bodyPr wrap="square" lIns="0" tIns="0" rIns="0" bIns="0" rtlCol="0" anchor="t"/>
          <a:lstStyle/>
          <a:p>
            <a:pPr indent="0" marL="0">
              <a:buNone/>
            </a:pPr>
            <a:r>
              <a:rPr lang="en-US" sz="1200" b="1" dirty="0">
                <a:solidFill>
                  <a:srgbClr val="202124"/>
                </a:solidFill>
                <a:latin typeface="Calibri" pitchFamily="34" charset="0"/>
                <a:ea typeface="Calibri" pitchFamily="34" charset="-122"/>
                <a:cs typeface="Calibri" pitchFamily="34" charset="-120"/>
              </a:rPr>
              <a:t>Artifact Registry + buckets GCS</a:t>
            </a:r>
            <a:pPr indent="0" marL="0">
              <a:buNone/>
            </a:pPr>
            <a:endParaRPr lang="en-US" sz="1200" dirty="0"/>
          </a:p>
        </p:txBody>
      </p:sp>
      <p:sp>
        <p:nvSpPr>
          <p:cNvPr id="19" name="Shape 16"/>
          <p:cNvSpPr/>
          <p:nvPr/>
        </p:nvSpPr>
        <p:spPr>
          <a:xfrm>
            <a:off x="6583680" y="3346704"/>
            <a:ext cx="384048" cy="384048"/>
          </a:xfrm>
          <a:prstGeom prst="ellipse">
            <a:avLst/>
          </a:prstGeom>
          <a:solidFill>
            <a:srgbClr val="5B6B8C"/>
          </a:solidFill>
          <a:ln/>
        </p:spPr>
      </p:sp>
      <p:sp>
        <p:nvSpPr>
          <p:cNvPr id="20" name="Text 17"/>
          <p:cNvSpPr/>
          <p:nvPr/>
        </p:nvSpPr>
        <p:spPr>
          <a:xfrm>
            <a:off x="6583680" y="334670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1" name="Text 18"/>
          <p:cNvSpPr/>
          <p:nvPr/>
        </p:nvSpPr>
        <p:spPr>
          <a:xfrm>
            <a:off x="7114032" y="3291840"/>
            <a:ext cx="4498848" cy="566928"/>
          </a:xfrm>
          <a:prstGeom prst="rect">
            <a:avLst/>
          </a:prstGeom>
          <a:noFill/>
          <a:ln/>
        </p:spPr>
        <p:txBody>
          <a:bodyPr wrap="square" lIns="0" tIns="0" rIns="0" bIns="0" rtlCol="0" anchor="t"/>
          <a:lstStyle/>
          <a:p>
            <a:pPr indent="0" marL="0">
              <a:buNone/>
            </a:pPr>
            <a:r>
              <a:rPr lang="en-US" sz="1200" b="1" dirty="0">
                <a:solidFill>
                  <a:srgbClr val="202124"/>
                </a:solidFill>
                <a:latin typeface="Calibri" pitchFamily="34" charset="0"/>
                <a:ea typeface="Calibri" pitchFamily="34" charset="-122"/>
                <a:cs typeface="Calibri" pitchFamily="34" charset="-120"/>
              </a:rPr>
              <a:t>Recréer SA + rôles IAM</a:t>
            </a:r>
            <a:pPr indent="0" marL="0">
              <a:buNone/>
            </a:pPr>
            <a:endParaRPr lang="en-US" sz="1200" dirty="0"/>
          </a:p>
        </p:txBody>
      </p:sp>
      <p:sp>
        <p:nvSpPr>
          <p:cNvPr id="22" name="Shape 19"/>
          <p:cNvSpPr/>
          <p:nvPr/>
        </p:nvSpPr>
        <p:spPr>
          <a:xfrm>
            <a:off x="6583680" y="3913632"/>
            <a:ext cx="384048" cy="384048"/>
          </a:xfrm>
          <a:prstGeom prst="ellipse">
            <a:avLst/>
          </a:prstGeom>
          <a:solidFill>
            <a:srgbClr val="5B6B8C"/>
          </a:solidFill>
          <a:ln/>
        </p:spPr>
      </p:sp>
      <p:sp>
        <p:nvSpPr>
          <p:cNvPr id="23" name="Text 20"/>
          <p:cNvSpPr/>
          <p:nvPr/>
        </p:nvSpPr>
        <p:spPr>
          <a:xfrm>
            <a:off x="6583680" y="391363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4" name="Text 21"/>
          <p:cNvSpPr/>
          <p:nvPr/>
        </p:nvSpPr>
        <p:spPr>
          <a:xfrm>
            <a:off x="7114032" y="3858768"/>
            <a:ext cx="4498848" cy="566928"/>
          </a:xfrm>
          <a:prstGeom prst="rect">
            <a:avLst/>
          </a:prstGeom>
          <a:noFill/>
          <a:ln/>
        </p:spPr>
        <p:txBody>
          <a:bodyPr wrap="square" lIns="0" tIns="0" rIns="0" bIns="0" rtlCol="0" anchor="t"/>
          <a:lstStyle/>
          <a:p>
            <a:pPr indent="0" marL="0">
              <a:buNone/>
            </a:pPr>
            <a:r>
              <a:rPr lang="en-US" sz="1200" b="1" dirty="0">
                <a:solidFill>
                  <a:srgbClr val="202124"/>
                </a:solidFill>
                <a:latin typeface="Calibri" pitchFamily="34" charset="0"/>
                <a:ea typeface="Calibri" pitchFamily="34" charset="-122"/>
                <a:cs typeface="Calibri" pitchFamily="34" charset="-120"/>
              </a:rPr>
              <a:t>Transférer les checkpoints (gsutil)</a:t>
            </a:r>
            <a:pPr indent="0" marL="0">
              <a:buNone/>
            </a:pPr>
            <a:endParaRPr lang="en-US" sz="1200" dirty="0"/>
          </a:p>
        </p:txBody>
      </p:sp>
      <p:sp>
        <p:nvSpPr>
          <p:cNvPr id="25" name="Shape 22"/>
          <p:cNvSpPr/>
          <p:nvPr/>
        </p:nvSpPr>
        <p:spPr>
          <a:xfrm>
            <a:off x="6583680" y="4480560"/>
            <a:ext cx="384048" cy="384048"/>
          </a:xfrm>
          <a:prstGeom prst="ellipse">
            <a:avLst/>
          </a:prstGeom>
          <a:solidFill>
            <a:srgbClr val="5B6B8C"/>
          </a:solidFill>
          <a:ln/>
        </p:spPr>
      </p:sp>
      <p:sp>
        <p:nvSpPr>
          <p:cNvPr id="26" name="Text 23"/>
          <p:cNvSpPr/>
          <p:nvPr/>
        </p:nvSpPr>
        <p:spPr>
          <a:xfrm>
            <a:off x="6583680" y="44805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7" name="Text 24"/>
          <p:cNvSpPr/>
          <p:nvPr/>
        </p:nvSpPr>
        <p:spPr>
          <a:xfrm>
            <a:off x="7114032" y="4425696"/>
            <a:ext cx="4498848" cy="566928"/>
          </a:xfrm>
          <a:prstGeom prst="rect">
            <a:avLst/>
          </a:prstGeom>
          <a:noFill/>
          <a:ln/>
        </p:spPr>
        <p:txBody>
          <a:bodyPr wrap="square" lIns="0" tIns="0" rIns="0" bIns="0" rtlCol="0" anchor="t"/>
          <a:lstStyle/>
          <a:p>
            <a:pPr indent="0" marL="0">
              <a:buNone/>
            </a:pPr>
            <a:r>
              <a:rPr lang="en-US" sz="1200" b="1" dirty="0">
                <a:solidFill>
                  <a:srgbClr val="202124"/>
                </a:solidFill>
                <a:latin typeface="Calibri" pitchFamily="34" charset="0"/>
                <a:ea typeface="Calibri" pitchFamily="34" charset="-122"/>
                <a:cs typeface="Calibri" pitchFamily="34" charset="-120"/>
              </a:rPr>
              <a:t>1er build (~45–60 min) + vérifier</a:t>
            </a:r>
            <a:pPr indent="0" marL="0">
              <a:buNone/>
            </a:pPr>
            <a:endParaRPr lang="en-US" sz="1200" dirty="0"/>
          </a:p>
        </p:txBody>
      </p:sp>
      <p:sp>
        <p:nvSpPr>
          <p:cNvPr id="28" name="Text 25"/>
          <p:cNvSpPr/>
          <p:nvPr/>
        </p:nvSpPr>
        <p:spPr>
          <a:xfrm>
            <a:off x="548640" y="6510528"/>
            <a:ext cx="11155680" cy="274320"/>
          </a:xfrm>
          <a:prstGeom prst="rect">
            <a:avLst/>
          </a:prstGeom>
          <a:noFill/>
          <a:ln/>
        </p:spPr>
        <p:txBody>
          <a:bodyPr wrap="square" lIns="0" tIns="0" rIns="0" bIns="0" rtlCol="0" anchor="ctr"/>
          <a:lstStyle/>
          <a:p>
            <a:pPr indent="0" marL="0">
              <a:buNone/>
            </a:pPr>
            <a:r>
              <a:rPr lang="en-US" sz="950" i="1" dirty="0">
                <a:solidFill>
                  <a:srgbClr val="5F6368"/>
                </a:solidFill>
                <a:latin typeface="Calibri" pitchFamily="34" charset="0"/>
                <a:ea typeface="Calibri" pitchFamily="34" charset="-122"/>
                <a:cs typeface="Calibri" pitchFamily="34" charset="-120"/>
              </a:rPr>
              <a:t>Source : README §18.10, §18.11 — variables &amp; checklist de migration</a:t>
            </a:r>
            <a:endParaRPr lang="en-US" sz="950" dirty="0"/>
          </a:p>
        </p:txBody>
      </p:sp>
      <p:sp>
        <p:nvSpPr>
          <p:cNvPr id="29" name="Text 26"/>
          <p:cNvSpPr/>
          <p:nvPr/>
        </p:nvSpPr>
        <p:spPr>
          <a:xfrm>
            <a:off x="5212080" y="5559552"/>
            <a:ext cx="3200400" cy="182880"/>
          </a:xfrm>
          <a:prstGeom prst="rect">
            <a:avLst/>
          </a:prstGeom>
          <a:noFill/>
          <a:ln/>
        </p:spPr>
        <p:txBody>
          <a:bodyPr wrap="square" lIns="0" tIns="0" rIns="0" bIns="0" rtlCol="0" anchor="ctr"/>
          <a:lstStyle/>
          <a:p>
            <a:pPr indent="0" marL="0">
              <a:buNone/>
            </a:pPr>
            <a:r>
              <a:rPr lang="en-US" sz="850" b="1" dirty="0">
                <a:solidFill>
                  <a:srgbClr val="97A1B5"/>
                </a:solidFill>
                <a:latin typeface="Calibri" pitchFamily="34" charset="0"/>
                <a:ea typeface="Calibri" pitchFamily="34" charset="-122"/>
                <a:cs typeface="Calibri" pitchFamily="34" charset="-120"/>
              </a:rPr>
              <a:t>Tsantaniaina Rakotonjanahary Ambaorasoa Guillaume</a:t>
            </a:r>
            <a:endParaRPr lang="en-US" sz="850" dirty="0"/>
          </a:p>
        </p:txBody>
      </p:sp>
      <p:sp>
        <p:nvSpPr>
          <p:cNvPr id="30" name="Shape 27"/>
          <p:cNvSpPr/>
          <p:nvPr/>
        </p:nvSpPr>
        <p:spPr>
          <a:xfrm>
            <a:off x="11137392" y="5852160"/>
            <a:ext cx="914400" cy="914400"/>
          </a:xfrm>
          <a:prstGeom prst="roundRect">
            <a:avLst>
              <a:gd name="adj" fmla="val 10000"/>
            </a:avLst>
          </a:prstGeom>
          <a:solidFill>
            <a:srgbClr val="FFFFFF"/>
          </a:solidFill>
          <a:ln w="12700">
            <a:solidFill>
              <a:srgbClr val="D6DEEC"/>
            </a:solidFill>
            <a:prstDash val="solid"/>
          </a:ln>
          <a:effectLst>
            <a:outerShdw sx="100000" sy="100000" kx="0" ky="0" algn="bl" rotWithShape="0" blurRad="88900" dist="38100" dir="5400000">
              <a:srgbClr val="8A94AD">
                <a:alpha val="26000"/>
              </a:srgbClr>
            </a:outerShdw>
          </a:effectLst>
        </p:spPr>
      </p:sp>
      <p:pic>
        <p:nvPicPr>
          <p:cNvPr id="31" name="Image 0" descr="logos/logo_mdn.png">    </p:cNvPr>
          <p:cNvPicPr>
            <a:picLocks noChangeAspect="1"/>
          </p:cNvPicPr>
          <p:nvPr/>
        </p:nvPicPr>
        <p:blipFill>
          <a:blip r:embed="rId1"/>
          <a:stretch>
            <a:fillRect/>
          </a:stretch>
        </p:blipFill>
        <p:spPr>
          <a:xfrm>
            <a:off x="11237976" y="5952744"/>
            <a:ext cx="713232" cy="713232"/>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34A853"/>
          </a:solidFill>
          <a:ln/>
        </p:spPr>
      </p:sp>
      <p:sp>
        <p:nvSpPr>
          <p:cNvPr id="3" name="Shape 1"/>
          <p:cNvSpPr/>
          <p:nvPr/>
        </p:nvSpPr>
        <p:spPr>
          <a:xfrm>
            <a:off x="146304" y="0"/>
            <a:ext cx="12042648" cy="1078992"/>
          </a:xfrm>
          <a:prstGeom prst="rect">
            <a:avLst/>
          </a:prstGeom>
          <a:solidFill>
            <a:srgbClr val="1B2A4A"/>
          </a:solidFill>
          <a:ln/>
        </p:spPr>
      </p:sp>
      <p:sp>
        <p:nvSpPr>
          <p:cNvPr id="4" name="Text 2"/>
          <p:cNvSpPr/>
          <p:nvPr/>
        </p:nvSpPr>
        <p:spPr>
          <a:xfrm>
            <a:off x="548640" y="182880"/>
            <a:ext cx="9601200" cy="292608"/>
          </a:xfrm>
          <a:prstGeom prst="rect">
            <a:avLst/>
          </a:prstGeom>
          <a:noFill/>
          <a:ln/>
        </p:spPr>
        <p:txBody>
          <a:bodyPr wrap="square" lIns="0" tIns="0" rIns="0" bIns="0" rtlCol="0" anchor="ctr"/>
          <a:lstStyle/>
          <a:p>
            <a:pPr indent="0" marL="0">
              <a:buNone/>
            </a:pPr>
            <a:r>
              <a:rPr lang="en-US" sz="1200" b="1" spc="150" kern="0" dirty="0">
                <a:solidFill>
                  <a:srgbClr val="81C995"/>
                </a:solidFill>
                <a:latin typeface="Calibri" pitchFamily="34" charset="0"/>
                <a:ea typeface="Calibri" pitchFamily="34" charset="-122"/>
                <a:cs typeface="Calibri" pitchFamily="34" charset="-120"/>
              </a:rPr>
              <a:t>BUDGET BÊTA ~42 $/MOIS (&lt; 100 USERS/JOUR)</a:t>
            </a:r>
            <a:endParaRPr lang="en-US" sz="1200" dirty="0"/>
          </a:p>
        </p:txBody>
      </p:sp>
      <p:sp>
        <p:nvSpPr>
          <p:cNvPr id="5" name="Text 3"/>
          <p:cNvSpPr/>
          <p:nvPr/>
        </p:nvSpPr>
        <p:spPr>
          <a:xfrm>
            <a:off x="530352" y="438912"/>
            <a:ext cx="9692640" cy="566928"/>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Coûts</a:t>
            </a:r>
            <a:endParaRPr lang="en-US" sz="2700" dirty="0"/>
          </a:p>
        </p:txBody>
      </p:sp>
      <p:sp>
        <p:nvSpPr>
          <p:cNvPr id="6" name="Text 4"/>
          <p:cNvSpPr/>
          <p:nvPr/>
        </p:nvSpPr>
        <p:spPr>
          <a:xfrm>
            <a:off x="8229600" y="182880"/>
            <a:ext cx="1828800" cy="274320"/>
          </a:xfrm>
          <a:prstGeom prst="rect">
            <a:avLst/>
          </a:prstGeom>
          <a:noFill/>
          <a:ln/>
        </p:spPr>
        <p:txBody>
          <a:bodyPr wrap="square" lIns="0" tIns="0" rIns="0" bIns="0" rtlCol="0" anchor="ctr"/>
          <a:lstStyle/>
          <a:p>
            <a:pPr algn="r" indent="0" marL="0">
              <a:buNone/>
            </a:pPr>
            <a:r>
              <a:rPr lang="en-US" sz="1050" b="1" spc="100" kern="0" dirty="0">
                <a:solidFill>
                  <a:srgbClr val="8FA0C4"/>
                </a:solidFill>
                <a:latin typeface="Calibri" pitchFamily="34" charset="0"/>
                <a:ea typeface="Calibri" pitchFamily="34" charset="-122"/>
                <a:cs typeface="Calibri" pitchFamily="34" charset="-120"/>
              </a:rPr>
              <a:t>PARTIE 3</a:t>
            </a:r>
            <a:endParaRPr lang="en-US" sz="1050" dirty="0"/>
          </a:p>
        </p:txBody>
      </p:sp>
      <p:sp>
        <p:nvSpPr>
          <p:cNvPr id="7" name="Text 5"/>
          <p:cNvSpPr/>
          <p:nvPr/>
        </p:nvSpPr>
        <p:spPr>
          <a:xfrm>
            <a:off x="548640" y="1280160"/>
            <a:ext cx="7315200" cy="274320"/>
          </a:xfrm>
          <a:prstGeom prst="rect">
            <a:avLst/>
          </a:prstGeom>
          <a:noFill/>
          <a:ln/>
        </p:spPr>
        <p:txBody>
          <a:bodyPr wrap="square" lIns="0" tIns="0" rIns="0" bIns="0" rtlCol="0" anchor="ctr"/>
          <a:lstStyle/>
          <a:p>
            <a:pPr indent="0" marL="0">
              <a:buNone/>
            </a:pPr>
            <a:r>
              <a:rPr lang="en-US" sz="1200" b="1" spc="100" kern="0" dirty="0">
                <a:solidFill>
                  <a:srgbClr val="1E8E3E"/>
                </a:solidFill>
                <a:latin typeface="Calibri" pitchFamily="34" charset="0"/>
                <a:ea typeface="Calibri" pitchFamily="34" charset="-122"/>
                <a:cs typeface="Calibri" pitchFamily="34" charset="-120"/>
              </a:rPr>
              <a:t>RÉPARTITION MENSUELLE</a:t>
            </a:r>
            <a:endParaRPr lang="en-US" sz="12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5760720" cy="914400"/>
        </p:xfrm>
        <a:graphic>
          <a:graphicData uri="http://schemas.openxmlformats.org/drawingml/2006/table">
            <a:tbl>
              <a:tblPr/>
              <a:tblGrid>
                <a:gridCol w="3657600"/>
                <a:gridCol w="2103120"/>
              </a:tblGrid>
              <a:tr h="0">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Poste</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8E3E"/>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Coût/mois</a:t>
                      </a:r>
                      <a:endParaRPr lang="en-US" sz="10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1E8E3E"/>
                    </a:solidFill>
                  </a:tcPr>
                </a:tc>
              </a:tr>
              <a:tr h="0">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Cloud Run GPU L4 (50 h)</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33,60 $</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r>
              <a:tr h="0">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Vertex AI Monitoring</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3,00 $</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Vertex Custom Training (2/mois)</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2,24 $</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r>
              <a:tr h="0">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Cloud Run CPU (signaling)</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2,00 $</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Cloud Storage (50 GB)</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1,00 $</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r>
              <a:tr h="0">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Artifact Registry</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0,50 $</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r>
              <a:tr h="0">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Pipelines · Registry · Build</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~0,12 $</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r>
              <a:tr h="0">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TOTAL</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02124"/>
                          </a:solidFill>
                          <a:latin typeface="Calibri" pitchFamily="34" charset="0"/>
                          <a:ea typeface="Calibri" pitchFamily="34" charset="-122"/>
                          <a:cs typeface="Calibri" pitchFamily="34" charset="-120"/>
                        </a:rPr>
                        <a:t>~42 $/mois</a:t>
                      </a:r>
                      <a:endParaRPr lang="en-US" sz="10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r>
            </a:tbl>
          </a:graphicData>
        </a:graphic>
      </p:graphicFrame>
      <p:sp>
        <p:nvSpPr>
          <p:cNvPr id="9" name="Text 6"/>
          <p:cNvSpPr/>
          <p:nvPr/>
        </p:nvSpPr>
        <p:spPr>
          <a:xfrm>
            <a:off x="6583680" y="1280160"/>
            <a:ext cx="5486400" cy="274320"/>
          </a:xfrm>
          <a:prstGeom prst="rect">
            <a:avLst/>
          </a:prstGeom>
          <a:noFill/>
          <a:ln/>
        </p:spPr>
        <p:txBody>
          <a:bodyPr wrap="square" lIns="0" tIns="0" rIns="0" bIns="0" rtlCol="0" anchor="ctr"/>
          <a:lstStyle/>
          <a:p>
            <a:pPr indent="0" marL="0">
              <a:buNone/>
            </a:pPr>
            <a:r>
              <a:rPr lang="en-US" sz="1200" b="1" spc="100" kern="0" dirty="0">
                <a:solidFill>
                  <a:srgbClr val="1E8E3E"/>
                </a:solidFill>
                <a:latin typeface="Calibri" pitchFamily="34" charset="0"/>
                <a:ea typeface="Calibri" pitchFamily="34" charset="-122"/>
                <a:cs typeface="Calibri" pitchFamily="34" charset="-120"/>
              </a:rPr>
              <a:t>OPTIMISATIONS ACTIVES</a:t>
            </a:r>
            <a:endParaRPr lang="en-US" sz="1200" dirty="0"/>
          </a:p>
        </p:txBody>
      </p:sp>
      <p:sp>
        <p:nvSpPr>
          <p:cNvPr id="10" name="Text 7"/>
          <p:cNvSpPr/>
          <p:nvPr/>
        </p:nvSpPr>
        <p:spPr>
          <a:xfrm>
            <a:off x="6583680" y="1645920"/>
            <a:ext cx="5029200" cy="2377440"/>
          </a:xfrm>
          <a:prstGeom prst="rect">
            <a:avLst/>
          </a:prstGeom>
          <a:noFill/>
          <a:ln/>
        </p:spPr>
        <p:txBody>
          <a:bodyPr wrap="square" lIns="0" tIns="0" rIns="0" bIns="0" rtlCol="0" anchor="t"/>
          <a:lstStyle/>
          <a:p>
            <a:pPr marL="190500" indent="-190500">
              <a:spcAft>
                <a:spcPts val="600"/>
              </a:spcAft>
              <a:buSzPct val="100000"/>
              <a:buChar char="•"/>
            </a:pPr>
            <a:r>
              <a:rPr lang="en-US" sz="1250" dirty="0">
                <a:solidFill>
                  <a:srgbClr val="202124"/>
                </a:solidFill>
                <a:latin typeface="Calibri" pitchFamily="34" charset="0"/>
                <a:ea typeface="Calibri" pitchFamily="34" charset="-122"/>
                <a:cs typeface="Calibri" pitchFamily="34" charset="-120"/>
              </a:rPr>
              <a:t>Scale-to-zero (Cloud Run) : 0 € hors heures actives</a:t>
            </a:r>
            <a:endParaRPr lang="en-US" sz="1250" dirty="0"/>
          </a:p>
          <a:p>
            <a:pPr marL="190500" indent="-190500">
              <a:spcAft>
                <a:spcPts val="600"/>
              </a:spcAft>
              <a:buSzPct val="100000"/>
              <a:buChar char="•"/>
            </a:pPr>
            <a:r>
              <a:rPr lang="en-US" sz="1250" dirty="0">
                <a:solidFill>
                  <a:srgbClr val="202124"/>
                </a:solidFill>
                <a:latin typeface="Calibri" pitchFamily="34" charset="0"/>
                <a:ea typeface="Calibri" pitchFamily="34" charset="-122"/>
                <a:cs typeface="Calibri" pitchFamily="34" charset="-120"/>
              </a:rPr>
              <a:t>Spot instances (fine-tuning) : −60 % à −91 %</a:t>
            </a:r>
            <a:endParaRPr lang="en-US" sz="1250" dirty="0"/>
          </a:p>
          <a:p>
            <a:pPr marL="190500" indent="-190500">
              <a:spcAft>
                <a:spcPts val="600"/>
              </a:spcAft>
              <a:buSzPct val="100000"/>
              <a:buChar char="•"/>
            </a:pPr>
            <a:r>
              <a:rPr lang="en-US" sz="1250" dirty="0">
                <a:solidFill>
                  <a:srgbClr val="202124"/>
                </a:solidFill>
                <a:latin typeface="Calibri" pitchFamily="34" charset="0"/>
                <a:ea typeface="Calibri" pitchFamily="34" charset="-122"/>
                <a:cs typeface="Calibri" pitchFamily="34" charset="-120"/>
              </a:rPr>
              <a:t>INT8 (CTranslate2) : −50 % VRAM, ×2 vitesse</a:t>
            </a:r>
            <a:endParaRPr lang="en-US" sz="1250" dirty="0"/>
          </a:p>
          <a:p>
            <a:pPr marL="190500" indent="-190500">
              <a:spcAft>
                <a:spcPts val="600"/>
              </a:spcAft>
              <a:buSzPct val="100000"/>
              <a:buChar char="•"/>
            </a:pPr>
            <a:r>
              <a:rPr lang="en-US" sz="1250" dirty="0">
                <a:solidFill>
                  <a:srgbClr val="202124"/>
                </a:solidFill>
                <a:latin typeface="Calibri" pitchFamily="34" charset="0"/>
                <a:ea typeface="Calibri" pitchFamily="34" charset="-122"/>
                <a:cs typeface="Calibri" pitchFamily="34" charset="-120"/>
              </a:rPr>
              <a:t>Kaggle T4 ×2 gratuit : 30 h/semaine</a:t>
            </a:r>
            <a:endParaRPr lang="en-US" sz="1250" dirty="0"/>
          </a:p>
          <a:p>
            <a:pPr marL="190500" indent="-190500">
              <a:spcAft>
                <a:spcPts val="600"/>
              </a:spcAft>
              <a:buSzPct val="100000"/>
              <a:buChar char="•"/>
            </a:pPr>
            <a:r>
              <a:rPr lang="en-US" sz="1250" dirty="0">
                <a:solidFill>
                  <a:srgbClr val="202124"/>
                </a:solidFill>
                <a:latin typeface="Calibri" pitchFamily="34" charset="0"/>
                <a:ea typeface="Calibri" pitchFamily="34" charset="-122"/>
                <a:cs typeface="Calibri" pitchFamily="34" charset="-120"/>
              </a:rPr>
              <a:t>LoRA (vs full FT) : fraction des paramètres</a:t>
            </a:r>
            <a:endParaRPr lang="en-US" sz="1250" dirty="0"/>
          </a:p>
        </p:txBody>
      </p:sp>
      <p:sp>
        <p:nvSpPr>
          <p:cNvPr id="11" name="Shape 8"/>
          <p:cNvSpPr/>
          <p:nvPr/>
        </p:nvSpPr>
        <p:spPr>
          <a:xfrm>
            <a:off x="6583680" y="4206240"/>
            <a:ext cx="5029200" cy="1691640"/>
          </a:xfrm>
          <a:prstGeom prst="rect">
            <a:avLst/>
          </a:prstGeom>
          <a:solidFill>
            <a:srgbClr val="EEF2FB"/>
          </a:solidFill>
          <a:ln/>
        </p:spPr>
      </p:sp>
      <p:sp>
        <p:nvSpPr>
          <p:cNvPr id="12" name="Shape 9"/>
          <p:cNvSpPr/>
          <p:nvPr/>
        </p:nvSpPr>
        <p:spPr>
          <a:xfrm>
            <a:off x="6583680" y="4206240"/>
            <a:ext cx="91440" cy="1691640"/>
          </a:xfrm>
          <a:prstGeom prst="rect">
            <a:avLst/>
          </a:prstGeom>
          <a:solidFill>
            <a:srgbClr val="34A853"/>
          </a:solidFill>
          <a:ln/>
        </p:spPr>
      </p:sp>
      <p:sp>
        <p:nvSpPr>
          <p:cNvPr id="13" name="Text 10"/>
          <p:cNvSpPr/>
          <p:nvPr/>
        </p:nvSpPr>
        <p:spPr>
          <a:xfrm>
            <a:off x="6821424" y="4279392"/>
            <a:ext cx="4645152" cy="1545336"/>
          </a:xfrm>
          <a:prstGeom prst="rect">
            <a:avLst/>
          </a:prstGeom>
          <a:noFill/>
          <a:ln/>
        </p:spPr>
        <p:txBody>
          <a:bodyPr wrap="square" lIns="0" tIns="0" rIns="0" bIns="0" rtlCol="0" anchor="ctr"/>
          <a:lstStyle/>
          <a:p>
            <a:pPr indent="0" marL="0">
              <a:buNone/>
            </a:pPr>
            <a:r>
              <a:rPr lang="en-US" sz="1100" b="1" dirty="0">
                <a:solidFill>
                  <a:srgbClr val="1E8E3E"/>
                </a:solidFill>
                <a:latin typeface="Calibri" pitchFamily="34" charset="0"/>
                <a:ea typeface="Calibri" pitchFamily="34" charset="-122"/>
                <a:cs typeface="Calibri" pitchFamily="34" charset="-120"/>
              </a:rPr>
              <a:t>ÉVOLUTION PAR PHASE   </a:t>
            </a:r>
            <a:pPr indent="0" marL="0">
              <a:buNone/>
            </a:pPr>
            <a:r>
              <a:rPr lang="en-US" sz="1200" dirty="0">
                <a:solidFill>
                  <a:srgbClr val="202124"/>
                </a:solidFill>
                <a:latin typeface="Calibri" pitchFamily="34" charset="0"/>
                <a:ea typeface="Calibri" pitchFamily="34" charset="-122"/>
                <a:cs typeface="Calibri" pitchFamily="34" charset="-120"/>
              </a:rPr>
              <a:t>Bêta &lt; 100 u/j : ~42 $. Croissance 100–500 u/j : ~100 $. Production &gt; 500 u/j : ~500 $+ → migrer vers un Vertex AI Endpoint.</a:t>
            </a:r>
            <a:endParaRPr lang="en-US" sz="1100" dirty="0"/>
          </a:p>
        </p:txBody>
      </p:sp>
      <p:sp>
        <p:nvSpPr>
          <p:cNvPr id="14" name="Text 11"/>
          <p:cNvSpPr/>
          <p:nvPr/>
        </p:nvSpPr>
        <p:spPr>
          <a:xfrm>
            <a:off x="548640" y="6510528"/>
            <a:ext cx="11155680" cy="274320"/>
          </a:xfrm>
          <a:prstGeom prst="rect">
            <a:avLst/>
          </a:prstGeom>
          <a:noFill/>
          <a:ln/>
        </p:spPr>
        <p:txBody>
          <a:bodyPr wrap="square" lIns="0" tIns="0" rIns="0" bIns="0" rtlCol="0" anchor="ctr"/>
          <a:lstStyle/>
          <a:p>
            <a:pPr indent="0" marL="0">
              <a:buNone/>
            </a:pPr>
            <a:r>
              <a:rPr lang="en-US" sz="950" i="1" dirty="0">
                <a:solidFill>
                  <a:srgbClr val="5F6368"/>
                </a:solidFill>
                <a:latin typeface="Calibri" pitchFamily="34" charset="0"/>
                <a:ea typeface="Calibri" pitchFamily="34" charset="-122"/>
                <a:cs typeface="Calibri" pitchFamily="34" charset="-120"/>
              </a:rPr>
              <a:t>Source : README §21 — référence de coûts</a:t>
            </a:r>
            <a:endParaRPr lang="en-US" sz="950" dirty="0"/>
          </a:p>
        </p:txBody>
      </p:sp>
      <p:sp>
        <p:nvSpPr>
          <p:cNvPr id="15" name="Text 12"/>
          <p:cNvSpPr/>
          <p:nvPr/>
        </p:nvSpPr>
        <p:spPr>
          <a:xfrm>
            <a:off x="548640" y="6076188"/>
            <a:ext cx="3200400" cy="182880"/>
          </a:xfrm>
          <a:prstGeom prst="rect">
            <a:avLst/>
          </a:prstGeom>
          <a:noFill/>
          <a:ln/>
        </p:spPr>
        <p:txBody>
          <a:bodyPr wrap="square" lIns="0" tIns="0" rIns="0" bIns="0" rtlCol="0" anchor="ctr"/>
          <a:lstStyle/>
          <a:p>
            <a:pPr indent="0" marL="0">
              <a:buNone/>
            </a:pPr>
            <a:r>
              <a:rPr lang="en-US" sz="850" b="1" dirty="0">
                <a:solidFill>
                  <a:srgbClr val="97A1B5"/>
                </a:solidFill>
                <a:latin typeface="Calibri" pitchFamily="34" charset="0"/>
                <a:ea typeface="Calibri" pitchFamily="34" charset="-122"/>
                <a:cs typeface="Calibri" pitchFamily="34" charset="-120"/>
              </a:rPr>
              <a:t>Tsantaniaina Rakotonjanahary Ambaorasoa Guillaume</a:t>
            </a:r>
            <a:endParaRPr lang="en-US" sz="850" dirty="0"/>
          </a:p>
        </p:txBody>
      </p:sp>
      <p:sp>
        <p:nvSpPr>
          <p:cNvPr id="16" name="Shape 13"/>
          <p:cNvSpPr/>
          <p:nvPr/>
        </p:nvSpPr>
        <p:spPr>
          <a:xfrm>
            <a:off x="11137392" y="5852160"/>
            <a:ext cx="914400" cy="914400"/>
          </a:xfrm>
          <a:prstGeom prst="roundRect">
            <a:avLst>
              <a:gd name="adj" fmla="val 10000"/>
            </a:avLst>
          </a:prstGeom>
          <a:solidFill>
            <a:srgbClr val="FFFFFF"/>
          </a:solidFill>
          <a:ln w="12700">
            <a:solidFill>
              <a:srgbClr val="D6DEEC"/>
            </a:solidFill>
            <a:prstDash val="solid"/>
          </a:ln>
          <a:effectLst>
            <a:outerShdw sx="100000" sy="100000" kx="0" ky="0" algn="bl" rotWithShape="0" blurRad="88900" dist="38100" dir="5400000">
              <a:srgbClr val="8A94AD">
                <a:alpha val="26000"/>
              </a:srgbClr>
            </a:outerShdw>
          </a:effectLst>
        </p:spPr>
      </p:sp>
      <p:pic>
        <p:nvPicPr>
          <p:cNvPr id="17" name="Image 0" descr="logos/logo_mdn.png">    </p:cNvPr>
          <p:cNvPicPr>
            <a:picLocks noChangeAspect="1"/>
          </p:cNvPicPr>
          <p:nvPr/>
        </p:nvPicPr>
        <p:blipFill>
          <a:blip r:embed="rId1"/>
          <a:stretch>
            <a:fillRect/>
          </a:stretch>
        </p:blipFill>
        <p:spPr>
          <a:xfrm>
            <a:off x="11237976" y="5952744"/>
            <a:ext cx="713232" cy="713232"/>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9334E6"/>
          </a:solidFill>
          <a:ln/>
        </p:spPr>
      </p:sp>
      <p:sp>
        <p:nvSpPr>
          <p:cNvPr id="3" name="Shape 1"/>
          <p:cNvSpPr/>
          <p:nvPr/>
        </p:nvSpPr>
        <p:spPr>
          <a:xfrm>
            <a:off x="146304" y="0"/>
            <a:ext cx="12042648" cy="1078992"/>
          </a:xfrm>
          <a:prstGeom prst="rect">
            <a:avLst/>
          </a:prstGeom>
          <a:solidFill>
            <a:srgbClr val="1B2A4A"/>
          </a:solidFill>
          <a:ln/>
        </p:spPr>
      </p:sp>
      <p:sp>
        <p:nvSpPr>
          <p:cNvPr id="4" name="Text 2"/>
          <p:cNvSpPr/>
          <p:nvPr/>
        </p:nvSpPr>
        <p:spPr>
          <a:xfrm>
            <a:off x="548640" y="182880"/>
            <a:ext cx="9601200" cy="292608"/>
          </a:xfrm>
          <a:prstGeom prst="rect">
            <a:avLst/>
          </a:prstGeom>
          <a:noFill/>
          <a:ln/>
        </p:spPr>
        <p:txBody>
          <a:bodyPr wrap="square" lIns="0" tIns="0" rIns="0" bIns="0" rtlCol="0" anchor="ctr"/>
          <a:lstStyle/>
          <a:p>
            <a:pPr indent="0" marL="0">
              <a:buNone/>
            </a:pPr>
            <a:r>
              <a:rPr lang="en-US" sz="1200" b="1" spc="150" kern="0" dirty="0">
                <a:solidFill>
                  <a:srgbClr val="C58AF9"/>
                </a:solidFill>
                <a:latin typeface="Calibri" pitchFamily="34" charset="0"/>
                <a:ea typeface="Calibri" pitchFamily="34" charset="-122"/>
                <a:cs typeface="Calibri" pitchFamily="34" charset="-120"/>
              </a:rPr>
              <a:t>OÙ EN EST LE PROJET</a:t>
            </a:r>
            <a:endParaRPr lang="en-US" sz="1200" dirty="0"/>
          </a:p>
        </p:txBody>
      </p:sp>
      <p:sp>
        <p:nvSpPr>
          <p:cNvPr id="5" name="Text 3"/>
          <p:cNvSpPr/>
          <p:nvPr/>
        </p:nvSpPr>
        <p:spPr>
          <a:xfrm>
            <a:off x="530352" y="438912"/>
            <a:ext cx="9692640" cy="566928"/>
          </a:xfrm>
          <a:prstGeom prst="rect">
            <a:avLst/>
          </a:prstGeom>
          <a:noFill/>
          <a:ln/>
        </p:spPr>
        <p:txBody>
          <a:bodyPr wrap="square" lIns="0" tIns="0" rIns="0" bIns="0" rtlCol="0" anchor="ctr"/>
          <a:lstStyle/>
          <a:p>
            <a:pPr indent="0" marL="0">
              <a:buNone/>
            </a:pPr>
            <a:r>
              <a:rPr lang="en-US" sz="2700" b="1" dirty="0">
                <a:solidFill>
                  <a:srgbClr val="FFFFFF"/>
                </a:solidFill>
                <a:latin typeface="Georgia" pitchFamily="34" charset="0"/>
                <a:ea typeface="Georgia" pitchFamily="34" charset="-122"/>
                <a:cs typeface="Georgia" pitchFamily="34" charset="-120"/>
              </a:rPr>
              <a:t>Feuille de route</a:t>
            </a:r>
            <a:endParaRPr lang="en-US" sz="2700" dirty="0"/>
          </a:p>
        </p:txBody>
      </p:sp>
      <p:sp>
        <p:nvSpPr>
          <p:cNvPr id="6" name="Text 4"/>
          <p:cNvSpPr/>
          <p:nvPr/>
        </p:nvSpPr>
        <p:spPr>
          <a:xfrm>
            <a:off x="8229600" y="182880"/>
            <a:ext cx="1828800" cy="274320"/>
          </a:xfrm>
          <a:prstGeom prst="rect">
            <a:avLst/>
          </a:prstGeom>
          <a:noFill/>
          <a:ln/>
        </p:spPr>
        <p:txBody>
          <a:bodyPr wrap="square" lIns="0" tIns="0" rIns="0" bIns="0" rtlCol="0" anchor="ctr"/>
          <a:lstStyle/>
          <a:p>
            <a:pPr algn="r" indent="0" marL="0">
              <a:buNone/>
            </a:pPr>
            <a:r>
              <a:rPr lang="en-US" sz="1050" b="1" spc="100" kern="0" dirty="0">
                <a:solidFill>
                  <a:srgbClr val="8FA0C4"/>
                </a:solidFill>
                <a:latin typeface="Calibri" pitchFamily="34" charset="0"/>
                <a:ea typeface="Calibri" pitchFamily="34" charset="-122"/>
                <a:cs typeface="Calibri" pitchFamily="34" charset="-120"/>
              </a:rPr>
              <a:t>PARTIE 3</a:t>
            </a:r>
            <a:endParaRPr lang="en-US" sz="105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1828800"/>
                <a:gridCol w="2103120"/>
                <a:gridCol w="7132320"/>
              </a:tblGrid>
              <a:tr h="0">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Phase</a:t>
                      </a:r>
                      <a:endParaRPr lang="en-US" sz="11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8430CE"/>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Statut</a:t>
                      </a:r>
                      <a:endParaRPr lang="en-US" sz="11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8430CE"/>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Livrables clés</a:t>
                      </a:r>
                      <a:endParaRPr lang="en-US" sz="115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8430CE"/>
                    </a:solidFill>
                  </a:tcPr>
                </a:tc>
              </a:tr>
              <a:tr h="0">
                <a:tc>
                  <a:txBody>
                    <a:bodyPr/>
                    <a:lstStyle/>
                    <a:p>
                      <a:pPr algn="l" indent="0" marL="0">
                        <a:buNone/>
                      </a:pPr>
                      <a:r>
                        <a:rPr lang="en-US" sz="1100" dirty="0">
                          <a:solidFill>
                            <a:srgbClr val="202124"/>
                          </a:solidFill>
                          <a:latin typeface="Calibri" pitchFamily="34" charset="0"/>
                          <a:ea typeface="Calibri" pitchFamily="34" charset="-122"/>
                          <a:cs typeface="Calibri" pitchFamily="34" charset="-120"/>
                        </a:rPr>
                        <a:t>1 — Baseline</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100" dirty="0">
                          <a:solidFill>
                            <a:srgbClr val="202124"/>
                          </a:solidFill>
                          <a:latin typeface="Calibri" pitchFamily="34" charset="0"/>
                          <a:ea typeface="Calibri" pitchFamily="34" charset="-122"/>
                          <a:cs typeface="Calibri" pitchFamily="34" charset="-120"/>
                        </a:rPr>
                        <a:t>✅ Fait</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100" dirty="0">
                          <a:solidFill>
                            <a:srgbClr val="202124"/>
                          </a:solidFill>
                          <a:latin typeface="Calibri" pitchFamily="34" charset="0"/>
                          <a:ea typeface="Calibri" pitchFamily="34" charset="-122"/>
                          <a:cs typeface="Calibri" pitchFamily="34" charset="-120"/>
                        </a:rPr>
                        <a:t>Pipeline VAD→ASR→NLLB→TTS · WebSocket · UI temps réel · images Docker</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r>
              <a:tr h="0">
                <a:tc>
                  <a:txBody>
                    <a:bodyPr/>
                    <a:lstStyle/>
                    <a:p>
                      <a:pPr algn="l" indent="0" marL="0">
                        <a:buNone/>
                      </a:pPr>
                      <a:r>
                        <a:rPr lang="en-US" sz="1100" dirty="0">
                          <a:solidFill>
                            <a:srgbClr val="202124"/>
                          </a:solidFill>
                          <a:latin typeface="Calibri" pitchFamily="34" charset="0"/>
                          <a:ea typeface="Calibri" pitchFamily="34" charset="-122"/>
                          <a:cs typeface="Calibri" pitchFamily="34" charset="-120"/>
                        </a:rPr>
                        <a:t>2 — Cloud Deploy</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02124"/>
                          </a:solidFill>
                          <a:latin typeface="Calibri" pitchFamily="34" charset="0"/>
                          <a:ea typeface="Calibri" pitchFamily="34" charset="-122"/>
                          <a:cs typeface="Calibri" pitchFamily="34" charset="-120"/>
                        </a:rPr>
                        <a:t>🔄 En cours (Q2 2026)</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02124"/>
                          </a:solidFill>
                          <a:latin typeface="Calibri" pitchFamily="34" charset="0"/>
                          <a:ea typeface="Calibri" pitchFamily="34" charset="-122"/>
                          <a:cs typeface="Calibri" pitchFamily="34" charset="-120"/>
                        </a:rPr>
                        <a:t>Cloud Run GPU L4 · buckets GCS · 1er pipeline Vertex · Model Registry</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02124"/>
                          </a:solidFill>
                          <a:latin typeface="Calibri" pitchFamily="34" charset="0"/>
                          <a:ea typeface="Calibri" pitchFamily="34" charset="-122"/>
                          <a:cs typeface="Calibri" pitchFamily="34" charset="-120"/>
                        </a:rPr>
                        <a:t>3 — Fine-Tuning v1</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100" dirty="0">
                          <a:solidFill>
                            <a:srgbClr val="202124"/>
                          </a:solidFill>
                          <a:latin typeface="Calibri" pitchFamily="34" charset="0"/>
                          <a:ea typeface="Calibri" pitchFamily="34" charset="-122"/>
                          <a:cs typeface="Calibri" pitchFamily="34" charset="-120"/>
                        </a:rPr>
                        <a:t>⏳ Q2–Q3 2026</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100" dirty="0">
                          <a:solidFill>
                            <a:srgbClr val="202124"/>
                          </a:solidFill>
                          <a:latin typeface="Calibri" pitchFamily="34" charset="0"/>
                          <a:ea typeface="Calibri" pitchFamily="34" charset="-122"/>
                          <a:cs typeface="Calibri" pitchFamily="34" charset="-120"/>
                        </a:rPr>
                        <a:t>3 000 paires FR/EN↔MG · NLLB LoRA · 200 phrases audio · MMS-TTS Officiel</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r>
              <a:tr h="0">
                <a:tc>
                  <a:txBody>
                    <a:bodyPr/>
                    <a:lstStyle/>
                    <a:p>
                      <a:pPr algn="l" indent="0" marL="0">
                        <a:buNone/>
                      </a:pPr>
                      <a:r>
                        <a:rPr lang="en-US" sz="1100" dirty="0">
                          <a:solidFill>
                            <a:srgbClr val="202124"/>
                          </a:solidFill>
                          <a:latin typeface="Calibri" pitchFamily="34" charset="0"/>
                          <a:ea typeface="Calibri" pitchFamily="34" charset="-122"/>
                          <a:cs typeface="Calibri" pitchFamily="34" charset="-120"/>
                        </a:rPr>
                        <a:t>4 — Multi-dialecte</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02124"/>
                          </a:solidFill>
                          <a:latin typeface="Calibri" pitchFamily="34" charset="0"/>
                          <a:ea typeface="Calibri" pitchFamily="34" charset="-122"/>
                          <a:cs typeface="Calibri" pitchFamily="34" charset="-120"/>
                        </a:rPr>
                        <a:t>⏳ Q3–Q4 2026</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02124"/>
                          </a:solidFill>
                          <a:latin typeface="Calibri" pitchFamily="34" charset="0"/>
                          <a:ea typeface="Calibri" pitchFamily="34" charset="-122"/>
                          <a:cs typeface="Calibri" pitchFamily="34" charset="-120"/>
                        </a:rPr>
                        <a:t>3 dialectes ×200 phrases · drift monitoring live · app Flutter v1</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02124"/>
                          </a:solidFill>
                          <a:latin typeface="Calibri" pitchFamily="34" charset="0"/>
                          <a:ea typeface="Calibri" pitchFamily="34" charset="-122"/>
                          <a:cs typeface="Calibri" pitchFamily="34" charset="-120"/>
                        </a:rPr>
                        <a:t>5 — Scale</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100" dirty="0">
                          <a:solidFill>
                            <a:srgbClr val="202124"/>
                          </a:solidFill>
                          <a:latin typeface="Calibri" pitchFamily="34" charset="0"/>
                          <a:ea typeface="Calibri" pitchFamily="34" charset="-122"/>
                          <a:cs typeface="Calibri" pitchFamily="34" charset="-120"/>
                        </a:rPr>
                        <a:t>⏳ 2027</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c>
                  <a:txBody>
                    <a:bodyPr/>
                    <a:lstStyle/>
                    <a:p>
                      <a:pPr algn="l" indent="0" marL="0">
                        <a:buNone/>
                      </a:pPr>
                      <a:r>
                        <a:rPr lang="en-US" sz="1100" dirty="0">
                          <a:solidFill>
                            <a:srgbClr val="202124"/>
                          </a:solidFill>
                          <a:latin typeface="Calibri" pitchFamily="34" charset="0"/>
                          <a:ea typeface="Calibri" pitchFamily="34" charset="-122"/>
                          <a:cs typeface="Calibri" pitchFamily="34" charset="-120"/>
                        </a:rPr>
                        <a:t>API REST publique · 6 dialectes · NLLB 1.3B · migration Vertex Endpoint</a:t>
                      </a:r>
                      <a:endParaRPr lang="en-US" sz="1100" dirty="0">
                        <a:latin typeface="Calibri" charset="0"/>
                        <a:ea typeface="Calibri" charset="0"/>
                        <a:cs typeface="Calibri" charset="0"/>
                      </a:endParaRPr>
                    </a:p>
                  </a:txBody>
                  <a:tcPr marL="50800" marR="50800" marT="50800" marB="50800" anchor="ctr">
                    <a:lnL w="6350" cap="flat" cmpd="sng" algn="ctr">
                      <a:solidFill>
                        <a:srgbClr val="D6DEEC"/>
                      </a:solidFill>
                      <a:prstDash val="solid"/>
                      <a:round/>
                      <a:headEnd type="none" w="med" len="med"/>
                      <a:tailEnd type="none" w="med" len="med"/>
                    </a:lnL>
                    <a:lnR w="6350" cap="flat" cmpd="sng" algn="ctr">
                      <a:solidFill>
                        <a:srgbClr val="D6DEEC"/>
                      </a:solidFill>
                      <a:prstDash val="solid"/>
                      <a:round/>
                      <a:headEnd type="none" w="med" len="med"/>
                      <a:tailEnd type="none" w="med" len="med"/>
                    </a:lnR>
                    <a:lnT w="6350" cap="flat" cmpd="sng" algn="ctr">
                      <a:solidFill>
                        <a:srgbClr val="D6DEEC"/>
                      </a:solidFill>
                      <a:prstDash val="solid"/>
                      <a:round/>
                      <a:headEnd type="none" w="med" len="med"/>
                      <a:tailEnd type="none" w="med" len="med"/>
                    </a:lnT>
                    <a:lnB w="6350" cap="flat" cmpd="sng" algn="ctr">
                      <a:solidFill>
                        <a:srgbClr val="D6DEEC"/>
                      </a:solidFill>
                      <a:prstDash val="solid"/>
                      <a:round/>
                      <a:headEnd type="none" w="med" len="med"/>
                      <a:tailEnd type="none" w="med" len="med"/>
                    </a:lnB>
                    <a:solidFill>
                      <a:srgbClr val="EDF1FA"/>
                    </a:solidFill>
                  </a:tcPr>
                </a:tc>
              </a:tr>
            </a:tbl>
          </a:graphicData>
        </a:graphic>
      </p:graphicFrame>
      <p:sp>
        <p:nvSpPr>
          <p:cNvPr id="8" name="Text 5"/>
          <p:cNvSpPr/>
          <p:nvPr/>
        </p:nvSpPr>
        <p:spPr>
          <a:xfrm>
            <a:off x="548640" y="6510528"/>
            <a:ext cx="11155680" cy="274320"/>
          </a:xfrm>
          <a:prstGeom prst="rect">
            <a:avLst/>
          </a:prstGeom>
          <a:noFill/>
          <a:ln/>
        </p:spPr>
        <p:txBody>
          <a:bodyPr wrap="square" lIns="0" tIns="0" rIns="0" bIns="0" rtlCol="0" anchor="ctr"/>
          <a:lstStyle/>
          <a:p>
            <a:pPr indent="0" marL="0">
              <a:buNone/>
            </a:pPr>
            <a:r>
              <a:rPr lang="en-US" sz="950" i="1" dirty="0">
                <a:solidFill>
                  <a:srgbClr val="5F6368"/>
                </a:solidFill>
                <a:latin typeface="Calibri" pitchFamily="34" charset="0"/>
                <a:ea typeface="Calibri" pitchFamily="34" charset="-122"/>
                <a:cs typeface="Calibri" pitchFamily="34" charset="-120"/>
              </a:rPr>
              <a:t>Source : README §22 — roadmap technique 2025–2027</a:t>
            </a:r>
            <a:endParaRPr lang="en-US" sz="950" dirty="0"/>
          </a:p>
        </p:txBody>
      </p:sp>
      <p:sp>
        <p:nvSpPr>
          <p:cNvPr id="9" name="Text 6"/>
          <p:cNvSpPr/>
          <p:nvPr/>
        </p:nvSpPr>
        <p:spPr>
          <a:xfrm>
            <a:off x="2103120" y="4978908"/>
            <a:ext cx="3200400" cy="182880"/>
          </a:xfrm>
          <a:prstGeom prst="rect">
            <a:avLst/>
          </a:prstGeom>
          <a:noFill/>
          <a:ln/>
        </p:spPr>
        <p:txBody>
          <a:bodyPr wrap="square" lIns="0" tIns="0" rIns="0" bIns="0" rtlCol="0" anchor="ctr"/>
          <a:lstStyle/>
          <a:p>
            <a:pPr indent="0" marL="0">
              <a:buNone/>
            </a:pPr>
            <a:r>
              <a:rPr lang="en-US" sz="850" b="1" dirty="0">
                <a:solidFill>
                  <a:srgbClr val="97A1B5"/>
                </a:solidFill>
                <a:latin typeface="Calibri" pitchFamily="34" charset="0"/>
                <a:ea typeface="Calibri" pitchFamily="34" charset="-122"/>
                <a:cs typeface="Calibri" pitchFamily="34" charset="-120"/>
              </a:rPr>
              <a:t>Tsantaniaina Rakotonjanahary Ambaorasoa Guillaume</a:t>
            </a:r>
            <a:endParaRPr lang="en-US" sz="850" dirty="0"/>
          </a:p>
        </p:txBody>
      </p:sp>
      <p:sp>
        <p:nvSpPr>
          <p:cNvPr id="10" name="Shape 7"/>
          <p:cNvSpPr/>
          <p:nvPr/>
        </p:nvSpPr>
        <p:spPr>
          <a:xfrm>
            <a:off x="11137392" y="5852160"/>
            <a:ext cx="914400" cy="914400"/>
          </a:xfrm>
          <a:prstGeom prst="roundRect">
            <a:avLst>
              <a:gd name="adj" fmla="val 10000"/>
            </a:avLst>
          </a:prstGeom>
          <a:solidFill>
            <a:srgbClr val="FFFFFF"/>
          </a:solidFill>
          <a:ln w="12700">
            <a:solidFill>
              <a:srgbClr val="D6DEEC"/>
            </a:solidFill>
            <a:prstDash val="solid"/>
          </a:ln>
          <a:effectLst>
            <a:outerShdw sx="100000" sy="100000" kx="0" ky="0" algn="bl" rotWithShape="0" blurRad="88900" dist="38100" dir="5400000">
              <a:srgbClr val="8A94AD">
                <a:alpha val="26000"/>
              </a:srgbClr>
            </a:outerShdw>
          </a:effectLst>
        </p:spPr>
      </p:sp>
      <p:pic>
        <p:nvPicPr>
          <p:cNvPr id="11" name="Image 0" descr="logos/logo_mdn.png">    </p:cNvPr>
          <p:cNvPicPr>
            <a:picLocks noChangeAspect="1"/>
          </p:cNvPicPr>
          <p:nvPr/>
        </p:nvPicPr>
        <p:blipFill>
          <a:blip r:embed="rId1"/>
          <a:stretch>
            <a:fillRect/>
          </a:stretch>
        </p:blipFill>
        <p:spPr>
          <a:xfrm>
            <a:off x="11237976" y="5952744"/>
            <a:ext cx="713232" cy="713232"/>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12188952" cy="146304"/>
          </a:xfrm>
          <a:prstGeom prst="rect">
            <a:avLst/>
          </a:prstGeom>
          <a:solidFill>
            <a:srgbClr val="4285F4"/>
          </a:solidFill>
          <a:ln/>
        </p:spPr>
      </p:sp>
      <p:sp>
        <p:nvSpPr>
          <p:cNvPr id="3" name="Text 1"/>
          <p:cNvSpPr/>
          <p:nvPr/>
        </p:nvSpPr>
        <p:spPr>
          <a:xfrm>
            <a:off x="822960" y="502920"/>
            <a:ext cx="10058400" cy="365760"/>
          </a:xfrm>
          <a:prstGeom prst="rect">
            <a:avLst/>
          </a:prstGeom>
          <a:noFill/>
          <a:ln/>
        </p:spPr>
        <p:txBody>
          <a:bodyPr wrap="square" lIns="0" tIns="0" rIns="0" bIns="0" rtlCol="0" anchor="ctr"/>
          <a:lstStyle/>
          <a:p>
            <a:pPr indent="0" marL="0">
              <a:buNone/>
            </a:pPr>
            <a:r>
              <a:rPr lang="en-US" sz="1400" b="1" spc="200" kern="0" dirty="0">
                <a:solidFill>
                  <a:srgbClr val="8AB4F8"/>
                </a:solidFill>
                <a:latin typeface="Calibri" pitchFamily="34" charset="0"/>
                <a:ea typeface="Calibri" pitchFamily="34" charset="-122"/>
                <a:cs typeface="Calibri" pitchFamily="34" charset="-120"/>
              </a:rPr>
              <a:t>RESSOURCES &amp; DOCUMENTATION OFFICIELLE</a:t>
            </a:r>
            <a:endParaRPr lang="en-US" sz="1400" dirty="0"/>
          </a:p>
        </p:txBody>
      </p:sp>
      <p:sp>
        <p:nvSpPr>
          <p:cNvPr id="4" name="Text 2"/>
          <p:cNvSpPr/>
          <p:nvPr/>
        </p:nvSpPr>
        <p:spPr>
          <a:xfrm>
            <a:off x="822960" y="868680"/>
            <a:ext cx="10515600" cy="64008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Pour aller plus loin</a:t>
            </a:r>
            <a:endParaRPr lang="en-US" sz="3000" dirty="0"/>
          </a:p>
        </p:txBody>
      </p:sp>
      <p:sp>
        <p:nvSpPr>
          <p:cNvPr id="5" name="Shape 3"/>
          <p:cNvSpPr/>
          <p:nvPr/>
        </p:nvSpPr>
        <p:spPr>
          <a:xfrm>
            <a:off x="9418320" y="457200"/>
            <a:ext cx="2505456" cy="596646"/>
          </a:xfrm>
          <a:prstGeom prst="roundRect">
            <a:avLst>
              <a:gd name="adj" fmla="val 9195"/>
            </a:avLst>
          </a:prstGeom>
          <a:solidFill>
            <a:srgbClr val="FFFFFF"/>
          </a:solidFill>
          <a:ln/>
          <a:effectLst>
            <a:outerShdw sx="100000" sy="100000" kx="0" ky="0" algn="bl" rotWithShape="0" blurRad="88900" dist="38100" dir="5400000">
              <a:srgbClr val="8A94AD">
                <a:alpha val="26000"/>
              </a:srgbClr>
            </a:outerShdw>
          </a:effectLst>
        </p:spPr>
      </p:sp>
      <p:pic>
        <p:nvPicPr>
          <p:cNvPr id="6" name="Image 0" descr="logos/00_gcp.png">    </p:cNvPr>
          <p:cNvPicPr>
            <a:picLocks noChangeAspect="1"/>
          </p:cNvPicPr>
          <p:nvPr/>
        </p:nvPicPr>
        <p:blipFill>
          <a:blip r:embed="rId1"/>
          <a:stretch>
            <a:fillRect/>
          </a:stretch>
        </p:blipFill>
        <p:spPr>
          <a:xfrm>
            <a:off x="9573768" y="585216"/>
            <a:ext cx="2194560" cy="340614"/>
          </a:xfrm>
          <a:prstGeom prst="rect">
            <a:avLst/>
          </a:prstGeom>
        </p:spPr>
      </p:pic>
      <p:pic>
        <p:nvPicPr>
          <p:cNvPr id="7" name="Image 1" descr="logos/01_cloud_run.png">    </p:cNvPr>
          <p:cNvPicPr>
            <a:picLocks noChangeAspect="1"/>
          </p:cNvPicPr>
          <p:nvPr/>
        </p:nvPicPr>
        <p:blipFill>
          <a:blip r:embed="rId2"/>
          <a:stretch>
            <a:fillRect/>
          </a:stretch>
        </p:blipFill>
        <p:spPr>
          <a:xfrm>
            <a:off x="822960" y="1801368"/>
            <a:ext cx="365760" cy="365760"/>
          </a:xfrm>
          <a:prstGeom prst="rect">
            <a:avLst/>
          </a:prstGeom>
        </p:spPr>
      </p:pic>
      <p:sp>
        <p:nvSpPr>
          <p:cNvPr id="8" name="Text 4"/>
          <p:cNvSpPr/>
          <p:nvPr/>
        </p:nvSpPr>
        <p:spPr>
          <a:xfrm>
            <a:off x="1325880" y="1783080"/>
            <a:ext cx="4818888"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Cloud Run  </a:t>
            </a:r>
            <a:pPr indent="0" marL="0">
              <a:buNone/>
            </a:pPr>
            <a:r>
              <a:rPr lang="en-US" sz="950" dirty="0">
                <a:solidFill>
                  <a:srgbClr val="8FB4F2"/>
                </a:solidFill>
                <a:latin typeface="Consolas" pitchFamily="34" charset="0"/>
                <a:ea typeface="Consolas" pitchFamily="34" charset="-122"/>
                <a:cs typeface="Consolas" pitchFamily="34" charset="-120"/>
              </a:rPr>
              <a:t>cloud.google.com/run/docs</a:t>
            </a:r>
            <a:endParaRPr lang="en-US" sz="1250" dirty="0"/>
          </a:p>
        </p:txBody>
      </p:sp>
      <p:pic>
        <p:nvPicPr>
          <p:cNvPr id="9" name="Image 2" descr="logos/02_cloud_run_gpu.png">    </p:cNvPr>
          <p:cNvPicPr>
            <a:picLocks noChangeAspect="1"/>
          </p:cNvPicPr>
          <p:nvPr/>
        </p:nvPicPr>
        <p:blipFill>
          <a:blip r:embed="rId3"/>
          <a:stretch>
            <a:fillRect/>
          </a:stretch>
        </p:blipFill>
        <p:spPr>
          <a:xfrm>
            <a:off x="822960" y="2368296"/>
            <a:ext cx="365760" cy="365760"/>
          </a:xfrm>
          <a:prstGeom prst="rect">
            <a:avLst/>
          </a:prstGeom>
        </p:spPr>
      </p:pic>
      <p:sp>
        <p:nvSpPr>
          <p:cNvPr id="10" name="Text 5"/>
          <p:cNvSpPr/>
          <p:nvPr/>
        </p:nvSpPr>
        <p:spPr>
          <a:xfrm>
            <a:off x="1325880" y="2350008"/>
            <a:ext cx="4818888"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Cloud Run GPU  </a:t>
            </a:r>
            <a:pPr indent="0" marL="0">
              <a:buNone/>
            </a:pPr>
            <a:r>
              <a:rPr lang="en-US" sz="950" dirty="0">
                <a:solidFill>
                  <a:srgbClr val="8FB4F2"/>
                </a:solidFill>
                <a:latin typeface="Consolas" pitchFamily="34" charset="0"/>
                <a:ea typeface="Consolas" pitchFamily="34" charset="-122"/>
                <a:cs typeface="Consolas" pitchFamily="34" charset="-120"/>
              </a:rPr>
              <a:t>cloud.google.com/run/docs/configuring/services/gpu</a:t>
            </a:r>
            <a:endParaRPr lang="en-US" sz="1250" dirty="0"/>
          </a:p>
        </p:txBody>
      </p:sp>
      <p:pic>
        <p:nvPicPr>
          <p:cNvPr id="11" name="Image 3" descr="logos/03_cloud_storage.png">    </p:cNvPr>
          <p:cNvPicPr>
            <a:picLocks noChangeAspect="1"/>
          </p:cNvPicPr>
          <p:nvPr/>
        </p:nvPicPr>
        <p:blipFill>
          <a:blip r:embed="rId4"/>
          <a:stretch>
            <a:fillRect/>
          </a:stretch>
        </p:blipFill>
        <p:spPr>
          <a:xfrm>
            <a:off x="822960" y="2935224"/>
            <a:ext cx="365760" cy="365760"/>
          </a:xfrm>
          <a:prstGeom prst="rect">
            <a:avLst/>
          </a:prstGeom>
        </p:spPr>
      </p:pic>
      <p:sp>
        <p:nvSpPr>
          <p:cNvPr id="12" name="Text 6"/>
          <p:cNvSpPr/>
          <p:nvPr/>
        </p:nvSpPr>
        <p:spPr>
          <a:xfrm>
            <a:off x="1325880" y="2916936"/>
            <a:ext cx="4818888"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Cloud Storage  </a:t>
            </a:r>
            <a:pPr indent="0" marL="0">
              <a:buNone/>
            </a:pPr>
            <a:r>
              <a:rPr lang="en-US" sz="950" dirty="0">
                <a:solidFill>
                  <a:srgbClr val="8FB4F2"/>
                </a:solidFill>
                <a:latin typeface="Consolas" pitchFamily="34" charset="0"/>
                <a:ea typeface="Consolas" pitchFamily="34" charset="-122"/>
                <a:cs typeface="Consolas" pitchFamily="34" charset="-120"/>
              </a:rPr>
              <a:t>cloud.google.com/storage/docs</a:t>
            </a:r>
            <a:endParaRPr lang="en-US" sz="1250" dirty="0"/>
          </a:p>
        </p:txBody>
      </p:sp>
      <p:pic>
        <p:nvPicPr>
          <p:cNvPr id="13" name="Image 4" descr="logos/11_compute_engine.png">    </p:cNvPr>
          <p:cNvPicPr>
            <a:picLocks noChangeAspect="1"/>
          </p:cNvPicPr>
          <p:nvPr/>
        </p:nvPicPr>
        <p:blipFill>
          <a:blip r:embed="rId5"/>
          <a:stretch>
            <a:fillRect/>
          </a:stretch>
        </p:blipFill>
        <p:spPr>
          <a:xfrm>
            <a:off x="822960" y="3502152"/>
            <a:ext cx="365760" cy="365760"/>
          </a:xfrm>
          <a:prstGeom prst="rect">
            <a:avLst/>
          </a:prstGeom>
        </p:spPr>
      </p:pic>
      <p:sp>
        <p:nvSpPr>
          <p:cNvPr id="14" name="Text 7"/>
          <p:cNvSpPr/>
          <p:nvPr/>
        </p:nvSpPr>
        <p:spPr>
          <a:xfrm>
            <a:off x="1325880" y="3483864"/>
            <a:ext cx="4818888"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Compute Engine  </a:t>
            </a:r>
            <a:pPr indent="0" marL="0">
              <a:buNone/>
            </a:pPr>
            <a:r>
              <a:rPr lang="en-US" sz="950" dirty="0">
                <a:solidFill>
                  <a:srgbClr val="8FB4F2"/>
                </a:solidFill>
                <a:latin typeface="Consolas" pitchFamily="34" charset="0"/>
                <a:ea typeface="Consolas" pitchFamily="34" charset="-122"/>
                <a:cs typeface="Consolas" pitchFamily="34" charset="-120"/>
              </a:rPr>
              <a:t>cloud.google.com/compute/docs</a:t>
            </a:r>
            <a:endParaRPr lang="en-US" sz="1250" dirty="0"/>
          </a:p>
        </p:txBody>
      </p:sp>
      <p:pic>
        <p:nvPicPr>
          <p:cNvPr id="15" name="Image 5" descr="logos/04_vertex_ai.png">    </p:cNvPr>
          <p:cNvPicPr>
            <a:picLocks noChangeAspect="1"/>
          </p:cNvPicPr>
          <p:nvPr/>
        </p:nvPicPr>
        <p:blipFill>
          <a:blip r:embed="rId6"/>
          <a:stretch>
            <a:fillRect/>
          </a:stretch>
        </p:blipFill>
        <p:spPr>
          <a:xfrm>
            <a:off x="822960" y="4069080"/>
            <a:ext cx="365760" cy="365760"/>
          </a:xfrm>
          <a:prstGeom prst="rect">
            <a:avLst/>
          </a:prstGeom>
        </p:spPr>
      </p:pic>
      <p:sp>
        <p:nvSpPr>
          <p:cNvPr id="16" name="Text 8"/>
          <p:cNvSpPr/>
          <p:nvPr/>
        </p:nvSpPr>
        <p:spPr>
          <a:xfrm>
            <a:off x="1325880" y="4050792"/>
            <a:ext cx="4818888"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Vertex AI  </a:t>
            </a:r>
            <a:pPr indent="0" marL="0">
              <a:buNone/>
            </a:pPr>
            <a:r>
              <a:rPr lang="en-US" sz="950" dirty="0">
                <a:solidFill>
                  <a:srgbClr val="8FB4F2"/>
                </a:solidFill>
                <a:latin typeface="Consolas" pitchFamily="34" charset="0"/>
                <a:ea typeface="Consolas" pitchFamily="34" charset="-122"/>
                <a:cs typeface="Consolas" pitchFamily="34" charset="-120"/>
              </a:rPr>
              <a:t>cloud.google.com/vertex-ai/docs</a:t>
            </a:r>
            <a:endParaRPr lang="en-US" sz="1250" dirty="0"/>
          </a:p>
        </p:txBody>
      </p:sp>
      <p:pic>
        <p:nvPicPr>
          <p:cNvPr id="17" name="Image 6" descr="logos/05_cloud_build.png">    </p:cNvPr>
          <p:cNvPicPr>
            <a:picLocks noChangeAspect="1"/>
          </p:cNvPicPr>
          <p:nvPr/>
        </p:nvPicPr>
        <p:blipFill>
          <a:blip r:embed="rId7"/>
          <a:stretch>
            <a:fillRect/>
          </a:stretch>
        </p:blipFill>
        <p:spPr>
          <a:xfrm>
            <a:off x="822960" y="4636008"/>
            <a:ext cx="365760" cy="365760"/>
          </a:xfrm>
          <a:prstGeom prst="rect">
            <a:avLst/>
          </a:prstGeom>
        </p:spPr>
      </p:pic>
      <p:sp>
        <p:nvSpPr>
          <p:cNvPr id="18" name="Text 9"/>
          <p:cNvSpPr/>
          <p:nvPr/>
        </p:nvSpPr>
        <p:spPr>
          <a:xfrm>
            <a:off x="1325880" y="4617720"/>
            <a:ext cx="4818888"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Cloud Build  </a:t>
            </a:r>
            <a:pPr indent="0" marL="0">
              <a:buNone/>
            </a:pPr>
            <a:r>
              <a:rPr lang="en-US" sz="950" dirty="0">
                <a:solidFill>
                  <a:srgbClr val="8FB4F2"/>
                </a:solidFill>
                <a:latin typeface="Consolas" pitchFamily="34" charset="0"/>
                <a:ea typeface="Consolas" pitchFamily="34" charset="-122"/>
                <a:cs typeface="Consolas" pitchFamily="34" charset="-120"/>
              </a:rPr>
              <a:t>cloud.google.com/build/docs</a:t>
            </a:r>
            <a:endParaRPr lang="en-US" sz="1250" dirty="0"/>
          </a:p>
        </p:txBody>
      </p:sp>
      <p:pic>
        <p:nvPicPr>
          <p:cNvPr id="19" name="Image 7" descr="logos/06_artifact_registry.png">    </p:cNvPr>
          <p:cNvPicPr>
            <a:picLocks noChangeAspect="1"/>
          </p:cNvPicPr>
          <p:nvPr/>
        </p:nvPicPr>
        <p:blipFill>
          <a:blip r:embed="rId8"/>
          <a:stretch>
            <a:fillRect/>
          </a:stretch>
        </p:blipFill>
        <p:spPr>
          <a:xfrm>
            <a:off x="6720840" y="1801368"/>
            <a:ext cx="365760" cy="365760"/>
          </a:xfrm>
          <a:prstGeom prst="rect">
            <a:avLst/>
          </a:prstGeom>
        </p:spPr>
      </p:pic>
      <p:sp>
        <p:nvSpPr>
          <p:cNvPr id="20" name="Text 10"/>
          <p:cNvSpPr/>
          <p:nvPr/>
        </p:nvSpPr>
        <p:spPr>
          <a:xfrm>
            <a:off x="7223760" y="1783080"/>
            <a:ext cx="4818888"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Artifact Registry  </a:t>
            </a:r>
            <a:pPr indent="0" marL="0">
              <a:buNone/>
            </a:pPr>
            <a:r>
              <a:rPr lang="en-US" sz="950" dirty="0">
                <a:solidFill>
                  <a:srgbClr val="8FB4F2"/>
                </a:solidFill>
                <a:latin typeface="Consolas" pitchFamily="34" charset="0"/>
                <a:ea typeface="Consolas" pitchFamily="34" charset="-122"/>
                <a:cs typeface="Consolas" pitchFamily="34" charset="-120"/>
              </a:rPr>
              <a:t>cloud.google.com/artifact-registry/docs</a:t>
            </a:r>
            <a:endParaRPr lang="en-US" sz="1250" dirty="0"/>
          </a:p>
        </p:txBody>
      </p:sp>
      <p:pic>
        <p:nvPicPr>
          <p:cNvPr id="21" name="Image 8" descr="logos/07_pubsub.png">    </p:cNvPr>
          <p:cNvPicPr>
            <a:picLocks noChangeAspect="1"/>
          </p:cNvPicPr>
          <p:nvPr/>
        </p:nvPicPr>
        <p:blipFill>
          <a:blip r:embed="rId9"/>
          <a:stretch>
            <a:fillRect/>
          </a:stretch>
        </p:blipFill>
        <p:spPr>
          <a:xfrm>
            <a:off x="6720840" y="2368296"/>
            <a:ext cx="365760" cy="365760"/>
          </a:xfrm>
          <a:prstGeom prst="rect">
            <a:avLst/>
          </a:prstGeom>
        </p:spPr>
      </p:pic>
      <p:sp>
        <p:nvSpPr>
          <p:cNvPr id="22" name="Text 11"/>
          <p:cNvSpPr/>
          <p:nvPr/>
        </p:nvSpPr>
        <p:spPr>
          <a:xfrm>
            <a:off x="7223760" y="2350008"/>
            <a:ext cx="4818888"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Pub/Sub  </a:t>
            </a:r>
            <a:pPr indent="0" marL="0">
              <a:buNone/>
            </a:pPr>
            <a:r>
              <a:rPr lang="en-US" sz="950" dirty="0">
                <a:solidFill>
                  <a:srgbClr val="8FB4F2"/>
                </a:solidFill>
                <a:latin typeface="Consolas" pitchFamily="34" charset="0"/>
                <a:ea typeface="Consolas" pitchFamily="34" charset="-122"/>
                <a:cs typeface="Consolas" pitchFamily="34" charset="-120"/>
              </a:rPr>
              <a:t>cloud.google.com/pubsub/docs</a:t>
            </a:r>
            <a:endParaRPr lang="en-US" sz="1250" dirty="0"/>
          </a:p>
        </p:txBody>
      </p:sp>
      <p:pic>
        <p:nvPicPr>
          <p:cNvPr id="23" name="Image 9" descr="logos/08_cloud_logging.png">    </p:cNvPr>
          <p:cNvPicPr>
            <a:picLocks noChangeAspect="1"/>
          </p:cNvPicPr>
          <p:nvPr/>
        </p:nvPicPr>
        <p:blipFill>
          <a:blip r:embed="rId10"/>
          <a:stretch>
            <a:fillRect/>
          </a:stretch>
        </p:blipFill>
        <p:spPr>
          <a:xfrm>
            <a:off x="6720840" y="2935224"/>
            <a:ext cx="365760" cy="365760"/>
          </a:xfrm>
          <a:prstGeom prst="rect">
            <a:avLst/>
          </a:prstGeom>
        </p:spPr>
      </p:pic>
      <p:sp>
        <p:nvSpPr>
          <p:cNvPr id="24" name="Text 12"/>
          <p:cNvSpPr/>
          <p:nvPr/>
        </p:nvSpPr>
        <p:spPr>
          <a:xfrm>
            <a:off x="7223760" y="2916936"/>
            <a:ext cx="4818888"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Cloud Logging  </a:t>
            </a:r>
            <a:pPr indent="0" marL="0">
              <a:buNone/>
            </a:pPr>
            <a:r>
              <a:rPr lang="en-US" sz="950" dirty="0">
                <a:solidFill>
                  <a:srgbClr val="8FB4F2"/>
                </a:solidFill>
                <a:latin typeface="Consolas" pitchFamily="34" charset="0"/>
                <a:ea typeface="Consolas" pitchFamily="34" charset="-122"/>
                <a:cs typeface="Consolas" pitchFamily="34" charset="-120"/>
              </a:rPr>
              <a:t>cloud.google.com/logging/docs</a:t>
            </a:r>
            <a:endParaRPr lang="en-US" sz="1250" dirty="0"/>
          </a:p>
        </p:txBody>
      </p:sp>
      <p:pic>
        <p:nvPicPr>
          <p:cNvPr id="25" name="Image 10" descr="logos/09_cloud_monitoring.png">    </p:cNvPr>
          <p:cNvPicPr>
            <a:picLocks noChangeAspect="1"/>
          </p:cNvPicPr>
          <p:nvPr/>
        </p:nvPicPr>
        <p:blipFill>
          <a:blip r:embed="rId11"/>
          <a:stretch>
            <a:fillRect/>
          </a:stretch>
        </p:blipFill>
        <p:spPr>
          <a:xfrm>
            <a:off x="6720840" y="3502152"/>
            <a:ext cx="365760" cy="365760"/>
          </a:xfrm>
          <a:prstGeom prst="rect">
            <a:avLst/>
          </a:prstGeom>
        </p:spPr>
      </p:pic>
      <p:sp>
        <p:nvSpPr>
          <p:cNvPr id="26" name="Text 13"/>
          <p:cNvSpPr/>
          <p:nvPr/>
        </p:nvSpPr>
        <p:spPr>
          <a:xfrm>
            <a:off x="7223760" y="3483864"/>
            <a:ext cx="4818888"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Cloud Monitoring  </a:t>
            </a:r>
            <a:pPr indent="0" marL="0">
              <a:buNone/>
            </a:pPr>
            <a:r>
              <a:rPr lang="en-US" sz="950" dirty="0">
                <a:solidFill>
                  <a:srgbClr val="8FB4F2"/>
                </a:solidFill>
                <a:latin typeface="Consolas" pitchFamily="34" charset="0"/>
                <a:ea typeface="Consolas" pitchFamily="34" charset="-122"/>
                <a:cs typeface="Consolas" pitchFamily="34" charset="-120"/>
              </a:rPr>
              <a:t>cloud.google.com/monitoring/docs</a:t>
            </a:r>
            <a:endParaRPr lang="en-US" sz="1250" dirty="0"/>
          </a:p>
        </p:txBody>
      </p:sp>
      <p:pic>
        <p:nvPicPr>
          <p:cNvPr id="27" name="Image 11" descr="logos/10_iam.png">    </p:cNvPr>
          <p:cNvPicPr>
            <a:picLocks noChangeAspect="1"/>
          </p:cNvPicPr>
          <p:nvPr/>
        </p:nvPicPr>
        <p:blipFill>
          <a:blip r:embed="rId12"/>
          <a:stretch>
            <a:fillRect/>
          </a:stretch>
        </p:blipFill>
        <p:spPr>
          <a:xfrm>
            <a:off x="6720840" y="4069080"/>
            <a:ext cx="365760" cy="365760"/>
          </a:xfrm>
          <a:prstGeom prst="rect">
            <a:avLst/>
          </a:prstGeom>
        </p:spPr>
      </p:pic>
      <p:sp>
        <p:nvSpPr>
          <p:cNvPr id="28" name="Text 14"/>
          <p:cNvSpPr/>
          <p:nvPr/>
        </p:nvSpPr>
        <p:spPr>
          <a:xfrm>
            <a:off x="7223760" y="4050792"/>
            <a:ext cx="4818888"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IAM  </a:t>
            </a:r>
            <a:pPr indent="0" marL="0">
              <a:buNone/>
            </a:pPr>
            <a:r>
              <a:rPr lang="en-US" sz="950" dirty="0">
                <a:solidFill>
                  <a:srgbClr val="8FB4F2"/>
                </a:solidFill>
                <a:latin typeface="Consolas" pitchFamily="34" charset="0"/>
                <a:ea typeface="Consolas" pitchFamily="34" charset="-122"/>
                <a:cs typeface="Consolas" pitchFamily="34" charset="-120"/>
              </a:rPr>
              <a:t>cloud.google.com/iam/docs</a:t>
            </a:r>
            <a:endParaRPr lang="en-US" sz="1250" dirty="0"/>
          </a:p>
        </p:txBody>
      </p:sp>
      <p:pic>
        <p:nvPicPr>
          <p:cNvPr id="29" name="Image 12" descr="logos/12_secret_manager.png">    </p:cNvPr>
          <p:cNvPicPr>
            <a:picLocks noChangeAspect="1"/>
          </p:cNvPicPr>
          <p:nvPr/>
        </p:nvPicPr>
        <p:blipFill>
          <a:blip r:embed="rId13"/>
          <a:stretch>
            <a:fillRect/>
          </a:stretch>
        </p:blipFill>
        <p:spPr>
          <a:xfrm>
            <a:off x="6720840" y="4636008"/>
            <a:ext cx="365760" cy="365760"/>
          </a:xfrm>
          <a:prstGeom prst="rect">
            <a:avLst/>
          </a:prstGeom>
        </p:spPr>
      </p:pic>
      <p:sp>
        <p:nvSpPr>
          <p:cNvPr id="30" name="Text 15"/>
          <p:cNvSpPr/>
          <p:nvPr/>
        </p:nvSpPr>
        <p:spPr>
          <a:xfrm>
            <a:off x="7223760" y="4617720"/>
            <a:ext cx="4818888"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Secret Manager  </a:t>
            </a:r>
            <a:pPr indent="0" marL="0">
              <a:buNone/>
            </a:pPr>
            <a:r>
              <a:rPr lang="en-US" sz="950" dirty="0">
                <a:solidFill>
                  <a:srgbClr val="8FB4F2"/>
                </a:solidFill>
                <a:latin typeface="Consolas" pitchFamily="34" charset="0"/>
                <a:ea typeface="Consolas" pitchFamily="34" charset="-122"/>
                <a:cs typeface="Consolas" pitchFamily="34" charset="-120"/>
              </a:rPr>
              <a:t>cloud.google.com/secret-manager/docs</a:t>
            </a:r>
            <a:endParaRPr lang="en-US" sz="1250" dirty="0"/>
          </a:p>
        </p:txBody>
      </p:sp>
      <p:sp>
        <p:nvSpPr>
          <p:cNvPr id="31" name="Text 16"/>
          <p:cNvSpPr/>
          <p:nvPr/>
        </p:nvSpPr>
        <p:spPr>
          <a:xfrm>
            <a:off x="822960" y="5440680"/>
            <a:ext cx="10607040" cy="457200"/>
          </a:xfrm>
          <a:prstGeom prst="rect">
            <a:avLst/>
          </a:prstGeom>
          <a:noFill/>
          <a:ln/>
        </p:spPr>
        <p:txBody>
          <a:bodyPr wrap="square" lIns="0" tIns="0" rIns="0" bIns="0" rtlCol="0" anchor="ctr"/>
          <a:lstStyle/>
          <a:p>
            <a:pPr indent="0" marL="0">
              <a:buNone/>
            </a:pPr>
            <a:r>
              <a:rPr lang="en-US" sz="1050" dirty="0">
                <a:solidFill>
                  <a:srgbClr val="8FA0C4"/>
                </a:solidFill>
                <a:latin typeface="Calibri" pitchFamily="34" charset="0"/>
                <a:ea typeface="Calibri" pitchFamily="34" charset="-122"/>
                <a:cs typeface="Calibri" pitchFamily="34" charset="-120"/>
              </a:rPr>
              <a:t>Réf. README §24 : Cloud Run GPU GA (juin 2025) · Vertex AI pricing · NLLB-200 · MMS-TTS-MLG · Silero VAD · CTranslate2 · aiortc</a:t>
            </a:r>
            <a:endParaRPr lang="en-US" sz="1050" dirty="0"/>
          </a:p>
        </p:txBody>
      </p:sp>
      <p:sp>
        <p:nvSpPr>
          <p:cNvPr id="32" name="Text 17"/>
          <p:cNvSpPr/>
          <p:nvPr/>
        </p:nvSpPr>
        <p:spPr>
          <a:xfrm>
            <a:off x="822960" y="6263640"/>
            <a:ext cx="10607040" cy="365760"/>
          </a:xfrm>
          <a:prstGeom prst="rect">
            <a:avLst/>
          </a:prstGeom>
          <a:noFill/>
          <a:ln/>
        </p:spPr>
        <p:txBody>
          <a:bodyPr wrap="square" lIns="0" tIns="0" rIns="0" bIns="0" rtlCol="0" anchor="ctr"/>
          <a:lstStyle/>
          <a:p>
            <a:pPr indent="0" marL="0">
              <a:buNone/>
            </a:pPr>
            <a:r>
              <a:rPr lang="en-US" sz="1200" i="1" dirty="0">
                <a:solidFill>
                  <a:srgbClr val="8A97B8"/>
                </a:solidFill>
                <a:latin typeface="Calibri" pitchFamily="34" charset="0"/>
                <a:ea typeface="Calibri" pitchFamily="34" charset="-122"/>
                <a:cs typeface="Calibri" pitchFamily="34" charset="-120"/>
              </a:rPr>
              <a:t>MGVaovao — Maison du Numérique · Antananarivo · Projet mgvaovao-ia · Architecture Google Cloud</a:t>
            </a:r>
            <a:endParaRPr lang="en-US" sz="1200" dirty="0"/>
          </a:p>
        </p:txBody>
      </p:sp>
      <p:sp>
        <p:nvSpPr>
          <p:cNvPr id="33" name="Text 18"/>
          <p:cNvSpPr/>
          <p:nvPr/>
        </p:nvSpPr>
        <p:spPr>
          <a:xfrm>
            <a:off x="3657600" y="5931408"/>
            <a:ext cx="3200400" cy="182880"/>
          </a:xfrm>
          <a:prstGeom prst="rect">
            <a:avLst/>
          </a:prstGeom>
          <a:noFill/>
          <a:ln/>
        </p:spPr>
        <p:txBody>
          <a:bodyPr wrap="square" lIns="0" tIns="0" rIns="0" bIns="0" rtlCol="0" anchor="ctr"/>
          <a:lstStyle/>
          <a:p>
            <a:pPr indent="0" marL="0">
              <a:buNone/>
            </a:pPr>
            <a:r>
              <a:rPr lang="en-US" sz="850" b="1" dirty="0">
                <a:solidFill>
                  <a:srgbClr val="8190AE"/>
                </a:solidFill>
                <a:latin typeface="Calibri" pitchFamily="34" charset="0"/>
                <a:ea typeface="Calibri" pitchFamily="34" charset="-122"/>
                <a:cs typeface="Calibri" pitchFamily="34" charset="-120"/>
              </a:rPr>
              <a:t>Tsantaniaina Rakotonjanahary Ambaorasoa Guillaume</a:t>
            </a:r>
            <a:endParaRPr lang="en-US" sz="850" dirty="0"/>
          </a:p>
        </p:txBody>
      </p:sp>
      <p:sp>
        <p:nvSpPr>
          <p:cNvPr id="34" name="Shape 19"/>
          <p:cNvSpPr/>
          <p:nvPr/>
        </p:nvSpPr>
        <p:spPr>
          <a:xfrm>
            <a:off x="11137392" y="5852160"/>
            <a:ext cx="914400" cy="914400"/>
          </a:xfrm>
          <a:prstGeom prst="roundRect">
            <a:avLst>
              <a:gd name="adj" fmla="val 10000"/>
            </a:avLst>
          </a:prstGeom>
          <a:solidFill>
            <a:srgbClr val="FFFFFF"/>
          </a:solidFill>
          <a:ln w="12700">
            <a:solidFill>
              <a:srgbClr val="D6DEEC"/>
            </a:solidFill>
            <a:prstDash val="solid"/>
          </a:ln>
          <a:effectLst>
            <a:outerShdw sx="100000" sy="100000" kx="0" ky="0" algn="bl" rotWithShape="0" blurRad="88900" dist="38100" dir="5400000">
              <a:srgbClr val="8A94AD">
                <a:alpha val="26000"/>
              </a:srgbClr>
            </a:outerShdw>
          </a:effectLst>
        </p:spPr>
      </p:sp>
      <p:pic>
        <p:nvPicPr>
          <p:cNvPr id="35" name="Image 13" descr="logos/logo_mdn.png">    </p:cNvPr>
          <p:cNvPicPr>
            <a:picLocks noChangeAspect="1"/>
          </p:cNvPicPr>
          <p:nvPr/>
        </p:nvPicPr>
        <p:blipFill>
          <a:blip r:embed="rId14"/>
          <a:stretch>
            <a:fillRect/>
          </a:stretch>
        </p:blipFill>
        <p:spPr>
          <a:xfrm>
            <a:off x="11237976" y="5952744"/>
            <a:ext cx="713232" cy="71323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Tutoriel GCP détaillé — MGVaovao</dc:title>
  <dc:subject>PptxGenJS Presentation</dc:subject>
  <dc:creator>MGVaovao</dc:creator>
  <cp:lastModifiedBy>MGVaovao</cp:lastModifiedBy>
  <cp:revision>1</cp:revision>
  <dcterms:created xsi:type="dcterms:W3CDTF">2026-06-20T05:05:35Z</dcterms:created>
  <dcterms:modified xsi:type="dcterms:W3CDTF">2026-06-20T05:05:35Z</dcterms:modified>
</cp:coreProperties>
</file>